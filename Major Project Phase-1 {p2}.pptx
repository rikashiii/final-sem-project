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y="5143500" cx="9144000"/>
  <p:notesSz cx="6858000" cy="9144000"/>
  <p:embeddedFontLst>
    <p:embeddedFont>
      <p:font typeface="Roboto"/>
      <p:regular r:id="rId35"/>
      <p:bold r:id="rId36"/>
      <p:italic r:id="rId37"/>
      <p:boldItalic r:id="rId38"/>
    </p:embeddedFont>
    <p:embeddedFont>
      <p:font typeface="Inconsolata"/>
      <p:regular r:id="rId39"/>
      <p:bold r:id="rId40"/>
    </p:embeddedFont>
    <p:embeddedFont>
      <p:font typeface="Poppins"/>
      <p:regular r:id="rId41"/>
      <p:bold r:id="rId42"/>
      <p:italic r:id="rId43"/>
      <p:boldItalic r:id="rId44"/>
    </p:embeddedFont>
    <p:embeddedFont>
      <p:font typeface="Fira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9789E1-E49C-4D39-8FC4-97650DAED426}">
  <a:tblStyle styleId="{9A9789E1-E49C-4D39-8FC4-97650DAED42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consolata-bold.fntdata"/><Relationship Id="rId20" Type="http://schemas.openxmlformats.org/officeDocument/2006/relationships/slide" Target="slides/slide13.xml"/><Relationship Id="rId42" Type="http://schemas.openxmlformats.org/officeDocument/2006/relationships/font" Target="fonts/Poppins-bold.fntdata"/><Relationship Id="rId41" Type="http://schemas.openxmlformats.org/officeDocument/2006/relationships/font" Target="fonts/Poppins-regular.fntdata"/><Relationship Id="rId22" Type="http://schemas.openxmlformats.org/officeDocument/2006/relationships/slide" Target="slides/slide15.xml"/><Relationship Id="rId44" Type="http://schemas.openxmlformats.org/officeDocument/2006/relationships/font" Target="fonts/Poppins-boldItalic.fntdata"/><Relationship Id="rId21" Type="http://schemas.openxmlformats.org/officeDocument/2006/relationships/slide" Target="slides/slide14.xml"/><Relationship Id="rId43" Type="http://schemas.openxmlformats.org/officeDocument/2006/relationships/font" Target="fonts/Poppins-italic.fntdata"/><Relationship Id="rId24" Type="http://schemas.openxmlformats.org/officeDocument/2006/relationships/slide" Target="slides/slide17.xml"/><Relationship Id="rId46" Type="http://schemas.openxmlformats.org/officeDocument/2006/relationships/font" Target="fonts/FiraSans-bold.fntdata"/><Relationship Id="rId23" Type="http://schemas.openxmlformats.org/officeDocument/2006/relationships/slide" Target="slides/slide16.xml"/><Relationship Id="rId45" Type="http://schemas.openxmlformats.org/officeDocument/2006/relationships/font" Target="fonts/Fira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font" Target="fonts/FiraSans-boldItalic.fntdata"/><Relationship Id="rId25" Type="http://schemas.openxmlformats.org/officeDocument/2006/relationships/slide" Target="slides/slide18.xml"/><Relationship Id="rId47" Type="http://schemas.openxmlformats.org/officeDocument/2006/relationships/font" Target="fonts/FiraSans-italic.fntdata"/><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Roboto-regular.fntdata"/><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italic.fntdata"/><Relationship Id="rId14" Type="http://schemas.openxmlformats.org/officeDocument/2006/relationships/slide" Target="slides/slide7.xml"/><Relationship Id="rId36" Type="http://schemas.openxmlformats.org/officeDocument/2006/relationships/font" Target="fonts/Roboto-bold.fntdata"/><Relationship Id="rId17" Type="http://schemas.openxmlformats.org/officeDocument/2006/relationships/slide" Target="slides/slide10.xml"/><Relationship Id="rId39" Type="http://schemas.openxmlformats.org/officeDocument/2006/relationships/font" Target="fonts/Inconsolata-regular.fntdata"/><Relationship Id="rId16" Type="http://schemas.openxmlformats.org/officeDocument/2006/relationships/slide" Target="slides/slide9.xml"/><Relationship Id="rId38" Type="http://schemas.openxmlformats.org/officeDocument/2006/relationships/font" Target="fonts/Robo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85aa7461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85aa7461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85aa7461ea_1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g285aa7461ea_11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85aa7461ea_4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285aa7461ea_4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85aa7461ea_4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g285aa7461ea_4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85aa7461ea_4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285aa7461ea_4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85aa7461ea_1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285aa7461ea_11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85aa7461ea_4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285aa7461ea_4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85aa7461ea_4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285aa7461ea_4_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85aa7461ea_11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285aa7461ea_11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85aa7461ea_15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285aa7461ea_15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85aa7461ea_17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85aa7461ea_17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85aa7461ea_17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85aa7461ea_17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85aa7461ea_17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85aa7461ea_17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85aa7461ea_4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g285aa7461ea_4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28b532036f5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28b532036f5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8b532036f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8b532036f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8b532036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8b532036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8b532036f5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8b532036f5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85aa7461ea_4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285aa7461ea_4_3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85aa7461ea_4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285aa7461ea_4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85aa7461ea_4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g285aa7461ea_4_3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85aa7461ea_4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285aa7461ea_4_3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8b532036f5_2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g28b532036f5_2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85aa7461ea_4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285aa7461ea_4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85aa7461ea_4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g285aa7461ea_4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85aa7461ea_11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g285aa7461ea_11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85aa7461ea_1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285aa7461ea_11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sp>
        <p:nvSpPr>
          <p:cNvPr id="86" name="Google Shape;86;p14"/>
          <p:cNvSpPr txBox="1"/>
          <p:nvPr>
            <p:ph type="ctrTitle"/>
          </p:nvPr>
        </p:nvSpPr>
        <p:spPr>
          <a:xfrm>
            <a:off x="2080675" y="1687650"/>
            <a:ext cx="6350100" cy="14310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Clr>
                <a:srgbClr val="191919"/>
              </a:buClr>
              <a:buSzPts val="5200"/>
              <a:buNone/>
              <a:defRPr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87" name="Google Shape;87;p14"/>
          <p:cNvSpPr txBox="1"/>
          <p:nvPr>
            <p:ph idx="1" type="subTitle"/>
          </p:nvPr>
        </p:nvSpPr>
        <p:spPr>
          <a:xfrm>
            <a:off x="2080675" y="3183000"/>
            <a:ext cx="6350100" cy="47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88" name="Google Shape;88;p14"/>
          <p:cNvSpPr/>
          <p:nvPr/>
        </p:nvSpPr>
        <p:spPr>
          <a:xfrm>
            <a:off x="0" y="0"/>
            <a:ext cx="1721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9" name="Google Shape;89;p14"/>
          <p:cNvCxnSpPr/>
          <p:nvPr/>
        </p:nvCxnSpPr>
        <p:spPr>
          <a:xfrm>
            <a:off x="8680750" y="-35700"/>
            <a:ext cx="0" cy="5214900"/>
          </a:xfrm>
          <a:prstGeom prst="straightConnector1">
            <a:avLst/>
          </a:prstGeom>
          <a:noFill/>
          <a:ln cap="flat" cmpd="sng" w="9525">
            <a:solidFill>
              <a:schemeClr val="lt2"/>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2" name="Google Shape;92;p15"/>
          <p:cNvSpPr/>
          <p:nvPr/>
        </p:nvSpPr>
        <p:spPr>
          <a:xfrm>
            <a:off x="8430775" y="0"/>
            <a:ext cx="713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 name="Google Shape;93;p15"/>
          <p:cNvCxnSpPr/>
          <p:nvPr/>
        </p:nvCxnSpPr>
        <p:spPr>
          <a:xfrm>
            <a:off x="3518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94" name="Google Shape;94;p15"/>
          <p:cNvGrpSpPr/>
          <p:nvPr/>
        </p:nvGrpSpPr>
        <p:grpSpPr>
          <a:xfrm flipH="1">
            <a:off x="-84700" y="4901150"/>
            <a:ext cx="7055100" cy="0"/>
            <a:chOff x="2220050" y="1547100"/>
            <a:chExt cx="7055100" cy="0"/>
          </a:xfrm>
        </p:grpSpPr>
        <p:cxnSp>
          <p:nvCxnSpPr>
            <p:cNvPr id="95" name="Google Shape;95;p1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96" name="Google Shape;96;p15"/>
            <p:cNvCxnSpPr/>
            <p:nvPr/>
          </p:nvCxnSpPr>
          <p:spPr>
            <a:xfrm>
              <a:off x="2684450" y="1547100"/>
              <a:ext cx="6590700" cy="0"/>
            </a:xfrm>
            <a:prstGeom prst="straightConnector1">
              <a:avLst/>
            </a:prstGeom>
            <a:noFill/>
            <a:ln cap="flat" cmpd="sng" w="9525">
              <a:solidFill>
                <a:schemeClr val="dk1"/>
              </a:solidFill>
              <a:prstDash val="solid"/>
              <a:round/>
              <a:headEnd len="sm" w="sm" type="none"/>
              <a:tailEnd len="sm" w="sm" type="none"/>
            </a:ln>
          </p:spPr>
        </p:cxnSp>
      </p:grpSp>
      <p:sp>
        <p:nvSpPr>
          <p:cNvPr id="97" name="Google Shape;97;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8" name="Shape 98"/>
        <p:cNvGrpSpPr/>
        <p:nvPr/>
      </p:nvGrpSpPr>
      <p:grpSpPr>
        <a:xfrm>
          <a:off x="0" y="0"/>
          <a:ext cx="0" cy="0"/>
          <a:chOff x="0" y="0"/>
          <a:chExt cx="0" cy="0"/>
        </a:xfrm>
      </p:grpSpPr>
      <p:sp>
        <p:nvSpPr>
          <p:cNvPr id="99" name="Google Shape;99;p16"/>
          <p:cNvSpPr/>
          <p:nvPr/>
        </p:nvSpPr>
        <p:spPr>
          <a:xfrm>
            <a:off x="0" y="0"/>
            <a:ext cx="4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0" name="Google Shape;100;p16"/>
          <p:cNvCxnSpPr/>
          <p:nvPr/>
        </p:nvCxnSpPr>
        <p:spPr>
          <a:xfrm>
            <a:off x="8430775" y="-35700"/>
            <a:ext cx="0" cy="5214900"/>
          </a:xfrm>
          <a:prstGeom prst="straightConnector1">
            <a:avLst/>
          </a:prstGeom>
          <a:noFill/>
          <a:ln cap="flat" cmpd="sng" w="9525">
            <a:solidFill>
              <a:schemeClr val="lt2"/>
            </a:solidFill>
            <a:prstDash val="solid"/>
            <a:round/>
            <a:headEnd len="sm" w="sm" type="none"/>
            <a:tailEnd len="sm" w="sm" type="none"/>
          </a:ln>
        </p:spPr>
      </p:cxnSp>
      <p:sp>
        <p:nvSpPr>
          <p:cNvPr id="101" name="Google Shape;101;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2" name="Google Shape;102;p16"/>
          <p:cNvSpPr txBox="1"/>
          <p:nvPr>
            <p:ph idx="2" type="title"/>
          </p:nvPr>
        </p:nvSpPr>
        <p:spPr>
          <a:xfrm>
            <a:off x="720000"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3" name="Google Shape;103;p16"/>
          <p:cNvSpPr txBox="1"/>
          <p:nvPr>
            <p:ph idx="3" type="title"/>
          </p:nvPr>
        </p:nvSpPr>
        <p:spPr>
          <a:xfrm>
            <a:off x="720000"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4" name="Google Shape;104;p16"/>
          <p:cNvSpPr txBox="1"/>
          <p:nvPr>
            <p:ph idx="4" type="title"/>
          </p:nvPr>
        </p:nvSpPr>
        <p:spPr>
          <a:xfrm>
            <a:off x="3371772"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5" name="Google Shape;105;p16"/>
          <p:cNvSpPr txBox="1"/>
          <p:nvPr>
            <p:ph idx="5" type="title"/>
          </p:nvPr>
        </p:nvSpPr>
        <p:spPr>
          <a:xfrm>
            <a:off x="3371772"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 name="Google Shape;106;p16"/>
          <p:cNvSpPr txBox="1"/>
          <p:nvPr>
            <p:ph idx="6" type="title"/>
          </p:nvPr>
        </p:nvSpPr>
        <p:spPr>
          <a:xfrm>
            <a:off x="6023544" y="1579950"/>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 name="Google Shape;107;p16"/>
          <p:cNvSpPr txBox="1"/>
          <p:nvPr>
            <p:ph idx="7" type="title"/>
          </p:nvPr>
        </p:nvSpPr>
        <p:spPr>
          <a:xfrm>
            <a:off x="6023544" y="2914288"/>
            <a:ext cx="7650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dk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 name="Google Shape;108;p16"/>
          <p:cNvSpPr txBox="1"/>
          <p:nvPr>
            <p:ph idx="1" type="subTitle"/>
          </p:nvPr>
        </p:nvSpPr>
        <p:spPr>
          <a:xfrm>
            <a:off x="720000"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9" name="Google Shape;109;p16"/>
          <p:cNvSpPr txBox="1"/>
          <p:nvPr>
            <p:ph idx="8" type="subTitle"/>
          </p:nvPr>
        </p:nvSpPr>
        <p:spPr>
          <a:xfrm>
            <a:off x="3371774"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0" name="Google Shape;110;p16"/>
          <p:cNvSpPr txBox="1"/>
          <p:nvPr>
            <p:ph idx="9" type="subTitle"/>
          </p:nvPr>
        </p:nvSpPr>
        <p:spPr>
          <a:xfrm>
            <a:off x="6023548" y="1978648"/>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1" name="Google Shape;111;p16"/>
          <p:cNvSpPr txBox="1"/>
          <p:nvPr>
            <p:ph idx="13" type="subTitle"/>
          </p:nvPr>
        </p:nvSpPr>
        <p:spPr>
          <a:xfrm>
            <a:off x="720000"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16"/>
          <p:cNvSpPr txBox="1"/>
          <p:nvPr>
            <p:ph idx="14" type="subTitle"/>
          </p:nvPr>
        </p:nvSpPr>
        <p:spPr>
          <a:xfrm>
            <a:off x="3371774"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3" name="Google Shape;113;p16"/>
          <p:cNvSpPr txBox="1"/>
          <p:nvPr>
            <p:ph idx="15" type="subTitle"/>
          </p:nvPr>
        </p:nvSpPr>
        <p:spPr>
          <a:xfrm>
            <a:off x="6023548" y="3313049"/>
            <a:ext cx="2400600" cy="51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grpSp>
        <p:nvGrpSpPr>
          <p:cNvPr id="114" name="Google Shape;114;p16"/>
          <p:cNvGrpSpPr/>
          <p:nvPr/>
        </p:nvGrpSpPr>
        <p:grpSpPr>
          <a:xfrm>
            <a:off x="720000" y="4854300"/>
            <a:ext cx="8536500" cy="0"/>
            <a:chOff x="2220050" y="1547100"/>
            <a:chExt cx="8536500" cy="0"/>
          </a:xfrm>
        </p:grpSpPr>
        <p:cxnSp>
          <p:nvCxnSpPr>
            <p:cNvPr id="115" name="Google Shape;115;p1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16" name="Google Shape;116;p16"/>
            <p:cNvCxnSpPr/>
            <p:nvPr/>
          </p:nvCxnSpPr>
          <p:spPr>
            <a:xfrm>
              <a:off x="2684450" y="1547100"/>
              <a:ext cx="8072100" cy="0"/>
            </a:xfrm>
            <a:prstGeom prst="straightConnector1">
              <a:avLst/>
            </a:prstGeom>
            <a:noFill/>
            <a:ln cap="flat" cmpd="sng" w="9525">
              <a:solidFill>
                <a:schemeClr val="dk1"/>
              </a:solidFill>
              <a:prstDash val="solid"/>
              <a:round/>
              <a:headEnd len="sm" w="sm" type="none"/>
              <a:tailEnd len="sm" w="sm" type="none"/>
            </a:ln>
          </p:spPr>
        </p:cxnSp>
      </p:grpSp>
      <p:sp>
        <p:nvSpPr>
          <p:cNvPr id="117" name="Google Shape;117;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17"/>
          <p:cNvSpPr/>
          <p:nvPr/>
        </p:nvSpPr>
        <p:spPr>
          <a:xfrm>
            <a:off x="6501975" y="0"/>
            <a:ext cx="26421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0" name="Google Shape;120;p17"/>
          <p:cNvCxnSpPr/>
          <p:nvPr/>
        </p:nvCxnSpPr>
        <p:spPr>
          <a:xfrm>
            <a:off x="123225" y="-35700"/>
            <a:ext cx="0" cy="5214900"/>
          </a:xfrm>
          <a:prstGeom prst="straightConnector1">
            <a:avLst/>
          </a:prstGeom>
          <a:noFill/>
          <a:ln cap="flat" cmpd="sng" w="9525">
            <a:solidFill>
              <a:schemeClr val="lt2"/>
            </a:solidFill>
            <a:prstDash val="solid"/>
            <a:round/>
            <a:headEnd len="sm" w="sm" type="none"/>
            <a:tailEnd len="sm" w="sm" type="none"/>
          </a:ln>
        </p:spPr>
      </p:cxnSp>
      <p:sp>
        <p:nvSpPr>
          <p:cNvPr id="121" name="Google Shape;121;p17"/>
          <p:cNvSpPr txBox="1"/>
          <p:nvPr>
            <p:ph idx="1" type="subTitle"/>
          </p:nvPr>
        </p:nvSpPr>
        <p:spPr>
          <a:xfrm>
            <a:off x="720000" y="1413363"/>
            <a:ext cx="5321400" cy="26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2"/>
              </a:buClr>
              <a:buSzPts val="1200"/>
              <a:buChar char="●"/>
              <a:defRPr/>
            </a:lvl1pPr>
            <a:lvl2pPr lvl="1" algn="ctr">
              <a:lnSpc>
                <a:spcPct val="100000"/>
              </a:lnSpc>
              <a:spcBef>
                <a:spcPts val="1000"/>
              </a:spcBef>
              <a:spcAft>
                <a:spcPts val="0"/>
              </a:spcAft>
              <a:buClr>
                <a:srgbClr val="E76A28"/>
              </a:buClr>
              <a:buSzPts val="1200"/>
              <a:buChar char="○"/>
              <a:defRPr/>
            </a:lvl2pPr>
            <a:lvl3pPr lvl="2" algn="ctr">
              <a:lnSpc>
                <a:spcPct val="100000"/>
              </a:lnSpc>
              <a:spcBef>
                <a:spcPts val="1600"/>
              </a:spcBef>
              <a:spcAft>
                <a:spcPts val="0"/>
              </a:spcAft>
              <a:buClr>
                <a:srgbClr val="E76A28"/>
              </a:buClr>
              <a:buSzPts val="1200"/>
              <a:buChar char="■"/>
              <a:defRPr/>
            </a:lvl3pPr>
            <a:lvl4pPr lvl="3" algn="ctr">
              <a:lnSpc>
                <a:spcPct val="100000"/>
              </a:lnSpc>
              <a:spcBef>
                <a:spcPts val="1600"/>
              </a:spcBef>
              <a:spcAft>
                <a:spcPts val="0"/>
              </a:spcAft>
              <a:buClr>
                <a:srgbClr val="E76A28"/>
              </a:buClr>
              <a:buSzPts val="1200"/>
              <a:buChar char="●"/>
              <a:defRPr/>
            </a:lvl4pPr>
            <a:lvl5pPr lvl="4" algn="ctr">
              <a:lnSpc>
                <a:spcPct val="100000"/>
              </a:lnSpc>
              <a:spcBef>
                <a:spcPts val="1600"/>
              </a:spcBef>
              <a:spcAft>
                <a:spcPts val="0"/>
              </a:spcAft>
              <a:buClr>
                <a:srgbClr val="E76A28"/>
              </a:buClr>
              <a:buSzPts val="1200"/>
              <a:buChar char="○"/>
              <a:defRPr/>
            </a:lvl5pPr>
            <a:lvl6pPr lvl="5" algn="ctr">
              <a:lnSpc>
                <a:spcPct val="100000"/>
              </a:lnSpc>
              <a:spcBef>
                <a:spcPts val="1600"/>
              </a:spcBef>
              <a:spcAft>
                <a:spcPts val="0"/>
              </a:spcAft>
              <a:buClr>
                <a:srgbClr val="999999"/>
              </a:buClr>
              <a:buSzPts val="1200"/>
              <a:buChar char="■"/>
              <a:defRPr/>
            </a:lvl6pPr>
            <a:lvl7pPr lvl="6" algn="ctr">
              <a:lnSpc>
                <a:spcPct val="100000"/>
              </a:lnSpc>
              <a:spcBef>
                <a:spcPts val="1600"/>
              </a:spcBef>
              <a:spcAft>
                <a:spcPts val="0"/>
              </a:spcAft>
              <a:buClr>
                <a:srgbClr val="999999"/>
              </a:buClr>
              <a:buSzPts val="1200"/>
              <a:buChar char="●"/>
              <a:defRPr/>
            </a:lvl7pPr>
            <a:lvl8pPr lvl="7" algn="ctr">
              <a:lnSpc>
                <a:spcPct val="100000"/>
              </a:lnSpc>
              <a:spcBef>
                <a:spcPts val="1600"/>
              </a:spcBef>
              <a:spcAft>
                <a:spcPts val="0"/>
              </a:spcAft>
              <a:buClr>
                <a:srgbClr val="999999"/>
              </a:buClr>
              <a:buSzPts val="1200"/>
              <a:buChar char="○"/>
              <a:defRPr/>
            </a:lvl8pPr>
            <a:lvl9pPr lvl="8" algn="ctr">
              <a:lnSpc>
                <a:spcPct val="100000"/>
              </a:lnSpc>
              <a:spcBef>
                <a:spcPts val="1600"/>
              </a:spcBef>
              <a:spcAft>
                <a:spcPts val="1600"/>
              </a:spcAft>
              <a:buClr>
                <a:srgbClr val="999999"/>
              </a:buClr>
              <a:buSzPts val="1200"/>
              <a:buChar char="■"/>
              <a:defRPr/>
            </a:lvl9pPr>
          </a:lstStyle>
          <a:p/>
        </p:txBody>
      </p:sp>
      <p:sp>
        <p:nvSpPr>
          <p:cNvPr id="122" name="Google Shape;122;p17"/>
          <p:cNvSpPr txBox="1"/>
          <p:nvPr>
            <p:ph type="title"/>
          </p:nvPr>
        </p:nvSpPr>
        <p:spPr>
          <a:xfrm>
            <a:off x="720000" y="445025"/>
            <a:ext cx="5321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123" name="Google Shape;123;p17"/>
          <p:cNvGrpSpPr/>
          <p:nvPr/>
        </p:nvGrpSpPr>
        <p:grpSpPr>
          <a:xfrm flipH="1">
            <a:off x="-93775" y="4604000"/>
            <a:ext cx="4197300" cy="0"/>
            <a:chOff x="2220050" y="1547100"/>
            <a:chExt cx="4197300" cy="0"/>
          </a:xfrm>
        </p:grpSpPr>
        <p:cxnSp>
          <p:nvCxnSpPr>
            <p:cNvPr id="124" name="Google Shape;124;p17"/>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25" name="Google Shape;125;p17"/>
            <p:cNvCxnSpPr/>
            <p:nvPr/>
          </p:nvCxnSpPr>
          <p:spPr>
            <a:xfrm>
              <a:off x="2684450" y="1547100"/>
              <a:ext cx="3732900" cy="0"/>
            </a:xfrm>
            <a:prstGeom prst="straightConnector1">
              <a:avLst/>
            </a:prstGeom>
            <a:noFill/>
            <a:ln cap="flat" cmpd="sng" w="9525">
              <a:solidFill>
                <a:schemeClr val="dk1"/>
              </a:solidFill>
              <a:prstDash val="solid"/>
              <a:round/>
              <a:headEnd len="sm" w="sm" type="none"/>
              <a:tailEnd len="sm" w="sm" type="none"/>
            </a:ln>
          </p:spPr>
        </p:cxnSp>
      </p:grpSp>
      <p:sp>
        <p:nvSpPr>
          <p:cNvPr id="126" name="Google Shape;126;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7" name="Shape 127"/>
        <p:cNvGrpSpPr/>
        <p:nvPr/>
      </p:nvGrpSpPr>
      <p:grpSpPr>
        <a:xfrm>
          <a:off x="0" y="0"/>
          <a:ext cx="0" cy="0"/>
          <a:chOff x="0" y="0"/>
          <a:chExt cx="0" cy="0"/>
        </a:xfrm>
      </p:grpSpPr>
      <p:sp>
        <p:nvSpPr>
          <p:cNvPr id="128" name="Google Shape;128;p18"/>
          <p:cNvSpPr/>
          <p:nvPr/>
        </p:nvSpPr>
        <p:spPr>
          <a:xfrm>
            <a:off x="0" y="0"/>
            <a:ext cx="1686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 name="Google Shape;129;p18"/>
          <p:cNvCxnSpPr/>
          <p:nvPr/>
        </p:nvCxnSpPr>
        <p:spPr>
          <a:xfrm>
            <a:off x="8909350" y="-35700"/>
            <a:ext cx="0" cy="5214900"/>
          </a:xfrm>
          <a:prstGeom prst="straightConnector1">
            <a:avLst/>
          </a:prstGeom>
          <a:noFill/>
          <a:ln cap="flat" cmpd="sng" w="9525">
            <a:solidFill>
              <a:schemeClr val="lt2"/>
            </a:solidFill>
            <a:prstDash val="solid"/>
            <a:round/>
            <a:headEnd len="sm" w="sm" type="none"/>
            <a:tailEnd len="sm" w="sm" type="none"/>
          </a:ln>
        </p:spPr>
      </p:cxnSp>
      <p:sp>
        <p:nvSpPr>
          <p:cNvPr id="130" name="Google Shape;130;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1" name="Google Shape;131;p18"/>
          <p:cNvSpPr txBox="1"/>
          <p:nvPr>
            <p:ph idx="1" type="subTitle"/>
          </p:nvPr>
        </p:nvSpPr>
        <p:spPr>
          <a:xfrm>
            <a:off x="720000" y="2275025"/>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32" name="Google Shape;132;p18"/>
          <p:cNvSpPr txBox="1"/>
          <p:nvPr>
            <p:ph idx="2" type="subTitle"/>
          </p:nvPr>
        </p:nvSpPr>
        <p:spPr>
          <a:xfrm>
            <a:off x="3306477" y="2275025"/>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33" name="Google Shape;133;p18"/>
          <p:cNvSpPr txBox="1"/>
          <p:nvPr>
            <p:ph idx="3" type="subTitle"/>
          </p:nvPr>
        </p:nvSpPr>
        <p:spPr>
          <a:xfrm>
            <a:off x="5892953" y="2275026"/>
            <a:ext cx="2531100" cy="123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34" name="Google Shape;134;p18"/>
          <p:cNvSpPr txBox="1"/>
          <p:nvPr>
            <p:ph idx="4" type="subTitle"/>
          </p:nvPr>
        </p:nvSpPr>
        <p:spPr>
          <a:xfrm>
            <a:off x="720000"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5" name="Google Shape;135;p18"/>
          <p:cNvSpPr txBox="1"/>
          <p:nvPr>
            <p:ph idx="5" type="subTitle"/>
          </p:nvPr>
        </p:nvSpPr>
        <p:spPr>
          <a:xfrm>
            <a:off x="3306484"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6" name="Google Shape;136;p18"/>
          <p:cNvSpPr txBox="1"/>
          <p:nvPr>
            <p:ph idx="6" type="subTitle"/>
          </p:nvPr>
        </p:nvSpPr>
        <p:spPr>
          <a:xfrm>
            <a:off x="5892959" y="1450250"/>
            <a:ext cx="2531100" cy="80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7" name="Google Shape;137;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8" name="Shape 138"/>
        <p:cNvGrpSpPr/>
        <p:nvPr/>
      </p:nvGrpSpPr>
      <p:grpSpPr>
        <a:xfrm>
          <a:off x="0" y="0"/>
          <a:ext cx="0" cy="0"/>
          <a:chOff x="0" y="0"/>
          <a:chExt cx="0" cy="0"/>
        </a:xfrm>
      </p:grpSpPr>
      <p:sp>
        <p:nvSpPr>
          <p:cNvPr id="139" name="Google Shape;139;p19"/>
          <p:cNvSpPr/>
          <p:nvPr/>
        </p:nvSpPr>
        <p:spPr>
          <a:xfrm>
            <a:off x="5911750" y="0"/>
            <a:ext cx="323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0" name="Google Shape;140;p19"/>
          <p:cNvCxnSpPr/>
          <p:nvPr/>
        </p:nvCxnSpPr>
        <p:spPr>
          <a:xfrm>
            <a:off x="712819" y="-35700"/>
            <a:ext cx="0" cy="5214900"/>
          </a:xfrm>
          <a:prstGeom prst="straightConnector1">
            <a:avLst/>
          </a:prstGeom>
          <a:noFill/>
          <a:ln cap="flat" cmpd="sng" w="9525">
            <a:solidFill>
              <a:schemeClr val="lt2"/>
            </a:solidFill>
            <a:prstDash val="solid"/>
            <a:round/>
            <a:headEnd len="sm" w="sm" type="none"/>
            <a:tailEnd len="sm" w="sm" type="none"/>
          </a:ln>
        </p:spPr>
      </p:cxnSp>
      <p:sp>
        <p:nvSpPr>
          <p:cNvPr id="141" name="Google Shape;141;p19"/>
          <p:cNvSpPr txBox="1"/>
          <p:nvPr>
            <p:ph type="title"/>
          </p:nvPr>
        </p:nvSpPr>
        <p:spPr>
          <a:xfrm>
            <a:off x="1500200" y="2699650"/>
            <a:ext cx="3362100" cy="84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42" name="Google Shape;142;p19"/>
          <p:cNvSpPr txBox="1"/>
          <p:nvPr>
            <p:ph idx="2" type="title"/>
          </p:nvPr>
        </p:nvSpPr>
        <p:spPr>
          <a:xfrm>
            <a:off x="1500200" y="1602050"/>
            <a:ext cx="1288800" cy="841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solidFill>
                  <a:schemeClr val="dk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43" name="Google Shape;143;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44" name="Shape 144"/>
        <p:cNvGrpSpPr/>
        <p:nvPr/>
      </p:nvGrpSpPr>
      <p:grpSpPr>
        <a:xfrm>
          <a:off x="0" y="0"/>
          <a:ext cx="0" cy="0"/>
          <a:chOff x="0" y="0"/>
          <a:chExt cx="0" cy="0"/>
        </a:xfrm>
      </p:grpSpPr>
      <p:sp>
        <p:nvSpPr>
          <p:cNvPr id="145" name="Google Shape;145;p20"/>
          <p:cNvSpPr/>
          <p:nvPr/>
        </p:nvSpPr>
        <p:spPr>
          <a:xfrm>
            <a:off x="0" y="0"/>
            <a:ext cx="4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cxnSp>
        <p:nvCxnSpPr>
          <p:cNvPr id="147" name="Google Shape;147;p20"/>
          <p:cNvCxnSpPr/>
          <p:nvPr/>
        </p:nvCxnSpPr>
        <p:spPr>
          <a:xfrm>
            <a:off x="8783850"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48" name="Google Shape;148;p20"/>
          <p:cNvGrpSpPr/>
          <p:nvPr/>
        </p:nvGrpSpPr>
        <p:grpSpPr>
          <a:xfrm>
            <a:off x="1501085" y="4854300"/>
            <a:ext cx="7698000" cy="0"/>
            <a:chOff x="2220050" y="1547100"/>
            <a:chExt cx="7698000" cy="0"/>
          </a:xfrm>
        </p:grpSpPr>
        <p:cxnSp>
          <p:nvCxnSpPr>
            <p:cNvPr id="149" name="Google Shape;149;p2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50" name="Google Shape;150;p20"/>
            <p:cNvCxnSpPr/>
            <p:nvPr/>
          </p:nvCxnSpPr>
          <p:spPr>
            <a:xfrm>
              <a:off x="2684450" y="1547100"/>
              <a:ext cx="7233600" cy="0"/>
            </a:xfrm>
            <a:prstGeom prst="straightConnector1">
              <a:avLst/>
            </a:prstGeom>
            <a:noFill/>
            <a:ln cap="flat" cmpd="sng" w="9525">
              <a:solidFill>
                <a:schemeClr val="dk1"/>
              </a:solidFill>
              <a:prstDash val="solid"/>
              <a:round/>
              <a:headEnd len="sm" w="sm" type="none"/>
              <a:tailEnd len="sm" w="sm" type="none"/>
            </a:ln>
          </p:spPr>
        </p:cxnSp>
      </p:grpSp>
      <p:sp>
        <p:nvSpPr>
          <p:cNvPr id="151" name="Google Shape;151;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2" name="Shape 152"/>
        <p:cNvGrpSpPr/>
        <p:nvPr/>
      </p:nvGrpSpPr>
      <p:grpSpPr>
        <a:xfrm>
          <a:off x="0" y="0"/>
          <a:ext cx="0" cy="0"/>
          <a:chOff x="0" y="0"/>
          <a:chExt cx="0" cy="0"/>
        </a:xfrm>
      </p:grpSpPr>
      <p:sp>
        <p:nvSpPr>
          <p:cNvPr id="153" name="Google Shape;153;p21"/>
          <p:cNvSpPr/>
          <p:nvPr/>
        </p:nvSpPr>
        <p:spPr>
          <a:xfrm>
            <a:off x="7776150" y="0"/>
            <a:ext cx="1368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4" name="Google Shape;154;p21"/>
          <p:cNvCxnSpPr/>
          <p:nvPr/>
        </p:nvCxnSpPr>
        <p:spPr>
          <a:xfrm>
            <a:off x="255619" y="-35700"/>
            <a:ext cx="0" cy="5214900"/>
          </a:xfrm>
          <a:prstGeom prst="straightConnector1">
            <a:avLst/>
          </a:prstGeom>
          <a:noFill/>
          <a:ln cap="flat" cmpd="sng" w="9525">
            <a:solidFill>
              <a:schemeClr val="lt2"/>
            </a:solidFill>
            <a:prstDash val="solid"/>
            <a:round/>
            <a:headEnd len="sm" w="sm" type="none"/>
            <a:tailEnd len="sm" w="sm" type="none"/>
          </a:ln>
        </p:spPr>
      </p:cxnSp>
      <p:sp>
        <p:nvSpPr>
          <p:cNvPr id="155" name="Google Shape;155;p21"/>
          <p:cNvSpPr txBox="1"/>
          <p:nvPr>
            <p:ph type="title"/>
          </p:nvPr>
        </p:nvSpPr>
        <p:spPr>
          <a:xfrm>
            <a:off x="720000" y="445025"/>
            <a:ext cx="6166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6" name="Google Shape;156;p21"/>
          <p:cNvSpPr txBox="1"/>
          <p:nvPr>
            <p:ph idx="1" type="subTitle"/>
          </p:nvPr>
        </p:nvSpPr>
        <p:spPr>
          <a:xfrm>
            <a:off x="3873881" y="2193146"/>
            <a:ext cx="3000900" cy="175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7" name="Google Shape;157;p21"/>
          <p:cNvSpPr txBox="1"/>
          <p:nvPr>
            <p:ph idx="2" type="subTitle"/>
          </p:nvPr>
        </p:nvSpPr>
        <p:spPr>
          <a:xfrm>
            <a:off x="720000" y="2193152"/>
            <a:ext cx="3000900" cy="175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158" name="Google Shape;158;p21"/>
          <p:cNvSpPr txBox="1"/>
          <p:nvPr>
            <p:ph idx="3" type="subTitle"/>
          </p:nvPr>
        </p:nvSpPr>
        <p:spPr>
          <a:xfrm>
            <a:off x="720000" y="1340875"/>
            <a:ext cx="3000900" cy="83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59" name="Google Shape;159;p21"/>
          <p:cNvSpPr txBox="1"/>
          <p:nvPr>
            <p:ph idx="4" type="subTitle"/>
          </p:nvPr>
        </p:nvSpPr>
        <p:spPr>
          <a:xfrm>
            <a:off x="3873881" y="1340875"/>
            <a:ext cx="3000900" cy="83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grpSp>
        <p:nvGrpSpPr>
          <p:cNvPr id="160" name="Google Shape;160;p21"/>
          <p:cNvGrpSpPr/>
          <p:nvPr/>
        </p:nvGrpSpPr>
        <p:grpSpPr>
          <a:xfrm flipH="1">
            <a:off x="-18775" y="4604000"/>
            <a:ext cx="7429500" cy="0"/>
            <a:chOff x="2220050" y="1547100"/>
            <a:chExt cx="7429500" cy="0"/>
          </a:xfrm>
        </p:grpSpPr>
        <p:cxnSp>
          <p:nvCxnSpPr>
            <p:cNvPr id="161" name="Google Shape;161;p2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62" name="Google Shape;162;p21"/>
            <p:cNvCxnSpPr/>
            <p:nvPr/>
          </p:nvCxnSpPr>
          <p:spPr>
            <a:xfrm>
              <a:off x="2684450" y="1547100"/>
              <a:ext cx="6965100" cy="0"/>
            </a:xfrm>
            <a:prstGeom prst="straightConnector1">
              <a:avLst/>
            </a:prstGeom>
            <a:noFill/>
            <a:ln cap="flat" cmpd="sng" w="9525">
              <a:solidFill>
                <a:schemeClr val="dk1"/>
              </a:solidFill>
              <a:prstDash val="solid"/>
              <a:round/>
              <a:headEnd len="sm" w="sm" type="none"/>
              <a:tailEnd len="sm" w="sm" type="none"/>
            </a:ln>
          </p:spPr>
        </p:cxnSp>
      </p:grpSp>
      <p:sp>
        <p:nvSpPr>
          <p:cNvPr id="163" name="Google Shape;163;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0_1">
    <p:spTree>
      <p:nvGrpSpPr>
        <p:cNvPr id="164" name="Shape 164"/>
        <p:cNvGrpSpPr/>
        <p:nvPr/>
      </p:nvGrpSpPr>
      <p:grpSpPr>
        <a:xfrm>
          <a:off x="0" y="0"/>
          <a:ext cx="0" cy="0"/>
          <a:chOff x="0" y="0"/>
          <a:chExt cx="0" cy="0"/>
        </a:xfrm>
      </p:grpSpPr>
      <p:sp>
        <p:nvSpPr>
          <p:cNvPr id="165" name="Google Shape;165;p22"/>
          <p:cNvSpPr txBox="1"/>
          <p:nvPr>
            <p:ph type="title"/>
          </p:nvPr>
        </p:nvSpPr>
        <p:spPr>
          <a:xfrm>
            <a:off x="713250" y="445025"/>
            <a:ext cx="4635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66" name="Google Shape;166;p22"/>
          <p:cNvSpPr txBox="1"/>
          <p:nvPr>
            <p:ph idx="1" type="body"/>
          </p:nvPr>
        </p:nvSpPr>
        <p:spPr>
          <a:xfrm>
            <a:off x="713250" y="1257575"/>
            <a:ext cx="7717500" cy="275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120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167" name="Google Shape;167;p22"/>
          <p:cNvSpPr/>
          <p:nvPr/>
        </p:nvSpPr>
        <p:spPr>
          <a:xfrm>
            <a:off x="0" y="0"/>
            <a:ext cx="5904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8" name="Google Shape;168;p22"/>
          <p:cNvCxnSpPr/>
          <p:nvPr/>
        </p:nvCxnSpPr>
        <p:spPr>
          <a:xfrm>
            <a:off x="873557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169" name="Google Shape;169;p22"/>
          <p:cNvGrpSpPr/>
          <p:nvPr/>
        </p:nvGrpSpPr>
        <p:grpSpPr>
          <a:xfrm>
            <a:off x="3886675" y="4976075"/>
            <a:ext cx="5341800" cy="0"/>
            <a:chOff x="2220050" y="1547100"/>
            <a:chExt cx="5341800" cy="0"/>
          </a:xfrm>
        </p:grpSpPr>
        <p:cxnSp>
          <p:nvCxnSpPr>
            <p:cNvPr id="170" name="Google Shape;170;p22"/>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171" name="Google Shape;171;p22"/>
            <p:cNvCxnSpPr/>
            <p:nvPr/>
          </p:nvCxnSpPr>
          <p:spPr>
            <a:xfrm>
              <a:off x="2684450" y="1547100"/>
              <a:ext cx="4877400" cy="0"/>
            </a:xfrm>
            <a:prstGeom prst="straightConnector1">
              <a:avLst/>
            </a:prstGeom>
            <a:noFill/>
            <a:ln cap="flat" cmpd="sng" w="9525">
              <a:solidFill>
                <a:schemeClr val="dk1"/>
              </a:solidFill>
              <a:prstDash val="solid"/>
              <a:round/>
              <a:headEnd len="sm" w="sm" type="none"/>
              <a:tailEnd len="sm" w="sm" type="none"/>
            </a:ln>
          </p:spPr>
        </p:cxnSp>
      </p:grpSp>
      <p:sp>
        <p:nvSpPr>
          <p:cNvPr id="172" name="Google Shape;172;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73" name="Shape 173"/>
        <p:cNvGrpSpPr/>
        <p:nvPr/>
      </p:nvGrpSpPr>
      <p:grpSpPr>
        <a:xfrm>
          <a:off x="0" y="0"/>
          <a:ext cx="0" cy="0"/>
          <a:chOff x="0" y="0"/>
          <a:chExt cx="0" cy="0"/>
        </a:xfrm>
      </p:grpSpPr>
      <p:sp>
        <p:nvSpPr>
          <p:cNvPr id="174" name="Google Shape;174;p23"/>
          <p:cNvSpPr txBox="1"/>
          <p:nvPr>
            <p:ph type="title"/>
          </p:nvPr>
        </p:nvSpPr>
        <p:spPr>
          <a:xfrm>
            <a:off x="6071025" y="539500"/>
            <a:ext cx="2359800" cy="1146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5" name="Google Shape;175;p23"/>
          <p:cNvSpPr txBox="1"/>
          <p:nvPr>
            <p:ph idx="1" type="subTitle"/>
          </p:nvPr>
        </p:nvSpPr>
        <p:spPr>
          <a:xfrm>
            <a:off x="6071025" y="1570750"/>
            <a:ext cx="2359800" cy="1026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76" name="Google Shape;176;p23"/>
          <p:cNvSpPr/>
          <p:nvPr>
            <p:ph idx="2" type="pic"/>
          </p:nvPr>
        </p:nvSpPr>
        <p:spPr>
          <a:xfrm>
            <a:off x="0" y="0"/>
            <a:ext cx="3428100" cy="5143500"/>
          </a:xfrm>
          <a:prstGeom prst="rect">
            <a:avLst/>
          </a:prstGeom>
          <a:noFill/>
          <a:ln>
            <a:noFill/>
          </a:ln>
        </p:spPr>
      </p:sp>
      <p:sp>
        <p:nvSpPr>
          <p:cNvPr id="177" name="Google Shape;177;p23"/>
          <p:cNvSpPr/>
          <p:nvPr>
            <p:ph idx="3" type="pic"/>
          </p:nvPr>
        </p:nvSpPr>
        <p:spPr>
          <a:xfrm>
            <a:off x="3690500" y="3066625"/>
            <a:ext cx="4705500" cy="2076900"/>
          </a:xfrm>
          <a:prstGeom prst="rect">
            <a:avLst/>
          </a:prstGeom>
          <a:noFill/>
          <a:ln>
            <a:noFill/>
          </a:ln>
        </p:spPr>
      </p:sp>
      <p:sp>
        <p:nvSpPr>
          <p:cNvPr id="178" name="Google Shape;178;p23"/>
          <p:cNvSpPr/>
          <p:nvPr>
            <p:ph idx="4" type="pic"/>
          </p:nvPr>
        </p:nvSpPr>
        <p:spPr>
          <a:xfrm>
            <a:off x="3690375" y="0"/>
            <a:ext cx="2285700" cy="2826300"/>
          </a:xfrm>
          <a:prstGeom prst="rect">
            <a:avLst/>
          </a:prstGeom>
          <a:noFill/>
          <a:ln>
            <a:noFill/>
          </a:ln>
        </p:spPr>
      </p:sp>
      <p:sp>
        <p:nvSpPr>
          <p:cNvPr id="179" name="Google Shape;179;p23"/>
          <p:cNvSpPr/>
          <p:nvPr/>
        </p:nvSpPr>
        <p:spPr>
          <a:xfrm>
            <a:off x="8947250" y="0"/>
            <a:ext cx="196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0" name="Google Shape;180;p23"/>
          <p:cNvCxnSpPr/>
          <p:nvPr/>
        </p:nvCxnSpPr>
        <p:spPr>
          <a:xfrm>
            <a:off x="414894" y="-35700"/>
            <a:ext cx="0" cy="5214900"/>
          </a:xfrm>
          <a:prstGeom prst="straightConnector1">
            <a:avLst/>
          </a:prstGeom>
          <a:noFill/>
          <a:ln cap="flat" cmpd="sng" w="9525">
            <a:solidFill>
              <a:schemeClr val="lt2"/>
            </a:solidFill>
            <a:prstDash val="solid"/>
            <a:round/>
            <a:headEnd len="sm" w="sm" type="none"/>
            <a:tailEnd len="sm" w="sm" type="none"/>
          </a:ln>
        </p:spPr>
      </p:cxnSp>
      <p:sp>
        <p:nvSpPr>
          <p:cNvPr id="181" name="Google Shape;181;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182" name="Shape 182"/>
        <p:cNvGrpSpPr/>
        <p:nvPr/>
      </p:nvGrpSpPr>
      <p:grpSpPr>
        <a:xfrm>
          <a:off x="0" y="0"/>
          <a:ext cx="0" cy="0"/>
          <a:chOff x="0" y="0"/>
          <a:chExt cx="0" cy="0"/>
        </a:xfrm>
      </p:grpSpPr>
      <p:sp>
        <p:nvSpPr>
          <p:cNvPr id="183" name="Google Shape;183;p24"/>
          <p:cNvSpPr/>
          <p:nvPr>
            <p:ph idx="2" type="pic"/>
          </p:nvPr>
        </p:nvSpPr>
        <p:spPr>
          <a:xfrm>
            <a:off x="1377525" y="0"/>
            <a:ext cx="3802500" cy="3033900"/>
          </a:xfrm>
          <a:prstGeom prst="rect">
            <a:avLst/>
          </a:prstGeom>
          <a:noFill/>
          <a:ln>
            <a:noFill/>
          </a:ln>
        </p:spPr>
      </p:sp>
      <p:sp>
        <p:nvSpPr>
          <p:cNvPr id="184" name="Google Shape;184;p24"/>
          <p:cNvSpPr/>
          <p:nvPr>
            <p:ph idx="3" type="pic"/>
          </p:nvPr>
        </p:nvSpPr>
        <p:spPr>
          <a:xfrm>
            <a:off x="5516825" y="-23825"/>
            <a:ext cx="3643800" cy="5167200"/>
          </a:xfrm>
          <a:prstGeom prst="rect">
            <a:avLst/>
          </a:prstGeom>
          <a:noFill/>
          <a:ln>
            <a:noFill/>
          </a:ln>
        </p:spPr>
      </p:sp>
      <p:sp>
        <p:nvSpPr>
          <p:cNvPr id="185" name="Google Shape;185;p24"/>
          <p:cNvSpPr/>
          <p:nvPr/>
        </p:nvSpPr>
        <p:spPr>
          <a:xfrm>
            <a:off x="0" y="0"/>
            <a:ext cx="104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6" name="Google Shape;186;p24"/>
          <p:cNvCxnSpPr/>
          <p:nvPr/>
        </p:nvCxnSpPr>
        <p:spPr>
          <a:xfrm>
            <a:off x="8805525" y="-35700"/>
            <a:ext cx="0" cy="5214900"/>
          </a:xfrm>
          <a:prstGeom prst="straightConnector1">
            <a:avLst/>
          </a:prstGeom>
          <a:noFill/>
          <a:ln cap="flat" cmpd="sng" w="9525">
            <a:solidFill>
              <a:schemeClr val="lt2"/>
            </a:solidFill>
            <a:prstDash val="solid"/>
            <a:round/>
            <a:headEnd len="sm" w="sm" type="none"/>
            <a:tailEnd len="sm" w="sm" type="none"/>
          </a:ln>
        </p:spPr>
      </p:cxnSp>
      <p:sp>
        <p:nvSpPr>
          <p:cNvPr id="187" name="Google Shape;187;p24"/>
          <p:cNvSpPr txBox="1"/>
          <p:nvPr>
            <p:ph type="title"/>
          </p:nvPr>
        </p:nvSpPr>
        <p:spPr>
          <a:xfrm>
            <a:off x="1377513" y="3108350"/>
            <a:ext cx="3802500" cy="6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88" name="Google Shape;188;p24"/>
          <p:cNvSpPr txBox="1"/>
          <p:nvPr>
            <p:ph idx="1" type="subTitle"/>
          </p:nvPr>
        </p:nvSpPr>
        <p:spPr>
          <a:xfrm>
            <a:off x="1377513" y="3679400"/>
            <a:ext cx="3802500" cy="924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89" name="Google Shape;189;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0" name="Shape 190"/>
        <p:cNvGrpSpPr/>
        <p:nvPr/>
      </p:nvGrpSpPr>
      <p:grpSpPr>
        <a:xfrm>
          <a:off x="0" y="0"/>
          <a:ext cx="0" cy="0"/>
          <a:chOff x="0" y="0"/>
          <a:chExt cx="0" cy="0"/>
        </a:xfrm>
      </p:grpSpPr>
      <p:sp>
        <p:nvSpPr>
          <p:cNvPr id="191" name="Google Shape;191;p25"/>
          <p:cNvSpPr/>
          <p:nvPr>
            <p:ph idx="2" type="pic"/>
          </p:nvPr>
        </p:nvSpPr>
        <p:spPr>
          <a:xfrm>
            <a:off x="0" y="-14875"/>
            <a:ext cx="9144000" cy="5158500"/>
          </a:xfrm>
          <a:prstGeom prst="rect">
            <a:avLst/>
          </a:prstGeom>
          <a:noFill/>
          <a:ln>
            <a:noFill/>
          </a:ln>
        </p:spPr>
      </p:sp>
      <p:sp>
        <p:nvSpPr>
          <p:cNvPr id="192" name="Google Shape;192;p25"/>
          <p:cNvSpPr txBox="1"/>
          <p:nvPr>
            <p:ph type="title"/>
          </p:nvPr>
        </p:nvSpPr>
        <p:spPr>
          <a:xfrm>
            <a:off x="713225" y="3836875"/>
            <a:ext cx="3574200" cy="750300"/>
          </a:xfrm>
          <a:prstGeom prst="rect">
            <a:avLst/>
          </a:prstGeom>
          <a:solidFill>
            <a:schemeClr val="lt1"/>
          </a:solid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b="0" sz="18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93" name="Google Shape;193;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94" name="Shape 194"/>
        <p:cNvGrpSpPr/>
        <p:nvPr/>
      </p:nvGrpSpPr>
      <p:grpSpPr>
        <a:xfrm>
          <a:off x="0" y="0"/>
          <a:ext cx="0" cy="0"/>
          <a:chOff x="0" y="0"/>
          <a:chExt cx="0" cy="0"/>
        </a:xfrm>
      </p:grpSpPr>
      <p:sp>
        <p:nvSpPr>
          <p:cNvPr id="195" name="Google Shape;195;p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6" name="Google Shape;196;p26"/>
          <p:cNvSpPr txBox="1"/>
          <p:nvPr>
            <p:ph idx="1" type="subTitle"/>
          </p:nvPr>
        </p:nvSpPr>
        <p:spPr>
          <a:xfrm>
            <a:off x="726701" y="1701834"/>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97" name="Google Shape;197;p26"/>
          <p:cNvSpPr txBox="1"/>
          <p:nvPr>
            <p:ph idx="2" type="subTitle"/>
          </p:nvPr>
        </p:nvSpPr>
        <p:spPr>
          <a:xfrm>
            <a:off x="4781130" y="1701834"/>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98" name="Google Shape;198;p26"/>
          <p:cNvSpPr txBox="1"/>
          <p:nvPr>
            <p:ph idx="3" type="subTitle"/>
          </p:nvPr>
        </p:nvSpPr>
        <p:spPr>
          <a:xfrm>
            <a:off x="726701" y="3390025"/>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199" name="Google Shape;199;p26"/>
          <p:cNvSpPr txBox="1"/>
          <p:nvPr>
            <p:ph idx="4" type="subTitle"/>
          </p:nvPr>
        </p:nvSpPr>
        <p:spPr>
          <a:xfrm>
            <a:off x="4781129" y="3390023"/>
            <a:ext cx="3649500" cy="108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00" name="Google Shape;200;p26"/>
          <p:cNvSpPr txBox="1"/>
          <p:nvPr>
            <p:ph idx="5" type="subTitle"/>
          </p:nvPr>
        </p:nvSpPr>
        <p:spPr>
          <a:xfrm>
            <a:off x="726700" y="1321075"/>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1" name="Google Shape;201;p26"/>
          <p:cNvSpPr txBox="1"/>
          <p:nvPr>
            <p:ph idx="6" type="subTitle"/>
          </p:nvPr>
        </p:nvSpPr>
        <p:spPr>
          <a:xfrm>
            <a:off x="726700" y="3009341"/>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2" name="Google Shape;202;p26"/>
          <p:cNvSpPr txBox="1"/>
          <p:nvPr>
            <p:ph idx="7" type="subTitle"/>
          </p:nvPr>
        </p:nvSpPr>
        <p:spPr>
          <a:xfrm>
            <a:off x="4781096" y="1321075"/>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3" name="Google Shape;203;p26"/>
          <p:cNvSpPr txBox="1"/>
          <p:nvPr>
            <p:ph idx="8" type="subTitle"/>
          </p:nvPr>
        </p:nvSpPr>
        <p:spPr>
          <a:xfrm>
            <a:off x="4781097" y="3009334"/>
            <a:ext cx="36495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4" name="Google Shape;204;p26"/>
          <p:cNvSpPr/>
          <p:nvPr/>
        </p:nvSpPr>
        <p:spPr>
          <a:xfrm>
            <a:off x="0" y="0"/>
            <a:ext cx="449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5" name="Google Shape;205;p26"/>
          <p:cNvCxnSpPr/>
          <p:nvPr/>
        </p:nvCxnSpPr>
        <p:spPr>
          <a:xfrm>
            <a:off x="85769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06" name="Google Shape;206;p26"/>
          <p:cNvGrpSpPr/>
          <p:nvPr/>
        </p:nvGrpSpPr>
        <p:grpSpPr>
          <a:xfrm>
            <a:off x="2819875" y="4823675"/>
            <a:ext cx="6333600" cy="0"/>
            <a:chOff x="2220050" y="1547100"/>
            <a:chExt cx="6333600" cy="0"/>
          </a:xfrm>
        </p:grpSpPr>
        <p:cxnSp>
          <p:nvCxnSpPr>
            <p:cNvPr id="207" name="Google Shape;207;p2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08" name="Google Shape;208;p26"/>
            <p:cNvCxnSpPr/>
            <p:nvPr/>
          </p:nvCxnSpPr>
          <p:spPr>
            <a:xfrm>
              <a:off x="2684450" y="1547100"/>
              <a:ext cx="5869200" cy="0"/>
            </a:xfrm>
            <a:prstGeom prst="straightConnector1">
              <a:avLst/>
            </a:prstGeom>
            <a:noFill/>
            <a:ln cap="flat" cmpd="sng" w="9525">
              <a:solidFill>
                <a:schemeClr val="dk1"/>
              </a:solidFill>
              <a:prstDash val="solid"/>
              <a:round/>
              <a:headEnd len="sm" w="sm" type="none"/>
              <a:tailEnd len="sm" w="sm" type="none"/>
            </a:ln>
          </p:spPr>
        </p:cxnSp>
      </p:grpSp>
      <p:sp>
        <p:nvSpPr>
          <p:cNvPr id="209" name="Google Shape;209;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10" name="Shape 210"/>
        <p:cNvGrpSpPr/>
        <p:nvPr/>
      </p:nvGrpSpPr>
      <p:grpSpPr>
        <a:xfrm>
          <a:off x="0" y="0"/>
          <a:ext cx="0" cy="0"/>
          <a:chOff x="0" y="0"/>
          <a:chExt cx="0" cy="0"/>
        </a:xfrm>
      </p:grpSpPr>
      <p:sp>
        <p:nvSpPr>
          <p:cNvPr id="211" name="Google Shape;211;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12" name="Google Shape;212;p27"/>
          <p:cNvSpPr txBox="1"/>
          <p:nvPr>
            <p:ph idx="1" type="subTitle"/>
          </p:nvPr>
        </p:nvSpPr>
        <p:spPr>
          <a:xfrm>
            <a:off x="712900" y="1710154"/>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3" name="Google Shape;213;p27"/>
          <p:cNvSpPr txBox="1"/>
          <p:nvPr>
            <p:ph idx="2" type="subTitle"/>
          </p:nvPr>
        </p:nvSpPr>
        <p:spPr>
          <a:xfrm>
            <a:off x="3262909" y="1710164"/>
            <a:ext cx="26178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4" name="Google Shape;214;p27"/>
          <p:cNvSpPr txBox="1"/>
          <p:nvPr>
            <p:ph idx="3" type="subTitle"/>
          </p:nvPr>
        </p:nvSpPr>
        <p:spPr>
          <a:xfrm>
            <a:off x="712900" y="3539851"/>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5" name="Google Shape;215;p27"/>
          <p:cNvSpPr txBox="1"/>
          <p:nvPr>
            <p:ph idx="4" type="subTitle"/>
          </p:nvPr>
        </p:nvSpPr>
        <p:spPr>
          <a:xfrm>
            <a:off x="3262918" y="3539853"/>
            <a:ext cx="26178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6" name="Google Shape;216;p27"/>
          <p:cNvSpPr txBox="1"/>
          <p:nvPr>
            <p:ph idx="5" type="subTitle"/>
          </p:nvPr>
        </p:nvSpPr>
        <p:spPr>
          <a:xfrm>
            <a:off x="5924954" y="1710160"/>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7" name="Google Shape;217;p27"/>
          <p:cNvSpPr txBox="1"/>
          <p:nvPr>
            <p:ph idx="6" type="subTitle"/>
          </p:nvPr>
        </p:nvSpPr>
        <p:spPr>
          <a:xfrm>
            <a:off x="5924973" y="3539851"/>
            <a:ext cx="2505900" cy="105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18" name="Google Shape;218;p27"/>
          <p:cNvSpPr txBox="1"/>
          <p:nvPr>
            <p:ph idx="7" type="subTitle"/>
          </p:nvPr>
        </p:nvSpPr>
        <p:spPr>
          <a:xfrm>
            <a:off x="712900" y="1208575"/>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19" name="Google Shape;219;p27"/>
          <p:cNvSpPr txBox="1"/>
          <p:nvPr>
            <p:ph idx="8" type="subTitle"/>
          </p:nvPr>
        </p:nvSpPr>
        <p:spPr>
          <a:xfrm>
            <a:off x="3262908" y="1208575"/>
            <a:ext cx="26154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0" name="Google Shape;220;p27"/>
          <p:cNvSpPr txBox="1"/>
          <p:nvPr>
            <p:ph idx="9" type="subTitle"/>
          </p:nvPr>
        </p:nvSpPr>
        <p:spPr>
          <a:xfrm>
            <a:off x="5924951" y="1208575"/>
            <a:ext cx="25035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1" name="Google Shape;221;p27"/>
          <p:cNvSpPr txBox="1"/>
          <p:nvPr>
            <p:ph idx="13" type="subTitle"/>
          </p:nvPr>
        </p:nvSpPr>
        <p:spPr>
          <a:xfrm>
            <a:off x="712900" y="3040861"/>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2" name="Google Shape;222;p27"/>
          <p:cNvSpPr txBox="1"/>
          <p:nvPr>
            <p:ph idx="14" type="subTitle"/>
          </p:nvPr>
        </p:nvSpPr>
        <p:spPr>
          <a:xfrm>
            <a:off x="3262908" y="3040858"/>
            <a:ext cx="26154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3" name="Google Shape;223;p27"/>
          <p:cNvSpPr txBox="1"/>
          <p:nvPr>
            <p:ph idx="15" type="subTitle"/>
          </p:nvPr>
        </p:nvSpPr>
        <p:spPr>
          <a:xfrm>
            <a:off x="5924951" y="3040853"/>
            <a:ext cx="2505900" cy="49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0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4" name="Google Shape;224;p27"/>
          <p:cNvSpPr/>
          <p:nvPr/>
        </p:nvSpPr>
        <p:spPr>
          <a:xfrm>
            <a:off x="8591250" y="0"/>
            <a:ext cx="5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5" name="Google Shape;225;p27"/>
          <p:cNvCxnSpPr/>
          <p:nvPr/>
        </p:nvCxnSpPr>
        <p:spPr>
          <a:xfrm>
            <a:off x="41489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26" name="Google Shape;226;p27"/>
          <p:cNvGrpSpPr/>
          <p:nvPr/>
        </p:nvGrpSpPr>
        <p:grpSpPr>
          <a:xfrm flipH="1">
            <a:off x="-37375" y="4832600"/>
            <a:ext cx="6198300" cy="0"/>
            <a:chOff x="2220050" y="1547100"/>
            <a:chExt cx="6198300" cy="0"/>
          </a:xfrm>
        </p:grpSpPr>
        <p:cxnSp>
          <p:nvCxnSpPr>
            <p:cNvPr id="227" name="Google Shape;227;p27"/>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28" name="Google Shape;228;p27"/>
            <p:cNvCxnSpPr/>
            <p:nvPr/>
          </p:nvCxnSpPr>
          <p:spPr>
            <a:xfrm>
              <a:off x="2684450" y="1547100"/>
              <a:ext cx="5733900" cy="0"/>
            </a:xfrm>
            <a:prstGeom prst="straightConnector1">
              <a:avLst/>
            </a:prstGeom>
            <a:noFill/>
            <a:ln cap="flat" cmpd="sng" w="9525">
              <a:solidFill>
                <a:schemeClr val="dk1"/>
              </a:solidFill>
              <a:prstDash val="solid"/>
              <a:round/>
              <a:headEnd len="sm" w="sm" type="none"/>
              <a:tailEnd len="sm" w="sm" type="none"/>
            </a:ln>
          </p:spPr>
        </p:cxnSp>
      </p:grpSp>
      <p:sp>
        <p:nvSpPr>
          <p:cNvPr id="229" name="Google Shape;229;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0" name="Shape 230"/>
        <p:cNvGrpSpPr/>
        <p:nvPr/>
      </p:nvGrpSpPr>
      <p:grpSpPr>
        <a:xfrm>
          <a:off x="0" y="0"/>
          <a:ext cx="0" cy="0"/>
          <a:chOff x="0" y="0"/>
          <a:chExt cx="0" cy="0"/>
        </a:xfrm>
      </p:grpSpPr>
      <p:sp>
        <p:nvSpPr>
          <p:cNvPr id="231" name="Google Shape;231;p28"/>
          <p:cNvSpPr txBox="1"/>
          <p:nvPr>
            <p:ph hasCustomPrompt="1" type="title"/>
          </p:nvPr>
        </p:nvSpPr>
        <p:spPr>
          <a:xfrm>
            <a:off x="3091725" y="1412738"/>
            <a:ext cx="5339100" cy="1089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solidFill>
                  <a:schemeClr val="dk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32" name="Google Shape;232;p28"/>
          <p:cNvSpPr txBox="1"/>
          <p:nvPr>
            <p:ph idx="1" type="subTitle"/>
          </p:nvPr>
        </p:nvSpPr>
        <p:spPr>
          <a:xfrm>
            <a:off x="3091725" y="3233663"/>
            <a:ext cx="53391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233" name="Google Shape;233;p28"/>
          <p:cNvSpPr/>
          <p:nvPr/>
        </p:nvSpPr>
        <p:spPr>
          <a:xfrm>
            <a:off x="0" y="0"/>
            <a:ext cx="266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4" name="Google Shape;234;p28"/>
          <p:cNvCxnSpPr/>
          <p:nvPr/>
        </p:nvCxnSpPr>
        <p:spPr>
          <a:xfrm>
            <a:off x="8820525" y="-35700"/>
            <a:ext cx="0" cy="5214900"/>
          </a:xfrm>
          <a:prstGeom prst="straightConnector1">
            <a:avLst/>
          </a:prstGeom>
          <a:noFill/>
          <a:ln cap="flat" cmpd="sng" w="9525">
            <a:solidFill>
              <a:schemeClr val="lt2"/>
            </a:solidFill>
            <a:prstDash val="solid"/>
            <a:round/>
            <a:headEnd len="sm" w="sm" type="none"/>
            <a:tailEnd len="sm" w="sm" type="none"/>
          </a:ln>
        </p:spPr>
      </p:cxnSp>
      <p:sp>
        <p:nvSpPr>
          <p:cNvPr id="235" name="Google Shape;235;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6" name="Shape 236"/>
        <p:cNvGrpSpPr/>
        <p:nvPr/>
      </p:nvGrpSpPr>
      <p:grpSpPr>
        <a:xfrm>
          <a:off x="0" y="0"/>
          <a:ext cx="0" cy="0"/>
          <a:chOff x="0" y="0"/>
          <a:chExt cx="0" cy="0"/>
        </a:xfrm>
      </p:grpSpPr>
      <p:sp>
        <p:nvSpPr>
          <p:cNvPr id="237" name="Google Shape;237;p29"/>
          <p:cNvSpPr/>
          <p:nvPr/>
        </p:nvSpPr>
        <p:spPr>
          <a:xfrm>
            <a:off x="6341100" y="0"/>
            <a:ext cx="280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8" name="Google Shape;238;p29"/>
          <p:cNvCxnSpPr/>
          <p:nvPr/>
        </p:nvCxnSpPr>
        <p:spPr>
          <a:xfrm>
            <a:off x="517944" y="-35700"/>
            <a:ext cx="0" cy="5214900"/>
          </a:xfrm>
          <a:prstGeom prst="straightConnector1">
            <a:avLst/>
          </a:prstGeom>
          <a:noFill/>
          <a:ln cap="flat" cmpd="sng" w="9525">
            <a:solidFill>
              <a:schemeClr val="lt2"/>
            </a:solidFill>
            <a:prstDash val="solid"/>
            <a:round/>
            <a:headEnd len="sm" w="sm" type="none"/>
            <a:tailEnd len="sm" w="sm" type="none"/>
          </a:ln>
        </p:spPr>
      </p:cxnSp>
      <p:sp>
        <p:nvSpPr>
          <p:cNvPr id="239" name="Google Shape;239;p29"/>
          <p:cNvSpPr txBox="1"/>
          <p:nvPr>
            <p:ph type="title"/>
          </p:nvPr>
        </p:nvSpPr>
        <p:spPr>
          <a:xfrm>
            <a:off x="713263" y="539500"/>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72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0" name="Google Shape;240;p29"/>
          <p:cNvSpPr txBox="1"/>
          <p:nvPr>
            <p:ph idx="1" type="subTitle"/>
          </p:nvPr>
        </p:nvSpPr>
        <p:spPr>
          <a:xfrm>
            <a:off x="713225" y="1628575"/>
            <a:ext cx="44481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sp>
        <p:nvSpPr>
          <p:cNvPr id="241" name="Google Shape;241;p29"/>
          <p:cNvSpPr txBox="1"/>
          <p:nvPr/>
        </p:nvSpPr>
        <p:spPr>
          <a:xfrm>
            <a:off x="713225" y="3528875"/>
            <a:ext cx="3765000" cy="66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CREDITS:</a:t>
            </a:r>
            <a:r>
              <a:rPr b="0" i="0" lang="en" sz="1000" u="none" cap="none" strike="noStrike">
                <a:solidFill>
                  <a:schemeClr val="dk1"/>
                </a:solidFill>
                <a:latin typeface="Poppins"/>
                <a:ea typeface="Poppins"/>
                <a:cs typeface="Poppins"/>
                <a:sym typeface="Poppins"/>
              </a:rPr>
              <a:t> This presentation template was created by </a:t>
            </a:r>
            <a:r>
              <a:rPr b="1" i="0" lang="en" sz="1000" u="sng" cap="none" strike="noStrike">
                <a:solidFill>
                  <a:schemeClr val="hlink"/>
                </a:solidFill>
                <a:latin typeface="Poppins"/>
                <a:ea typeface="Poppins"/>
                <a:cs typeface="Poppins"/>
                <a:sym typeface="Poppins"/>
                <a:hlinkClick r:id="rId2"/>
              </a:rPr>
              <a:t>Slidesgo</a:t>
            </a:r>
            <a:r>
              <a:rPr b="0" i="0" lang="en" sz="1000" u="none" cap="none" strike="noStrike">
                <a:solidFill>
                  <a:schemeClr val="dk1"/>
                </a:solidFill>
                <a:latin typeface="Poppins"/>
                <a:ea typeface="Poppins"/>
                <a:cs typeface="Poppins"/>
                <a:sym typeface="Poppins"/>
              </a:rPr>
              <a:t>, and includes icons by </a:t>
            </a:r>
            <a:r>
              <a:rPr b="1" i="0" lang="en" sz="1000" u="sng" cap="none" strike="noStrike">
                <a:solidFill>
                  <a:schemeClr val="hlink"/>
                </a:solidFill>
                <a:latin typeface="Poppins"/>
                <a:ea typeface="Poppins"/>
                <a:cs typeface="Poppins"/>
                <a:sym typeface="Poppins"/>
                <a:hlinkClick r:id="rId3"/>
              </a:rPr>
              <a:t>Flaticon</a:t>
            </a:r>
            <a:r>
              <a:rPr b="0" i="0" lang="en" sz="1000" u="none" cap="none" strike="noStrike">
                <a:solidFill>
                  <a:schemeClr val="dk1"/>
                </a:solidFill>
                <a:latin typeface="Poppins"/>
                <a:ea typeface="Poppins"/>
                <a:cs typeface="Poppins"/>
                <a:sym typeface="Poppins"/>
              </a:rPr>
              <a:t>, and infographics &amp; images by </a:t>
            </a:r>
            <a:r>
              <a:rPr b="1" i="0" lang="en" sz="1000" u="sng" cap="none" strike="noStrike">
                <a:solidFill>
                  <a:schemeClr val="hlink"/>
                </a:solidFill>
                <a:latin typeface="Poppins"/>
                <a:ea typeface="Poppins"/>
                <a:cs typeface="Poppins"/>
                <a:sym typeface="Poppins"/>
                <a:hlinkClick r:id="rId4"/>
              </a:rPr>
              <a:t>Freepik</a:t>
            </a:r>
            <a:r>
              <a:rPr b="0" i="0" lang="en" sz="1000" u="sng" cap="none" strike="noStrike">
                <a:solidFill>
                  <a:schemeClr val="dk1"/>
                </a:solidFill>
                <a:latin typeface="Poppins"/>
                <a:ea typeface="Poppins"/>
                <a:cs typeface="Poppins"/>
                <a:sym typeface="Poppins"/>
              </a:rPr>
              <a:t> </a:t>
            </a:r>
            <a:endParaRPr b="1" i="0" sz="1000" u="sng" cap="none" strike="noStrike">
              <a:solidFill>
                <a:schemeClr val="dk1"/>
              </a:solidFill>
              <a:latin typeface="Poppins"/>
              <a:ea typeface="Poppins"/>
              <a:cs typeface="Poppins"/>
              <a:sym typeface="Poppins"/>
            </a:endParaRPr>
          </a:p>
        </p:txBody>
      </p:sp>
      <p:sp>
        <p:nvSpPr>
          <p:cNvPr id="242" name="Google Shape;242;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_1_1">
    <p:spTree>
      <p:nvGrpSpPr>
        <p:cNvPr id="243" name="Shape 243"/>
        <p:cNvGrpSpPr/>
        <p:nvPr/>
      </p:nvGrpSpPr>
      <p:grpSpPr>
        <a:xfrm>
          <a:off x="0" y="0"/>
          <a:ext cx="0" cy="0"/>
          <a:chOff x="0" y="0"/>
          <a:chExt cx="0" cy="0"/>
        </a:xfrm>
      </p:grpSpPr>
      <p:sp>
        <p:nvSpPr>
          <p:cNvPr id="244" name="Google Shape;244;p30"/>
          <p:cNvSpPr txBox="1"/>
          <p:nvPr>
            <p:ph type="title"/>
          </p:nvPr>
        </p:nvSpPr>
        <p:spPr>
          <a:xfrm>
            <a:off x="713250" y="445025"/>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5" name="Google Shape;245;p30"/>
          <p:cNvSpPr txBox="1"/>
          <p:nvPr>
            <p:ph idx="1" type="body"/>
          </p:nvPr>
        </p:nvSpPr>
        <p:spPr>
          <a:xfrm>
            <a:off x="713250" y="1017725"/>
            <a:ext cx="7717500" cy="3783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120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246" name="Google Shape;246;p30"/>
          <p:cNvSpPr/>
          <p:nvPr/>
        </p:nvSpPr>
        <p:spPr>
          <a:xfrm>
            <a:off x="0" y="0"/>
            <a:ext cx="1875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7" name="Google Shape;247;p30"/>
          <p:cNvCxnSpPr/>
          <p:nvPr/>
        </p:nvCxnSpPr>
        <p:spPr>
          <a:xfrm>
            <a:off x="82671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48" name="Google Shape;248;p30"/>
          <p:cNvGrpSpPr/>
          <p:nvPr/>
        </p:nvGrpSpPr>
        <p:grpSpPr>
          <a:xfrm>
            <a:off x="448300" y="4854275"/>
            <a:ext cx="8817600" cy="0"/>
            <a:chOff x="2220050" y="1547100"/>
            <a:chExt cx="8817600" cy="0"/>
          </a:xfrm>
        </p:grpSpPr>
        <p:cxnSp>
          <p:nvCxnSpPr>
            <p:cNvPr id="249" name="Google Shape;249;p3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50" name="Google Shape;250;p30"/>
            <p:cNvCxnSpPr/>
            <p:nvPr/>
          </p:nvCxnSpPr>
          <p:spPr>
            <a:xfrm>
              <a:off x="2684450" y="1547100"/>
              <a:ext cx="8353200" cy="0"/>
            </a:xfrm>
            <a:prstGeom prst="straightConnector1">
              <a:avLst/>
            </a:prstGeom>
            <a:noFill/>
            <a:ln cap="flat" cmpd="sng" w="9525">
              <a:solidFill>
                <a:schemeClr val="dk1"/>
              </a:solidFill>
              <a:prstDash val="solid"/>
              <a:round/>
              <a:headEnd len="sm" w="sm" type="none"/>
              <a:tailEnd len="sm" w="sm" type="none"/>
            </a:ln>
          </p:spPr>
        </p:cxnSp>
      </p:grpSp>
      <p:sp>
        <p:nvSpPr>
          <p:cNvPr id="251" name="Google Shape;25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2" name="Shape 252"/>
        <p:cNvGrpSpPr/>
        <p:nvPr/>
      </p:nvGrpSpPr>
      <p:grpSpPr>
        <a:xfrm>
          <a:off x="0" y="0"/>
          <a:ext cx="0" cy="0"/>
          <a:chOff x="0" y="0"/>
          <a:chExt cx="0" cy="0"/>
        </a:xfrm>
      </p:grpSpPr>
      <p:sp>
        <p:nvSpPr>
          <p:cNvPr id="253" name="Google Shape;253;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54" name="Google Shape;254;p31"/>
          <p:cNvSpPr txBox="1"/>
          <p:nvPr>
            <p:ph idx="1" type="body"/>
          </p:nvPr>
        </p:nvSpPr>
        <p:spPr>
          <a:xfrm>
            <a:off x="720000" y="1017725"/>
            <a:ext cx="7704000" cy="3586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2"/>
              </a:buClr>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255" name="Google Shape;255;p31"/>
          <p:cNvSpPr/>
          <p:nvPr/>
        </p:nvSpPr>
        <p:spPr>
          <a:xfrm>
            <a:off x="8844200" y="0"/>
            <a:ext cx="300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6" name="Google Shape;256;p31"/>
          <p:cNvCxnSpPr/>
          <p:nvPr/>
        </p:nvCxnSpPr>
        <p:spPr>
          <a:xfrm>
            <a:off x="20879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57" name="Google Shape;257;p31"/>
          <p:cNvGrpSpPr/>
          <p:nvPr/>
        </p:nvGrpSpPr>
        <p:grpSpPr>
          <a:xfrm flipH="1">
            <a:off x="-56275" y="4604000"/>
            <a:ext cx="8175300" cy="0"/>
            <a:chOff x="2220050" y="1547100"/>
            <a:chExt cx="8175300" cy="0"/>
          </a:xfrm>
        </p:grpSpPr>
        <p:cxnSp>
          <p:nvCxnSpPr>
            <p:cNvPr id="258" name="Google Shape;258;p3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59" name="Google Shape;259;p31"/>
            <p:cNvCxnSpPr/>
            <p:nvPr/>
          </p:nvCxnSpPr>
          <p:spPr>
            <a:xfrm>
              <a:off x="2684450" y="1547100"/>
              <a:ext cx="7710900" cy="0"/>
            </a:xfrm>
            <a:prstGeom prst="straightConnector1">
              <a:avLst/>
            </a:prstGeom>
            <a:noFill/>
            <a:ln cap="flat" cmpd="sng" w="9525">
              <a:solidFill>
                <a:schemeClr val="dk1"/>
              </a:solidFill>
              <a:prstDash val="solid"/>
              <a:round/>
              <a:headEnd len="sm" w="sm" type="none"/>
              <a:tailEnd len="sm" w="sm" type="none"/>
            </a:ln>
          </p:spPr>
        </p:cxnSp>
      </p:grpSp>
      <p:sp>
        <p:nvSpPr>
          <p:cNvPr id="260" name="Google Shape;260;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1" name="Shape 261"/>
        <p:cNvGrpSpPr/>
        <p:nvPr/>
      </p:nvGrpSpPr>
      <p:grpSpPr>
        <a:xfrm>
          <a:off x="0" y="0"/>
          <a:ext cx="0" cy="0"/>
          <a:chOff x="0" y="0"/>
          <a:chExt cx="0" cy="0"/>
        </a:xfrm>
      </p:grpSpPr>
      <p:sp>
        <p:nvSpPr>
          <p:cNvPr id="262" name="Google Shape;262;p32"/>
          <p:cNvSpPr txBox="1"/>
          <p:nvPr>
            <p:ph type="title"/>
          </p:nvPr>
        </p:nvSpPr>
        <p:spPr>
          <a:xfrm>
            <a:off x="3454075" y="1307100"/>
            <a:ext cx="4508100" cy="2529300"/>
          </a:xfrm>
          <a:prstGeom prst="rect">
            <a:avLst/>
          </a:prstGeom>
          <a:noFill/>
          <a:ln>
            <a:noFill/>
          </a:ln>
        </p:spPr>
        <p:txBody>
          <a:bodyPr anchorCtr="0" anchor="ctr" bIns="91425" lIns="91425" spcFirstLastPara="1" rIns="91425" wrap="square" tIns="91425">
            <a:noAutofit/>
          </a:bodyPr>
          <a:lstStyle>
            <a:lvl1pPr lvl="0" algn="l">
              <a:lnSpc>
                <a:spcPct val="8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63" name="Google Shape;263;p32"/>
          <p:cNvSpPr/>
          <p:nvPr/>
        </p:nvSpPr>
        <p:spPr>
          <a:xfrm>
            <a:off x="0" y="0"/>
            <a:ext cx="2660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4" name="Google Shape;264;p32"/>
          <p:cNvCxnSpPr/>
          <p:nvPr/>
        </p:nvCxnSpPr>
        <p:spPr>
          <a:xfrm>
            <a:off x="843077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65" name="Google Shape;265;p32"/>
          <p:cNvGrpSpPr/>
          <p:nvPr/>
        </p:nvGrpSpPr>
        <p:grpSpPr>
          <a:xfrm>
            <a:off x="3230850" y="4760600"/>
            <a:ext cx="6025500" cy="0"/>
            <a:chOff x="2220050" y="1547100"/>
            <a:chExt cx="6025500" cy="0"/>
          </a:xfrm>
        </p:grpSpPr>
        <p:cxnSp>
          <p:nvCxnSpPr>
            <p:cNvPr id="266" name="Google Shape;266;p32"/>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67" name="Google Shape;267;p32"/>
            <p:cNvCxnSpPr/>
            <p:nvPr/>
          </p:nvCxnSpPr>
          <p:spPr>
            <a:xfrm>
              <a:off x="2684450" y="1547100"/>
              <a:ext cx="5561100" cy="0"/>
            </a:xfrm>
            <a:prstGeom prst="straightConnector1">
              <a:avLst/>
            </a:prstGeom>
            <a:noFill/>
            <a:ln cap="flat" cmpd="sng" w="9525">
              <a:solidFill>
                <a:schemeClr val="dk1"/>
              </a:solidFill>
              <a:prstDash val="solid"/>
              <a:round/>
              <a:headEnd len="sm" w="sm" type="none"/>
              <a:tailEnd len="sm" w="sm" type="none"/>
            </a:ln>
          </p:spPr>
        </p:cxnSp>
      </p:grpSp>
      <p:sp>
        <p:nvSpPr>
          <p:cNvPr id="268" name="Google Shape;268;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9" name="Shape 269"/>
        <p:cNvGrpSpPr/>
        <p:nvPr/>
      </p:nvGrpSpPr>
      <p:grpSpPr>
        <a:xfrm>
          <a:off x="0" y="0"/>
          <a:ext cx="0" cy="0"/>
          <a:chOff x="0" y="0"/>
          <a:chExt cx="0" cy="0"/>
        </a:xfrm>
      </p:grpSpPr>
      <p:sp>
        <p:nvSpPr>
          <p:cNvPr id="270" name="Google Shape;270;p33"/>
          <p:cNvSpPr/>
          <p:nvPr/>
        </p:nvSpPr>
        <p:spPr>
          <a:xfrm>
            <a:off x="5555725" y="0"/>
            <a:ext cx="3588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3"/>
          <p:cNvSpPr txBox="1"/>
          <p:nvPr>
            <p:ph type="title"/>
          </p:nvPr>
        </p:nvSpPr>
        <p:spPr>
          <a:xfrm>
            <a:off x="713225" y="1254000"/>
            <a:ext cx="4158600" cy="196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72" name="Google Shape;272;p33"/>
          <p:cNvSpPr txBox="1"/>
          <p:nvPr>
            <p:ph idx="1" type="subTitle"/>
          </p:nvPr>
        </p:nvSpPr>
        <p:spPr>
          <a:xfrm>
            <a:off x="713225" y="3218400"/>
            <a:ext cx="41586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1600"/>
              </a:spcBef>
              <a:spcAft>
                <a:spcPts val="0"/>
              </a:spcAft>
              <a:buSzPts val="1200"/>
              <a:buNone/>
              <a:defRPr/>
            </a:lvl3pPr>
            <a:lvl4pPr lvl="3" algn="ctr">
              <a:lnSpc>
                <a:spcPct val="100000"/>
              </a:lnSpc>
              <a:spcBef>
                <a:spcPts val="1600"/>
              </a:spcBef>
              <a:spcAft>
                <a:spcPts val="0"/>
              </a:spcAft>
              <a:buSzPts val="1200"/>
              <a:buNone/>
              <a:defRPr/>
            </a:lvl4pPr>
            <a:lvl5pPr lvl="4" algn="ctr">
              <a:lnSpc>
                <a:spcPct val="100000"/>
              </a:lnSpc>
              <a:spcBef>
                <a:spcPts val="1600"/>
              </a:spcBef>
              <a:spcAft>
                <a:spcPts val="0"/>
              </a:spcAft>
              <a:buSzPts val="1200"/>
              <a:buNone/>
              <a:defRPr/>
            </a:lvl5pPr>
            <a:lvl6pPr lvl="5" algn="ctr">
              <a:lnSpc>
                <a:spcPct val="100000"/>
              </a:lnSpc>
              <a:spcBef>
                <a:spcPts val="1600"/>
              </a:spcBef>
              <a:spcAft>
                <a:spcPts val="0"/>
              </a:spcAft>
              <a:buSzPts val="1200"/>
              <a:buNone/>
              <a:defRPr/>
            </a:lvl6pPr>
            <a:lvl7pPr lvl="6" algn="ctr">
              <a:lnSpc>
                <a:spcPct val="100000"/>
              </a:lnSpc>
              <a:spcBef>
                <a:spcPts val="1600"/>
              </a:spcBef>
              <a:spcAft>
                <a:spcPts val="0"/>
              </a:spcAft>
              <a:buSzPts val="1200"/>
              <a:buNone/>
              <a:defRPr/>
            </a:lvl7pPr>
            <a:lvl8pPr lvl="7" algn="ctr">
              <a:lnSpc>
                <a:spcPct val="100000"/>
              </a:lnSpc>
              <a:spcBef>
                <a:spcPts val="1600"/>
              </a:spcBef>
              <a:spcAft>
                <a:spcPts val="0"/>
              </a:spcAft>
              <a:buSzPts val="1200"/>
              <a:buNone/>
              <a:defRPr/>
            </a:lvl8pPr>
            <a:lvl9pPr lvl="8" algn="ctr">
              <a:lnSpc>
                <a:spcPct val="100000"/>
              </a:lnSpc>
              <a:spcBef>
                <a:spcPts val="1600"/>
              </a:spcBef>
              <a:spcAft>
                <a:spcPts val="1600"/>
              </a:spcAft>
              <a:buSzPts val="1200"/>
              <a:buNone/>
              <a:defRPr/>
            </a:lvl9pPr>
          </a:lstStyle>
          <a:p/>
        </p:txBody>
      </p:sp>
      <p:cxnSp>
        <p:nvCxnSpPr>
          <p:cNvPr id="273" name="Google Shape;273;p33"/>
          <p:cNvCxnSpPr/>
          <p:nvPr/>
        </p:nvCxnSpPr>
        <p:spPr>
          <a:xfrm>
            <a:off x="517944"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74" name="Google Shape;274;p33"/>
          <p:cNvGrpSpPr/>
          <p:nvPr/>
        </p:nvGrpSpPr>
        <p:grpSpPr>
          <a:xfrm flipH="1">
            <a:off x="-93775" y="4604000"/>
            <a:ext cx="4197300" cy="0"/>
            <a:chOff x="2220050" y="1547100"/>
            <a:chExt cx="4197300" cy="0"/>
          </a:xfrm>
        </p:grpSpPr>
        <p:cxnSp>
          <p:nvCxnSpPr>
            <p:cNvPr id="275" name="Google Shape;275;p3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76" name="Google Shape;276;p33"/>
            <p:cNvCxnSpPr/>
            <p:nvPr/>
          </p:nvCxnSpPr>
          <p:spPr>
            <a:xfrm>
              <a:off x="2684450" y="1547100"/>
              <a:ext cx="3732900" cy="0"/>
            </a:xfrm>
            <a:prstGeom prst="straightConnector1">
              <a:avLst/>
            </a:prstGeom>
            <a:noFill/>
            <a:ln cap="flat" cmpd="sng" w="9525">
              <a:solidFill>
                <a:schemeClr val="dk1"/>
              </a:solidFill>
              <a:prstDash val="solid"/>
              <a:round/>
              <a:headEnd len="sm" w="sm" type="none"/>
              <a:tailEnd len="sm" w="sm" type="none"/>
            </a:ln>
          </p:spPr>
        </p:cxnSp>
      </p:grpSp>
      <p:sp>
        <p:nvSpPr>
          <p:cNvPr id="277" name="Google Shape;277;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78" name="Shape 278"/>
        <p:cNvGrpSpPr/>
        <p:nvPr/>
      </p:nvGrpSpPr>
      <p:grpSpPr>
        <a:xfrm>
          <a:off x="0" y="0"/>
          <a:ext cx="0" cy="0"/>
          <a:chOff x="0" y="0"/>
          <a:chExt cx="0" cy="0"/>
        </a:xfrm>
      </p:grpSpPr>
      <p:sp>
        <p:nvSpPr>
          <p:cNvPr id="279" name="Google Shape;279;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80" name="Shape 280"/>
        <p:cNvGrpSpPr/>
        <p:nvPr/>
      </p:nvGrpSpPr>
      <p:grpSpPr>
        <a:xfrm>
          <a:off x="0" y="0"/>
          <a:ext cx="0" cy="0"/>
          <a:chOff x="0" y="0"/>
          <a:chExt cx="0" cy="0"/>
        </a:xfrm>
      </p:grpSpPr>
      <p:sp>
        <p:nvSpPr>
          <p:cNvPr id="281" name="Google Shape;281;p35"/>
          <p:cNvSpPr/>
          <p:nvPr/>
        </p:nvSpPr>
        <p:spPr>
          <a:xfrm>
            <a:off x="6501975" y="0"/>
            <a:ext cx="26421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2" name="Google Shape;282;p35"/>
          <p:cNvCxnSpPr/>
          <p:nvPr/>
        </p:nvCxnSpPr>
        <p:spPr>
          <a:xfrm>
            <a:off x="479225"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83" name="Google Shape;283;p35"/>
          <p:cNvGrpSpPr/>
          <p:nvPr/>
        </p:nvGrpSpPr>
        <p:grpSpPr>
          <a:xfrm flipH="1">
            <a:off x="-131100" y="313050"/>
            <a:ext cx="6464400" cy="0"/>
            <a:chOff x="2220050" y="1547100"/>
            <a:chExt cx="6464400" cy="0"/>
          </a:xfrm>
        </p:grpSpPr>
        <p:cxnSp>
          <p:nvCxnSpPr>
            <p:cNvPr id="284" name="Google Shape;284;p3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85" name="Google Shape;285;p35"/>
            <p:cNvCxnSpPr/>
            <p:nvPr/>
          </p:nvCxnSpPr>
          <p:spPr>
            <a:xfrm>
              <a:off x="2684450" y="1547100"/>
              <a:ext cx="6000000" cy="0"/>
            </a:xfrm>
            <a:prstGeom prst="straightConnector1">
              <a:avLst/>
            </a:prstGeom>
            <a:noFill/>
            <a:ln cap="flat" cmpd="sng" w="9525">
              <a:solidFill>
                <a:schemeClr val="dk1"/>
              </a:solidFill>
              <a:prstDash val="solid"/>
              <a:round/>
              <a:headEnd len="sm" w="sm" type="none"/>
              <a:tailEnd len="sm" w="sm" type="none"/>
            </a:ln>
          </p:spPr>
        </p:cxnSp>
      </p:grpSp>
      <p:sp>
        <p:nvSpPr>
          <p:cNvPr id="286" name="Google Shape;286;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7" name="Shape 287"/>
        <p:cNvGrpSpPr/>
        <p:nvPr/>
      </p:nvGrpSpPr>
      <p:grpSpPr>
        <a:xfrm>
          <a:off x="0" y="0"/>
          <a:ext cx="0" cy="0"/>
          <a:chOff x="0" y="0"/>
          <a:chExt cx="0" cy="0"/>
        </a:xfrm>
      </p:grpSpPr>
      <p:sp>
        <p:nvSpPr>
          <p:cNvPr id="288" name="Google Shape;288;p36"/>
          <p:cNvSpPr/>
          <p:nvPr/>
        </p:nvSpPr>
        <p:spPr>
          <a:xfrm flipH="1">
            <a:off x="-18775" y="-35700"/>
            <a:ext cx="1368000" cy="51792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9" name="Google Shape;289;p36"/>
          <p:cNvCxnSpPr/>
          <p:nvPr/>
        </p:nvCxnSpPr>
        <p:spPr>
          <a:xfrm>
            <a:off x="8430781" y="-35700"/>
            <a:ext cx="0" cy="5214900"/>
          </a:xfrm>
          <a:prstGeom prst="straightConnector1">
            <a:avLst/>
          </a:prstGeom>
          <a:noFill/>
          <a:ln cap="flat" cmpd="sng" w="9525">
            <a:solidFill>
              <a:schemeClr val="lt2"/>
            </a:solidFill>
            <a:prstDash val="solid"/>
            <a:round/>
            <a:headEnd len="sm" w="sm" type="none"/>
            <a:tailEnd len="sm" w="sm" type="none"/>
          </a:ln>
        </p:spPr>
      </p:cxnSp>
      <p:grpSp>
        <p:nvGrpSpPr>
          <p:cNvPr id="290" name="Google Shape;290;p36"/>
          <p:cNvGrpSpPr/>
          <p:nvPr/>
        </p:nvGrpSpPr>
        <p:grpSpPr>
          <a:xfrm>
            <a:off x="1798975" y="266225"/>
            <a:ext cx="7429500" cy="0"/>
            <a:chOff x="2220050" y="1547100"/>
            <a:chExt cx="7429500" cy="0"/>
          </a:xfrm>
        </p:grpSpPr>
        <p:cxnSp>
          <p:nvCxnSpPr>
            <p:cNvPr id="291" name="Google Shape;291;p3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292" name="Google Shape;292;p36"/>
            <p:cNvCxnSpPr/>
            <p:nvPr/>
          </p:nvCxnSpPr>
          <p:spPr>
            <a:xfrm>
              <a:off x="2684450" y="1547100"/>
              <a:ext cx="6965100" cy="0"/>
            </a:xfrm>
            <a:prstGeom prst="straightConnector1">
              <a:avLst/>
            </a:prstGeom>
            <a:noFill/>
            <a:ln cap="flat" cmpd="sng" w="9525">
              <a:solidFill>
                <a:schemeClr val="dk1"/>
              </a:solidFill>
              <a:prstDash val="solid"/>
              <a:round/>
              <a:headEnd len="sm" w="sm" type="none"/>
              <a:tailEnd len="sm" w="sm" type="none"/>
            </a:ln>
          </p:spPr>
        </p:cxnSp>
      </p:grpSp>
      <p:sp>
        <p:nvSpPr>
          <p:cNvPr id="293" name="Google Shape;293;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24" Type="http://schemas.openxmlformats.org/officeDocument/2006/relationships/theme" Target="../theme/theme3.xml"/><Relationship Id="rId12" Type="http://schemas.openxmlformats.org/officeDocument/2006/relationships/slideLayout" Target="../slideLayouts/slideLayout23.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1" name="Shape 81"/>
        <p:cNvGrpSpPr/>
        <p:nvPr/>
      </p:nvGrpSpPr>
      <p:grpSpPr>
        <a:xfrm>
          <a:off x="0" y="0"/>
          <a:ext cx="0" cy="0"/>
          <a:chOff x="0" y="0"/>
          <a:chExt cx="0" cy="0"/>
        </a:xfrm>
      </p:grpSpPr>
      <p:sp>
        <p:nvSpPr>
          <p:cNvPr id="82" name="Google Shape;82;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oppins"/>
              <a:buNone/>
              <a:defRPr b="1" i="0" sz="2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9pPr>
          </a:lstStyle>
          <a:p/>
        </p:txBody>
      </p:sp>
      <p:sp>
        <p:nvSpPr>
          <p:cNvPr id="83" name="Google Shape;83;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1pPr>
            <a:lvl2pPr indent="-304800" lvl="1" marL="9144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2pPr>
            <a:lvl3pPr indent="-304800" lvl="2" marL="13716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3pPr>
            <a:lvl4pPr indent="-304800" lvl="3" marL="18288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4pPr>
            <a:lvl5pPr indent="-304800" lvl="4" marL="22860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5pPr>
            <a:lvl6pPr indent="-304800" lvl="5" marL="27432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6pPr>
            <a:lvl7pPr indent="-304800" lvl="6" marL="32004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7pPr>
            <a:lvl8pPr indent="-304800" lvl="7" marL="3657600" marR="0" rtl="0" algn="l">
              <a:lnSpc>
                <a:spcPct val="100000"/>
              </a:lnSpc>
              <a:spcBef>
                <a:spcPts val="1600"/>
              </a:spcBef>
              <a:spcAft>
                <a:spcPts val="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8pPr>
            <a:lvl9pPr indent="-304800" lvl="8" marL="4114800" marR="0" rtl="0" algn="l">
              <a:lnSpc>
                <a:spcPct val="100000"/>
              </a:lnSpc>
              <a:spcBef>
                <a:spcPts val="1600"/>
              </a:spcBef>
              <a:spcAft>
                <a:spcPts val="1600"/>
              </a:spcAft>
              <a:buClr>
                <a:schemeClr val="dk1"/>
              </a:buClr>
              <a:buSzPts val="1200"/>
              <a:buFont typeface="Poppins"/>
              <a:buChar char="■"/>
              <a:defRPr b="0" i="0" sz="1200" u="none" cap="none" strike="noStrike">
                <a:solidFill>
                  <a:schemeClr val="dk1"/>
                </a:solidFill>
                <a:latin typeface="Poppins"/>
                <a:ea typeface="Poppins"/>
                <a:cs typeface="Poppins"/>
                <a:sym typeface="Poppins"/>
              </a:defRPr>
            </a:lvl9pPr>
          </a:lstStyle>
          <a:p/>
        </p:txBody>
      </p:sp>
      <p:sp>
        <p:nvSpPr>
          <p:cNvPr id="84" name="Google Shape;84;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Poppins"/>
                <a:ea typeface="Poppins"/>
                <a:cs typeface="Poppins"/>
                <a:sym typeface="Poppins"/>
              </a:defRPr>
            </a:lvl1pPr>
            <a:lvl2pPr lvl="1" algn="r">
              <a:buNone/>
              <a:defRPr sz="1300">
                <a:solidFill>
                  <a:schemeClr val="dk1"/>
                </a:solidFill>
                <a:latin typeface="Poppins"/>
                <a:ea typeface="Poppins"/>
                <a:cs typeface="Poppins"/>
                <a:sym typeface="Poppins"/>
              </a:defRPr>
            </a:lvl2pPr>
            <a:lvl3pPr lvl="2" algn="r">
              <a:buNone/>
              <a:defRPr sz="1300">
                <a:solidFill>
                  <a:schemeClr val="dk1"/>
                </a:solidFill>
                <a:latin typeface="Poppins"/>
                <a:ea typeface="Poppins"/>
                <a:cs typeface="Poppins"/>
                <a:sym typeface="Poppins"/>
              </a:defRPr>
            </a:lvl3pPr>
            <a:lvl4pPr lvl="3" algn="r">
              <a:buNone/>
              <a:defRPr sz="1300">
                <a:solidFill>
                  <a:schemeClr val="dk1"/>
                </a:solidFill>
                <a:latin typeface="Poppins"/>
                <a:ea typeface="Poppins"/>
                <a:cs typeface="Poppins"/>
                <a:sym typeface="Poppins"/>
              </a:defRPr>
            </a:lvl4pPr>
            <a:lvl5pPr lvl="4" algn="r">
              <a:buNone/>
              <a:defRPr sz="1300">
                <a:solidFill>
                  <a:schemeClr val="dk1"/>
                </a:solidFill>
                <a:latin typeface="Poppins"/>
                <a:ea typeface="Poppins"/>
                <a:cs typeface="Poppins"/>
                <a:sym typeface="Poppins"/>
              </a:defRPr>
            </a:lvl5pPr>
            <a:lvl6pPr lvl="5" algn="r">
              <a:buNone/>
              <a:defRPr sz="1300">
                <a:solidFill>
                  <a:schemeClr val="dk1"/>
                </a:solidFill>
                <a:latin typeface="Poppins"/>
                <a:ea typeface="Poppins"/>
                <a:cs typeface="Poppins"/>
                <a:sym typeface="Poppins"/>
              </a:defRPr>
            </a:lvl6pPr>
            <a:lvl7pPr lvl="6" algn="r">
              <a:buNone/>
              <a:defRPr sz="1300">
                <a:solidFill>
                  <a:schemeClr val="dk1"/>
                </a:solidFill>
                <a:latin typeface="Poppins"/>
                <a:ea typeface="Poppins"/>
                <a:cs typeface="Poppins"/>
                <a:sym typeface="Poppins"/>
              </a:defRPr>
            </a:lvl7pPr>
            <a:lvl8pPr lvl="7" algn="r">
              <a:buNone/>
              <a:defRPr sz="1300">
                <a:solidFill>
                  <a:schemeClr val="dk1"/>
                </a:solidFill>
                <a:latin typeface="Poppins"/>
                <a:ea typeface="Poppins"/>
                <a:cs typeface="Poppins"/>
                <a:sym typeface="Poppins"/>
              </a:defRPr>
            </a:lvl8pPr>
            <a:lvl9pPr lvl="8" algn="r">
              <a:buNone/>
              <a:defRPr sz="13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hyperlink" Target="https://en.wikipedia.org/wiki/Advanced_Encryption_Standard" TargetMode="Externa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p:nvPr/>
        </p:nvSpPr>
        <p:spPr>
          <a:xfrm>
            <a:off x="1751250" y="1590475"/>
            <a:ext cx="6314100" cy="1114200"/>
          </a:xfrm>
          <a:prstGeom prst="roundRect">
            <a:avLst>
              <a:gd fmla="val 16667" name="adj"/>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7"/>
          <p:cNvSpPr txBox="1"/>
          <p:nvPr/>
        </p:nvSpPr>
        <p:spPr>
          <a:xfrm>
            <a:off x="1194475" y="85000"/>
            <a:ext cx="7532400" cy="655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i="1" lang="en" sz="2500">
                <a:solidFill>
                  <a:srgbClr val="FFFFFF"/>
                </a:solidFill>
              </a:rPr>
              <a:t>BHILAI INSTITUTE OF TECHNOLOGY</a:t>
            </a:r>
            <a:r>
              <a:rPr b="1" i="1" lang="en" sz="2900">
                <a:solidFill>
                  <a:srgbClr val="FFFFFF"/>
                </a:solidFill>
              </a:rPr>
              <a:t>, </a:t>
            </a:r>
            <a:r>
              <a:rPr b="1" i="1" lang="en" sz="2500">
                <a:solidFill>
                  <a:srgbClr val="FFFFFF"/>
                </a:solidFill>
              </a:rPr>
              <a:t>RAIPUR</a:t>
            </a:r>
            <a:endParaRPr b="1" i="1" sz="2500">
              <a:solidFill>
                <a:srgbClr val="FFFFFF"/>
              </a:solidFill>
            </a:endParaRPr>
          </a:p>
        </p:txBody>
      </p:sp>
      <p:pic>
        <p:nvPicPr>
          <p:cNvPr id="300" name="Google Shape;300;p37"/>
          <p:cNvPicPr preferRelativeResize="0"/>
          <p:nvPr/>
        </p:nvPicPr>
        <p:blipFill>
          <a:blip r:embed="rId3">
            <a:alphaModFix/>
          </a:blip>
          <a:stretch>
            <a:fillRect/>
          </a:stretch>
        </p:blipFill>
        <p:spPr>
          <a:xfrm>
            <a:off x="136725" y="129925"/>
            <a:ext cx="1012825" cy="1012825"/>
          </a:xfrm>
          <a:prstGeom prst="rect">
            <a:avLst/>
          </a:prstGeom>
          <a:noFill/>
          <a:ln>
            <a:noFill/>
          </a:ln>
        </p:spPr>
      </p:pic>
      <p:sp>
        <p:nvSpPr>
          <p:cNvPr id="301" name="Google Shape;301;p37"/>
          <p:cNvSpPr txBox="1"/>
          <p:nvPr/>
        </p:nvSpPr>
        <p:spPr>
          <a:xfrm>
            <a:off x="348800" y="326187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FFFF"/>
                </a:solidFill>
                <a:latin typeface="Times New Roman"/>
                <a:ea typeface="Times New Roman"/>
                <a:cs typeface="Times New Roman"/>
                <a:sym typeface="Times New Roman"/>
              </a:rPr>
              <a:t>Faculty Incharge-</a:t>
            </a:r>
            <a:endParaRPr b="1"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b="1" lang="en" sz="1600">
                <a:solidFill>
                  <a:srgbClr val="FFFFFF"/>
                </a:solidFill>
                <a:latin typeface="Times New Roman"/>
                <a:ea typeface="Times New Roman"/>
                <a:cs typeface="Times New Roman"/>
                <a:sym typeface="Times New Roman"/>
              </a:rPr>
              <a:t>Prof. Lalita Panika</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b="1" lang="en" sz="1600">
                <a:solidFill>
                  <a:srgbClr val="FFFFFF"/>
                </a:solidFill>
                <a:latin typeface="Times New Roman"/>
                <a:ea typeface="Times New Roman"/>
                <a:cs typeface="Times New Roman"/>
                <a:sym typeface="Times New Roman"/>
              </a:rPr>
              <a:t>Assistant Professor </a:t>
            </a:r>
            <a:endParaRPr b="1"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rPr b="1" lang="en" sz="1600">
                <a:solidFill>
                  <a:srgbClr val="FFFFFF"/>
                </a:solidFill>
                <a:latin typeface="Times New Roman"/>
                <a:ea typeface="Times New Roman"/>
                <a:cs typeface="Times New Roman"/>
                <a:sym typeface="Times New Roman"/>
              </a:rPr>
              <a:t>CSE Department.</a:t>
            </a:r>
            <a:endParaRPr b="1" sz="1600">
              <a:solidFill>
                <a:srgbClr val="FFFFFF"/>
              </a:solidFill>
              <a:latin typeface="Times New Roman"/>
              <a:ea typeface="Times New Roman"/>
              <a:cs typeface="Times New Roman"/>
              <a:sym typeface="Times New Roman"/>
            </a:endParaRPr>
          </a:p>
        </p:txBody>
      </p:sp>
      <p:sp>
        <p:nvSpPr>
          <p:cNvPr id="302" name="Google Shape;302;p37"/>
          <p:cNvSpPr txBox="1"/>
          <p:nvPr/>
        </p:nvSpPr>
        <p:spPr>
          <a:xfrm>
            <a:off x="4572000" y="3261875"/>
            <a:ext cx="4586400" cy="1536000"/>
          </a:xfrm>
          <a:prstGeom prst="rect">
            <a:avLst/>
          </a:prstGeom>
          <a:noFill/>
          <a:ln>
            <a:noFill/>
          </a:ln>
        </p:spPr>
        <p:txBody>
          <a:bodyPr anchorCtr="0" anchor="t" bIns="91425" lIns="91425" spcFirstLastPara="1" rIns="91425" wrap="square" tIns="91425">
            <a:noAutofit/>
          </a:bodyPr>
          <a:lstStyle/>
          <a:p>
            <a:pPr indent="0" lvl="0" marL="0" rtl="0" algn="just">
              <a:lnSpc>
                <a:spcPct val="80000"/>
              </a:lnSpc>
              <a:spcBef>
                <a:spcPts val="0"/>
              </a:spcBef>
              <a:spcAft>
                <a:spcPts val="0"/>
              </a:spcAft>
              <a:buSzPts val="688"/>
              <a:buNone/>
            </a:pPr>
            <a:r>
              <a:rPr b="1" lang="en" sz="1852">
                <a:solidFill>
                  <a:srgbClr val="FFFFFF"/>
                </a:solidFill>
                <a:latin typeface="Times New Roman"/>
                <a:ea typeface="Times New Roman"/>
                <a:cs typeface="Times New Roman"/>
                <a:sym typeface="Times New Roman"/>
              </a:rPr>
              <a:t>Presented by </a:t>
            </a:r>
            <a:r>
              <a:rPr b="1" lang="en" sz="1852" u="sng">
                <a:solidFill>
                  <a:srgbClr val="FFFFFF"/>
                </a:solidFill>
                <a:latin typeface="Times New Roman"/>
                <a:ea typeface="Times New Roman"/>
                <a:cs typeface="Times New Roman"/>
                <a:sym typeface="Times New Roman"/>
              </a:rPr>
              <a:t>7</a:t>
            </a:r>
            <a:r>
              <a:rPr b="1" lang="en" sz="1852" u="sng">
                <a:solidFill>
                  <a:srgbClr val="FFFFFF"/>
                </a:solidFill>
                <a:latin typeface="Times New Roman"/>
                <a:ea typeface="Times New Roman"/>
                <a:cs typeface="Times New Roman"/>
                <a:sym typeface="Times New Roman"/>
              </a:rPr>
              <a:t>th semester</a:t>
            </a:r>
            <a:r>
              <a:rPr b="1" lang="en" sz="1852">
                <a:solidFill>
                  <a:srgbClr val="FFFFFF"/>
                </a:solidFill>
                <a:latin typeface="Times New Roman"/>
                <a:ea typeface="Times New Roman"/>
                <a:cs typeface="Times New Roman"/>
                <a:sym typeface="Times New Roman"/>
              </a:rPr>
              <a:t> students-</a:t>
            </a:r>
            <a:endParaRPr b="1" sz="1852">
              <a:solidFill>
                <a:srgbClr val="FFFFFF"/>
              </a:solidFill>
              <a:latin typeface="Times New Roman"/>
              <a:ea typeface="Times New Roman"/>
              <a:cs typeface="Times New Roman"/>
              <a:sym typeface="Times New Roman"/>
            </a:endParaRPr>
          </a:p>
          <a:p>
            <a:pPr indent="0" lvl="0" marL="0" rtl="0" algn="l">
              <a:lnSpc>
                <a:spcPct val="80000"/>
              </a:lnSpc>
              <a:spcBef>
                <a:spcPts val="0"/>
              </a:spcBef>
              <a:spcAft>
                <a:spcPts val="0"/>
              </a:spcAft>
              <a:buSzPts val="688"/>
              <a:buNone/>
            </a:pPr>
            <a:r>
              <a:t/>
            </a:r>
            <a:endParaRPr b="1" sz="1712">
              <a:solidFill>
                <a:srgbClr val="FFFFFF"/>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688"/>
              <a:buNone/>
            </a:pPr>
            <a:r>
              <a:rPr b="1" lang="en" sz="1712">
                <a:solidFill>
                  <a:srgbClr val="FFFFFF"/>
                </a:solidFill>
                <a:latin typeface="Times New Roman"/>
                <a:ea typeface="Times New Roman"/>
                <a:cs typeface="Times New Roman"/>
                <a:sym typeface="Times New Roman"/>
              </a:rPr>
              <a:t>Harsh Chandrakar</a:t>
            </a:r>
            <a:r>
              <a:rPr lang="en" sz="1712">
                <a:solidFill>
                  <a:srgbClr val="FFFFFF"/>
                </a:solidFill>
                <a:latin typeface="Times New Roman"/>
                <a:ea typeface="Times New Roman"/>
                <a:cs typeface="Times New Roman"/>
                <a:sym typeface="Times New Roman"/>
              </a:rPr>
              <a:t> 	(309302220027)</a:t>
            </a:r>
            <a:endParaRPr sz="1712">
              <a:solidFill>
                <a:srgbClr val="FFFFFF"/>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688"/>
              <a:buNone/>
            </a:pPr>
            <a:r>
              <a:rPr b="1" lang="en" sz="1712">
                <a:solidFill>
                  <a:srgbClr val="FFFFFF"/>
                </a:solidFill>
                <a:latin typeface="Times New Roman"/>
                <a:ea typeface="Times New Roman"/>
                <a:cs typeface="Times New Roman"/>
                <a:sym typeface="Times New Roman"/>
              </a:rPr>
              <a:t>J Kirti Rao </a:t>
            </a:r>
            <a:r>
              <a:rPr lang="en" sz="1712">
                <a:solidFill>
                  <a:srgbClr val="FFFFFF"/>
                </a:solidFill>
                <a:latin typeface="Times New Roman"/>
                <a:ea typeface="Times New Roman"/>
                <a:cs typeface="Times New Roman"/>
                <a:sym typeface="Times New Roman"/>
              </a:rPr>
              <a:t>			(309302220040)</a:t>
            </a:r>
            <a:endParaRPr sz="1712">
              <a:solidFill>
                <a:srgbClr val="FFFFFF"/>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688"/>
              <a:buNone/>
            </a:pPr>
            <a:r>
              <a:rPr b="1" lang="en" sz="1712">
                <a:solidFill>
                  <a:schemeClr val="lt1"/>
                </a:solidFill>
                <a:latin typeface="Times New Roman"/>
                <a:ea typeface="Times New Roman"/>
                <a:cs typeface="Times New Roman"/>
                <a:sym typeface="Times New Roman"/>
              </a:rPr>
              <a:t>Varun Maharana</a:t>
            </a:r>
            <a:r>
              <a:rPr lang="en" sz="1712">
                <a:solidFill>
                  <a:schemeClr val="lt1"/>
                </a:solidFill>
                <a:latin typeface="Times New Roman"/>
                <a:ea typeface="Times New Roman"/>
                <a:cs typeface="Times New Roman"/>
                <a:sym typeface="Times New Roman"/>
              </a:rPr>
              <a:t>		(309302220094)</a:t>
            </a:r>
            <a:endParaRPr sz="1712">
              <a:solidFill>
                <a:schemeClr val="lt1"/>
              </a:solidFill>
              <a:latin typeface="Times New Roman"/>
              <a:ea typeface="Times New Roman"/>
              <a:cs typeface="Times New Roman"/>
              <a:sym typeface="Times New Roman"/>
            </a:endParaRPr>
          </a:p>
          <a:p>
            <a:pPr indent="0" lvl="0" marL="0" rtl="0" algn="just">
              <a:lnSpc>
                <a:spcPct val="80000"/>
              </a:lnSpc>
              <a:spcBef>
                <a:spcPts val="0"/>
              </a:spcBef>
              <a:spcAft>
                <a:spcPts val="0"/>
              </a:spcAft>
              <a:buSzPts val="688"/>
              <a:buNone/>
            </a:pPr>
            <a:r>
              <a:rPr b="1" lang="en" sz="1712">
                <a:solidFill>
                  <a:schemeClr val="lt1"/>
                </a:solidFill>
                <a:latin typeface="Times New Roman"/>
                <a:ea typeface="Times New Roman"/>
                <a:cs typeface="Times New Roman"/>
                <a:sym typeface="Times New Roman"/>
              </a:rPr>
              <a:t>Simran Dey Biswas</a:t>
            </a:r>
            <a:r>
              <a:rPr lang="en" sz="1712">
                <a:solidFill>
                  <a:schemeClr val="lt1"/>
                </a:solidFill>
                <a:latin typeface="Times New Roman"/>
                <a:ea typeface="Times New Roman"/>
                <a:cs typeface="Times New Roman"/>
                <a:sym typeface="Times New Roman"/>
              </a:rPr>
              <a:t>		(309302220098)</a:t>
            </a:r>
            <a:endParaRPr sz="1712">
              <a:solidFill>
                <a:srgbClr val="FFFFFF"/>
              </a:solidFill>
              <a:latin typeface="Times New Roman"/>
              <a:ea typeface="Times New Roman"/>
              <a:cs typeface="Times New Roman"/>
              <a:sym typeface="Times New Roman"/>
            </a:endParaRPr>
          </a:p>
          <a:p>
            <a:pPr indent="0" lvl="0" marL="0" rtl="0" algn="ctr">
              <a:lnSpc>
                <a:spcPct val="80000"/>
              </a:lnSpc>
              <a:spcBef>
                <a:spcPts val="0"/>
              </a:spcBef>
              <a:spcAft>
                <a:spcPts val="0"/>
              </a:spcAft>
              <a:buSzPts val="688"/>
              <a:buNone/>
            </a:pPr>
            <a:r>
              <a:t/>
            </a:r>
            <a:endParaRPr sz="1950">
              <a:solidFill>
                <a:srgbClr val="595959"/>
              </a:solidFill>
              <a:latin typeface="Times New Roman"/>
              <a:ea typeface="Times New Roman"/>
              <a:cs typeface="Times New Roman"/>
              <a:sym typeface="Times New Roman"/>
            </a:endParaRPr>
          </a:p>
        </p:txBody>
      </p:sp>
      <p:sp>
        <p:nvSpPr>
          <p:cNvPr id="303" name="Google Shape;303;p37"/>
          <p:cNvSpPr txBox="1"/>
          <p:nvPr/>
        </p:nvSpPr>
        <p:spPr>
          <a:xfrm>
            <a:off x="1964575" y="1747375"/>
            <a:ext cx="5992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595959"/>
                </a:solidFill>
                <a:highlight>
                  <a:srgbClr val="FFFFFF"/>
                </a:highlight>
                <a:latin typeface="Times New Roman"/>
                <a:ea typeface="Times New Roman"/>
                <a:cs typeface="Times New Roman"/>
                <a:sym typeface="Times New Roman"/>
              </a:rPr>
              <a:t>Securing the Sensitive Data at Transaction using the AES &amp; RSA Algorithms</a:t>
            </a:r>
            <a:endParaRPr b="1" sz="2000">
              <a:solidFill>
                <a:srgbClr val="595959"/>
              </a:solidFill>
              <a:highlight>
                <a:srgbClr val="FFFFFF"/>
              </a:highlight>
              <a:latin typeface="Times New Roman"/>
              <a:ea typeface="Times New Roman"/>
              <a:cs typeface="Times New Roman"/>
              <a:sym typeface="Times New Roman"/>
            </a:endParaRPr>
          </a:p>
        </p:txBody>
      </p:sp>
      <p:sp>
        <p:nvSpPr>
          <p:cNvPr id="304" name="Google Shape;304;p37"/>
          <p:cNvSpPr txBox="1"/>
          <p:nvPr/>
        </p:nvSpPr>
        <p:spPr>
          <a:xfrm>
            <a:off x="2073100" y="878413"/>
            <a:ext cx="5992200" cy="45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2F2F2"/>
                </a:solidFill>
                <a:latin typeface="Times New Roman"/>
                <a:ea typeface="Times New Roman"/>
                <a:cs typeface="Times New Roman"/>
                <a:sym typeface="Times New Roman"/>
              </a:rPr>
              <a:t> PROJECT PHASE -1 PRESENTATION</a:t>
            </a:r>
            <a:endParaRPr b="1" sz="1800">
              <a:solidFill>
                <a:srgbClr val="F2F2F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8"/>
          <p:cNvSpPr txBox="1"/>
          <p:nvPr>
            <p:ph type="title"/>
          </p:nvPr>
        </p:nvSpPr>
        <p:spPr>
          <a:xfrm>
            <a:off x="257850" y="16267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200" u="sng">
                <a:latin typeface="Arial"/>
                <a:ea typeface="Arial"/>
                <a:cs typeface="Arial"/>
                <a:sym typeface="Arial"/>
              </a:rPr>
              <a:t>Introduction</a:t>
            </a:r>
            <a:endParaRPr sz="2200" u="sng">
              <a:latin typeface="Arial"/>
              <a:ea typeface="Arial"/>
              <a:cs typeface="Arial"/>
              <a:sym typeface="Arial"/>
            </a:endParaRPr>
          </a:p>
        </p:txBody>
      </p:sp>
      <p:sp>
        <p:nvSpPr>
          <p:cNvPr id="310" name="Google Shape;310;p38"/>
          <p:cNvSpPr/>
          <p:nvPr/>
        </p:nvSpPr>
        <p:spPr>
          <a:xfrm>
            <a:off x="257850" y="1094275"/>
            <a:ext cx="1666500" cy="347100"/>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FF726D"/>
              </a:buClr>
              <a:buSzPts val="2187"/>
              <a:buFont typeface="Inconsolata"/>
              <a:buNone/>
            </a:pPr>
            <a:r>
              <a:rPr b="1" lang="en" sz="1687">
                <a:solidFill>
                  <a:schemeClr val="dk1"/>
                </a:solidFill>
              </a:rPr>
              <a:t>Cryptography</a:t>
            </a:r>
            <a:endParaRPr i="0" sz="1687" u="none" cap="none" strike="noStrike">
              <a:solidFill>
                <a:schemeClr val="dk1"/>
              </a:solidFill>
            </a:endParaRPr>
          </a:p>
        </p:txBody>
      </p:sp>
      <p:sp>
        <p:nvSpPr>
          <p:cNvPr id="311" name="Google Shape;311;p38"/>
          <p:cNvSpPr/>
          <p:nvPr/>
        </p:nvSpPr>
        <p:spPr>
          <a:xfrm>
            <a:off x="336475" y="1518275"/>
            <a:ext cx="6123900" cy="1200900"/>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Clr>
                <a:srgbClr val="DAD1E6"/>
              </a:buClr>
              <a:buSzPts val="1750"/>
              <a:buFont typeface="Fira Sans"/>
              <a:buNone/>
            </a:pPr>
            <a:r>
              <a:rPr lang="en" sz="1200">
                <a:solidFill>
                  <a:schemeClr val="dk1"/>
                </a:solidFill>
              </a:rPr>
              <a:t>The art and science of concealing the messages to introduce secrecy in information security is recognized as cryptography. The process of disguising a message in such a way as to hide its substance is encryption. An encrypted message is ciphertext.</a:t>
            </a:r>
            <a:endParaRPr i="0" sz="1200" u="none" cap="none" strike="noStrike">
              <a:solidFill>
                <a:schemeClr val="dk1"/>
              </a:solidFill>
            </a:endParaRPr>
          </a:p>
        </p:txBody>
      </p:sp>
      <p:sp>
        <p:nvSpPr>
          <p:cNvPr id="312" name="Google Shape;312;p38"/>
          <p:cNvSpPr/>
          <p:nvPr/>
        </p:nvSpPr>
        <p:spPr>
          <a:xfrm>
            <a:off x="257850" y="2719175"/>
            <a:ext cx="2501100" cy="347100"/>
          </a:xfrm>
          <a:prstGeom prst="rect">
            <a:avLst/>
          </a:prstGeom>
          <a:noFill/>
          <a:ln>
            <a:noFill/>
          </a:ln>
        </p:spPr>
        <p:txBody>
          <a:bodyPr anchorCtr="0" anchor="t" bIns="45700" lIns="91425" spcFirstLastPara="1" rIns="91425" wrap="square" tIns="45700">
            <a:noAutofit/>
          </a:bodyPr>
          <a:lstStyle/>
          <a:p>
            <a:pPr indent="0" lvl="0" marL="0" marR="0" rtl="0" algn="l">
              <a:lnSpc>
                <a:spcPct val="125011"/>
              </a:lnSpc>
              <a:spcBef>
                <a:spcPts val="0"/>
              </a:spcBef>
              <a:spcAft>
                <a:spcPts val="0"/>
              </a:spcAft>
              <a:buClr>
                <a:srgbClr val="FF726D"/>
              </a:buClr>
              <a:buSzPts val="2187"/>
              <a:buFont typeface="Inconsolata"/>
              <a:buNone/>
            </a:pPr>
            <a:r>
              <a:rPr b="1" lang="en" sz="1687">
                <a:solidFill>
                  <a:schemeClr val="dk1"/>
                </a:solidFill>
              </a:rPr>
              <a:t>Cloud Computing</a:t>
            </a:r>
            <a:endParaRPr b="1" sz="1687">
              <a:solidFill>
                <a:schemeClr val="dk1"/>
              </a:solidFill>
            </a:endParaRPr>
          </a:p>
          <a:p>
            <a:pPr indent="0" lvl="0" marL="0" marR="0" rtl="0" algn="l">
              <a:lnSpc>
                <a:spcPct val="125011"/>
              </a:lnSpc>
              <a:spcBef>
                <a:spcPts val="0"/>
              </a:spcBef>
              <a:spcAft>
                <a:spcPts val="0"/>
              </a:spcAft>
              <a:buClr>
                <a:srgbClr val="FF726D"/>
              </a:buClr>
              <a:buSzPts val="2187"/>
              <a:buFont typeface="Inconsolata"/>
              <a:buNone/>
            </a:pPr>
            <a:r>
              <a:t/>
            </a:r>
            <a:endParaRPr b="1" sz="1687">
              <a:solidFill>
                <a:schemeClr val="dk1"/>
              </a:solidFill>
              <a:latin typeface="Inconsolata"/>
              <a:ea typeface="Inconsolata"/>
              <a:cs typeface="Inconsolata"/>
              <a:sym typeface="Inconsolata"/>
            </a:endParaRPr>
          </a:p>
        </p:txBody>
      </p:sp>
      <p:sp>
        <p:nvSpPr>
          <p:cNvPr id="313" name="Google Shape;313;p38"/>
          <p:cNvSpPr/>
          <p:nvPr/>
        </p:nvSpPr>
        <p:spPr>
          <a:xfrm>
            <a:off x="428000" y="3149175"/>
            <a:ext cx="5819100" cy="832500"/>
          </a:xfrm>
          <a:prstGeom prst="rect">
            <a:avLst/>
          </a:prstGeom>
          <a:noFill/>
          <a:ln>
            <a:noFill/>
          </a:ln>
        </p:spPr>
        <p:txBody>
          <a:bodyPr anchorCtr="0" anchor="t" bIns="45700" lIns="91425" spcFirstLastPara="1" rIns="91425" wrap="square" tIns="45700">
            <a:noAutofit/>
          </a:bodyPr>
          <a:lstStyle/>
          <a:p>
            <a:pPr indent="0" lvl="0" marL="0" marR="0" rtl="0" algn="l">
              <a:lnSpc>
                <a:spcPct val="159942"/>
              </a:lnSpc>
              <a:spcBef>
                <a:spcPts val="0"/>
              </a:spcBef>
              <a:spcAft>
                <a:spcPts val="0"/>
              </a:spcAft>
              <a:buNone/>
            </a:pPr>
            <a:r>
              <a:rPr lang="en" sz="1200">
                <a:solidFill>
                  <a:schemeClr val="dk1"/>
                </a:solidFill>
              </a:rPr>
              <a:t>Simply put, cloud computing is the delivery of computing services—including servers, storage, databases, networking, software, analytics, and intelligence—over the Internet.</a:t>
            </a:r>
            <a:endParaRPr sz="1200">
              <a:solidFill>
                <a:schemeClr val="dk1"/>
              </a:solidFill>
            </a:endParaRPr>
          </a:p>
          <a:p>
            <a:pPr indent="0" lvl="0" marL="0" marR="0" rtl="0" algn="l">
              <a:lnSpc>
                <a:spcPct val="159942"/>
              </a:lnSpc>
              <a:spcBef>
                <a:spcPts val="0"/>
              </a:spcBef>
              <a:spcAft>
                <a:spcPts val="0"/>
              </a:spcAft>
              <a:buNone/>
            </a:pPr>
            <a:r>
              <a:t/>
            </a:r>
            <a:endParaRPr sz="1250">
              <a:solidFill>
                <a:schemeClr val="dk1"/>
              </a:solidFill>
              <a:latin typeface="Fira Sans"/>
              <a:ea typeface="Fira Sans"/>
              <a:cs typeface="Fira Sans"/>
              <a:sym typeface="Fira Sans"/>
            </a:endParaRPr>
          </a:p>
          <a:p>
            <a:pPr indent="0" lvl="0" marL="0" marR="0" rtl="0" algn="l">
              <a:lnSpc>
                <a:spcPct val="159942"/>
              </a:lnSpc>
              <a:spcBef>
                <a:spcPts val="0"/>
              </a:spcBef>
              <a:spcAft>
                <a:spcPts val="0"/>
              </a:spcAft>
              <a:buClr>
                <a:srgbClr val="DAD1E6"/>
              </a:buClr>
              <a:buSzPts val="1750"/>
              <a:buFont typeface="Fira Sans"/>
              <a:buNone/>
            </a:pPr>
            <a:r>
              <a:t/>
            </a:r>
            <a:endParaRPr sz="1250">
              <a:solidFill>
                <a:schemeClr val="dk1"/>
              </a:solidFill>
              <a:latin typeface="Fira Sans"/>
              <a:ea typeface="Fira Sans"/>
              <a:cs typeface="Fira Sans"/>
              <a:sym typeface="Fira Sans"/>
            </a:endParaRPr>
          </a:p>
        </p:txBody>
      </p:sp>
      <p:pic>
        <p:nvPicPr>
          <p:cNvPr descr="preencoded.png" id="314" name="Google Shape;314;p38"/>
          <p:cNvPicPr preferRelativeResize="0"/>
          <p:nvPr/>
        </p:nvPicPr>
        <p:blipFill rotWithShape="1">
          <a:blip r:embed="rId3">
            <a:alphaModFix/>
          </a:blip>
          <a:srcRect b="0" l="0" r="0" t="0"/>
          <a:stretch/>
        </p:blipFill>
        <p:spPr>
          <a:xfrm>
            <a:off x="6692463" y="1094275"/>
            <a:ext cx="2184225" cy="1349875"/>
          </a:xfrm>
          <a:prstGeom prst="rect">
            <a:avLst/>
          </a:prstGeom>
          <a:noFill/>
          <a:ln>
            <a:noFill/>
          </a:ln>
        </p:spPr>
      </p:pic>
      <p:pic>
        <p:nvPicPr>
          <p:cNvPr descr="preencoded.png" id="315" name="Google Shape;315;p38"/>
          <p:cNvPicPr preferRelativeResize="0"/>
          <p:nvPr/>
        </p:nvPicPr>
        <p:blipFill rotWithShape="1">
          <a:blip r:embed="rId4">
            <a:alphaModFix/>
          </a:blip>
          <a:srcRect b="0" l="0" r="0" t="0"/>
          <a:stretch/>
        </p:blipFill>
        <p:spPr>
          <a:xfrm>
            <a:off x="6649587" y="2719177"/>
            <a:ext cx="2270000" cy="1402923"/>
          </a:xfrm>
          <a:prstGeom prst="rect">
            <a:avLst/>
          </a:prstGeom>
          <a:noFill/>
          <a:ln>
            <a:noFill/>
          </a:ln>
        </p:spPr>
      </p:pic>
      <p:sp>
        <p:nvSpPr>
          <p:cNvPr id="316" name="Google Shape;316;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9"/>
          <p:cNvSpPr txBox="1"/>
          <p:nvPr>
            <p:ph type="title"/>
          </p:nvPr>
        </p:nvSpPr>
        <p:spPr>
          <a:xfrm>
            <a:off x="495400" y="31027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200" u="sng">
                <a:latin typeface="Arial"/>
                <a:ea typeface="Arial"/>
                <a:cs typeface="Arial"/>
                <a:sym typeface="Arial"/>
              </a:rPr>
              <a:t>Introduction</a:t>
            </a:r>
            <a:endParaRPr sz="2200" u="sng">
              <a:latin typeface="Arial"/>
              <a:ea typeface="Arial"/>
              <a:cs typeface="Arial"/>
              <a:sym typeface="Arial"/>
            </a:endParaRPr>
          </a:p>
        </p:txBody>
      </p:sp>
      <p:grpSp>
        <p:nvGrpSpPr>
          <p:cNvPr id="322" name="Google Shape;322;p39"/>
          <p:cNvGrpSpPr/>
          <p:nvPr/>
        </p:nvGrpSpPr>
        <p:grpSpPr>
          <a:xfrm>
            <a:off x="1299475" y="4691900"/>
            <a:ext cx="7890000" cy="0"/>
            <a:chOff x="2220050" y="1547100"/>
            <a:chExt cx="7890000" cy="0"/>
          </a:xfrm>
        </p:grpSpPr>
        <p:cxnSp>
          <p:nvCxnSpPr>
            <p:cNvPr id="323" name="Google Shape;323;p39"/>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24" name="Google Shape;324;p39"/>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325" name="Google Shape;325;p39"/>
          <p:cNvSpPr txBox="1"/>
          <p:nvPr>
            <p:ph idx="4" type="subTitle"/>
          </p:nvPr>
        </p:nvSpPr>
        <p:spPr>
          <a:xfrm>
            <a:off x="189450" y="988288"/>
            <a:ext cx="7417500" cy="387000"/>
          </a:xfrm>
          <a:prstGeom prst="rect">
            <a:avLst/>
          </a:prstGeom>
          <a:noFill/>
          <a:ln>
            <a:noFill/>
          </a:ln>
        </p:spPr>
        <p:txBody>
          <a:bodyPr anchorCtr="0" anchor="ctr" bIns="91425" lIns="91425" spcFirstLastPara="1" rIns="91425" wrap="square" tIns="91425">
            <a:noAutofit/>
          </a:bodyPr>
          <a:lstStyle/>
          <a:p>
            <a:pPr indent="-368300" lvl="0" marL="457200" rtl="0" algn="l">
              <a:lnSpc>
                <a:spcPct val="100000"/>
              </a:lnSpc>
              <a:spcBef>
                <a:spcPts val="0"/>
              </a:spcBef>
              <a:spcAft>
                <a:spcPts val="0"/>
              </a:spcAft>
              <a:buSzPts val="2200"/>
              <a:buFont typeface="Arial"/>
              <a:buChar char="●"/>
            </a:pPr>
            <a:r>
              <a:rPr b="1" lang="en" sz="1800">
                <a:latin typeface="Arial"/>
                <a:ea typeface="Arial"/>
                <a:cs typeface="Arial"/>
                <a:sym typeface="Arial"/>
              </a:rPr>
              <a:t>Types of Cryptographic Algorithms</a:t>
            </a:r>
            <a:endParaRPr b="1" sz="1800">
              <a:latin typeface="Arial"/>
              <a:ea typeface="Arial"/>
              <a:cs typeface="Arial"/>
              <a:sym typeface="Arial"/>
            </a:endParaRPr>
          </a:p>
        </p:txBody>
      </p:sp>
      <p:graphicFrame>
        <p:nvGraphicFramePr>
          <p:cNvPr id="326" name="Google Shape;326;p39"/>
          <p:cNvGraphicFramePr/>
          <p:nvPr/>
        </p:nvGraphicFramePr>
        <p:xfrm>
          <a:off x="757225" y="1637838"/>
          <a:ext cx="3000000" cy="3000000"/>
        </p:xfrm>
        <a:graphic>
          <a:graphicData uri="http://schemas.openxmlformats.org/drawingml/2006/table">
            <a:tbl>
              <a:tblPr>
                <a:noFill/>
                <a:tableStyleId>{9A9789E1-E49C-4D39-8FC4-97650DAED426}</a:tableStyleId>
              </a:tblPr>
              <a:tblGrid>
                <a:gridCol w="2156675"/>
                <a:gridCol w="5566250"/>
              </a:tblGrid>
              <a:tr h="953925">
                <a:tc>
                  <a:txBody>
                    <a:bodyPr/>
                    <a:lstStyle/>
                    <a:p>
                      <a:pPr indent="0" lvl="0" marL="0" rtl="0" algn="l">
                        <a:spcBef>
                          <a:spcPts val="0"/>
                        </a:spcBef>
                        <a:spcAft>
                          <a:spcPts val="0"/>
                        </a:spcAft>
                        <a:buNone/>
                      </a:pPr>
                      <a:r>
                        <a:rPr b="1" lang="en">
                          <a:solidFill>
                            <a:schemeClr val="dk1"/>
                          </a:solidFill>
                        </a:rPr>
                        <a:t>Symmetric Key Algorithms</a:t>
                      </a:r>
                      <a:endParaRPr b="1">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sz="1300">
                          <a:solidFill>
                            <a:schemeClr val="dk1"/>
                          </a:solidFill>
                        </a:rPr>
                        <a:t>These algorithms use the same key for encryption and decryption. Examples include AES, DES, and 3DES.</a:t>
                      </a:r>
                      <a:endParaRPr sz="1100"/>
                    </a:p>
                  </a:txBody>
                  <a:tcPr marT="91425" marB="91425" marR="91425" marL="91425"/>
                </a:tc>
              </a:tr>
              <a:tr h="953925">
                <a:tc>
                  <a:txBody>
                    <a:bodyPr/>
                    <a:lstStyle/>
                    <a:p>
                      <a:pPr indent="0" lvl="0" marL="0" rtl="0" algn="l">
                        <a:spcBef>
                          <a:spcPts val="0"/>
                        </a:spcBef>
                        <a:spcAft>
                          <a:spcPts val="0"/>
                        </a:spcAft>
                        <a:buNone/>
                      </a:pPr>
                      <a:r>
                        <a:rPr b="1" lang="en">
                          <a:solidFill>
                            <a:schemeClr val="dk1"/>
                          </a:solidFill>
                        </a:rPr>
                        <a:t>Asymmetric Key Algorithms</a:t>
                      </a:r>
                      <a:endParaRPr sz="1000"/>
                    </a:p>
                  </a:txBody>
                  <a:tcPr marT="91425" marB="91425" marR="91425" marL="91425"/>
                </a:tc>
                <a:tc>
                  <a:txBody>
                    <a:bodyPr/>
                    <a:lstStyle/>
                    <a:p>
                      <a:pPr indent="0" lvl="0" marL="0" rtl="0" algn="l">
                        <a:spcBef>
                          <a:spcPts val="0"/>
                        </a:spcBef>
                        <a:spcAft>
                          <a:spcPts val="0"/>
                        </a:spcAft>
                        <a:buNone/>
                      </a:pPr>
                      <a:r>
                        <a:rPr lang="en" sz="1200">
                          <a:solidFill>
                            <a:schemeClr val="dk1"/>
                          </a:solidFill>
                        </a:rPr>
                        <a:t>These algorithms use a pair of keys, a public key and a private key, for encryption and decryption. Examples include RSA and Elliptic Curve Cryptography.</a:t>
                      </a:r>
                      <a:endParaRPr sz="1000"/>
                    </a:p>
                  </a:txBody>
                  <a:tcPr marT="91425" marB="91425" marR="91425" marL="91425"/>
                </a:tc>
              </a:tr>
              <a:tr h="953925">
                <a:tc>
                  <a:txBody>
                    <a:bodyPr/>
                    <a:lstStyle/>
                    <a:p>
                      <a:pPr indent="0" lvl="0" marL="0" rtl="0" algn="l">
                        <a:spcBef>
                          <a:spcPts val="0"/>
                        </a:spcBef>
                        <a:spcAft>
                          <a:spcPts val="0"/>
                        </a:spcAft>
                        <a:buNone/>
                      </a:pPr>
                      <a:r>
                        <a:rPr b="1" lang="en">
                          <a:solidFill>
                            <a:schemeClr val="dk1"/>
                          </a:solidFill>
                        </a:rPr>
                        <a:t>Hashing Algorithm</a:t>
                      </a:r>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These algorithms are designed to create a digital fingerprint of data. They are often used for data integrity and authentication. Examples include SHA-256 and MD5.</a:t>
                      </a:r>
                      <a:endParaRPr sz="1000"/>
                    </a:p>
                  </a:txBody>
                  <a:tcPr marT="91425" marB="91425" marR="91425" marL="91425"/>
                </a:tc>
              </a:tr>
            </a:tbl>
          </a:graphicData>
        </a:graphic>
      </p:graphicFrame>
      <p:sp>
        <p:nvSpPr>
          <p:cNvPr id="327" name="Google Shape;327;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40"/>
          <p:cNvPicPr preferRelativeResize="0"/>
          <p:nvPr/>
        </p:nvPicPr>
        <p:blipFill>
          <a:blip r:embed="rId3">
            <a:alphaModFix/>
          </a:blip>
          <a:stretch>
            <a:fillRect/>
          </a:stretch>
        </p:blipFill>
        <p:spPr>
          <a:xfrm>
            <a:off x="826475" y="643375"/>
            <a:ext cx="7378750" cy="4500125"/>
          </a:xfrm>
          <a:prstGeom prst="rect">
            <a:avLst/>
          </a:prstGeom>
          <a:noFill/>
          <a:ln>
            <a:noFill/>
          </a:ln>
        </p:spPr>
      </p:pic>
      <p:sp>
        <p:nvSpPr>
          <p:cNvPr id="333" name="Google Shape;333;p40"/>
          <p:cNvSpPr txBox="1"/>
          <p:nvPr>
            <p:ph type="title"/>
          </p:nvPr>
        </p:nvSpPr>
        <p:spPr>
          <a:xfrm>
            <a:off x="186600" y="140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Literature Review</a:t>
            </a:r>
            <a:endParaRPr sz="2100" u="sng">
              <a:latin typeface="Arial"/>
              <a:ea typeface="Arial"/>
              <a:cs typeface="Arial"/>
              <a:sym typeface="Arial"/>
            </a:endParaRPr>
          </a:p>
        </p:txBody>
      </p:sp>
      <p:sp>
        <p:nvSpPr>
          <p:cNvPr id="334" name="Google Shape;334;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1"/>
          <p:cNvSpPr txBox="1"/>
          <p:nvPr>
            <p:ph type="title"/>
          </p:nvPr>
        </p:nvSpPr>
        <p:spPr>
          <a:xfrm>
            <a:off x="186600" y="140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Literature Review</a:t>
            </a:r>
            <a:endParaRPr sz="2100" u="sng">
              <a:latin typeface="Arial"/>
              <a:ea typeface="Arial"/>
              <a:cs typeface="Arial"/>
              <a:sym typeface="Arial"/>
            </a:endParaRPr>
          </a:p>
        </p:txBody>
      </p:sp>
      <p:pic>
        <p:nvPicPr>
          <p:cNvPr id="340" name="Google Shape;340;p41"/>
          <p:cNvPicPr preferRelativeResize="0"/>
          <p:nvPr/>
        </p:nvPicPr>
        <p:blipFill>
          <a:blip r:embed="rId3">
            <a:alphaModFix/>
          </a:blip>
          <a:stretch>
            <a:fillRect/>
          </a:stretch>
        </p:blipFill>
        <p:spPr>
          <a:xfrm>
            <a:off x="869130" y="620350"/>
            <a:ext cx="7054170" cy="4523150"/>
          </a:xfrm>
          <a:prstGeom prst="rect">
            <a:avLst/>
          </a:prstGeom>
          <a:noFill/>
          <a:ln>
            <a:noFill/>
          </a:ln>
        </p:spPr>
      </p:pic>
      <p:sp>
        <p:nvSpPr>
          <p:cNvPr id="341" name="Google Shape;341;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grpSp>
        <p:nvGrpSpPr>
          <p:cNvPr id="346" name="Google Shape;346;p42"/>
          <p:cNvGrpSpPr/>
          <p:nvPr/>
        </p:nvGrpSpPr>
        <p:grpSpPr>
          <a:xfrm>
            <a:off x="1375675" y="4387100"/>
            <a:ext cx="7890000" cy="0"/>
            <a:chOff x="2220050" y="1547100"/>
            <a:chExt cx="7890000" cy="0"/>
          </a:xfrm>
        </p:grpSpPr>
        <p:cxnSp>
          <p:nvCxnSpPr>
            <p:cNvPr id="347" name="Google Shape;347;p42"/>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48" name="Google Shape;348;p42"/>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349" name="Google Shape;349;p42"/>
          <p:cNvSpPr txBox="1"/>
          <p:nvPr/>
        </p:nvSpPr>
        <p:spPr>
          <a:xfrm>
            <a:off x="343275" y="1117225"/>
            <a:ext cx="8569800" cy="2847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One of the prominent cryptographic techniques which have been researched in this paper to provide privacy and fine-grained access control in cloud computing is Hashing.</a:t>
            </a:r>
            <a:endParaRPr/>
          </a:p>
          <a:p>
            <a:pPr indent="0" lvl="0" marL="457200" rtl="0" algn="l">
              <a:spcBef>
                <a:spcPts val="0"/>
              </a:spcBef>
              <a:spcAft>
                <a:spcPts val="0"/>
              </a:spcAft>
              <a:buNone/>
            </a:pPr>
            <a:r>
              <a:t/>
            </a:r>
            <a:endParaRPr sz="1500">
              <a:latin typeface="Times New Roman"/>
              <a:ea typeface="Times New Roman"/>
              <a:cs typeface="Times New Roman"/>
              <a:sym typeface="Times New Roman"/>
            </a:endParaRPr>
          </a:p>
          <a:p>
            <a:pPr indent="-317500" lvl="0" marL="457200" rtl="0" algn="l">
              <a:spcBef>
                <a:spcPts val="0"/>
              </a:spcBef>
              <a:spcAft>
                <a:spcPts val="0"/>
              </a:spcAft>
              <a:buSzPts val="1400"/>
              <a:buChar char="●"/>
            </a:pPr>
            <a:r>
              <a:rPr lang="en"/>
              <a:t>This paper gives a brief understanding about the encryption of data before storing it in the Cloud. This is the major gap showed between both the above presented papers and our objective.</a:t>
            </a:r>
            <a:endParaRPr/>
          </a:p>
          <a:p>
            <a:pPr indent="0" lvl="0" marL="457200" rtl="0" algn="l">
              <a:spcBef>
                <a:spcPts val="0"/>
              </a:spcBef>
              <a:spcAft>
                <a:spcPts val="0"/>
              </a:spcAft>
              <a:buNone/>
            </a:pPr>
            <a:r>
              <a:t/>
            </a:r>
            <a:endParaRPr sz="1500">
              <a:latin typeface="Times New Roman"/>
              <a:ea typeface="Times New Roman"/>
              <a:cs typeface="Times New Roman"/>
              <a:sym typeface="Times New Roman"/>
            </a:endParaRPr>
          </a:p>
          <a:p>
            <a:pPr indent="-317500" lvl="0" marL="457200" rtl="0" algn="l">
              <a:spcBef>
                <a:spcPts val="0"/>
              </a:spcBef>
              <a:spcAft>
                <a:spcPts val="0"/>
              </a:spcAft>
              <a:buSzPts val="1400"/>
              <a:buChar char="●"/>
            </a:pPr>
            <a:r>
              <a:rPr lang="en"/>
              <a:t>The paper has explored more on ciphertext policy in different aspects such as hidden policy, proxy re-encryption, revocation mechanism, and hierarchical attribute based encryption.</a:t>
            </a:r>
            <a:endParaRPr/>
          </a:p>
          <a:p>
            <a:pPr indent="0" lvl="0" marL="457200" rtl="0" algn="l">
              <a:spcBef>
                <a:spcPts val="0"/>
              </a:spcBef>
              <a:spcAft>
                <a:spcPts val="0"/>
              </a:spcAft>
              <a:buNone/>
            </a:pPr>
            <a:r>
              <a:t/>
            </a:r>
            <a:endParaRPr sz="1500">
              <a:latin typeface="Times New Roman"/>
              <a:ea typeface="Times New Roman"/>
              <a:cs typeface="Times New Roman"/>
              <a:sym typeface="Times New Roman"/>
            </a:endParaRPr>
          </a:p>
          <a:p>
            <a:pPr indent="-317500" lvl="0" marL="457200" rtl="0" algn="l">
              <a:spcBef>
                <a:spcPts val="0"/>
              </a:spcBef>
              <a:spcAft>
                <a:spcPts val="0"/>
              </a:spcAft>
              <a:buSzPts val="1400"/>
              <a:buChar char="●"/>
            </a:pPr>
            <a:r>
              <a:rPr lang="en"/>
              <a:t>The paper has analysed the top security threats and their existing solutions and also investigates the challenges/obstacles in implementing threat remediation.</a:t>
            </a:r>
            <a:endParaRPr/>
          </a:p>
          <a:p>
            <a:pPr indent="0" lvl="0" marL="457200" rtl="0" algn="l">
              <a:spcBef>
                <a:spcPts val="0"/>
              </a:spcBef>
              <a:spcAft>
                <a:spcPts val="0"/>
              </a:spcAft>
              <a:buNone/>
            </a:pPr>
            <a:r>
              <a:t/>
            </a:r>
            <a:endParaRPr sz="1600">
              <a:latin typeface="Times New Roman"/>
              <a:ea typeface="Times New Roman"/>
              <a:cs typeface="Times New Roman"/>
              <a:sym typeface="Times New Roman"/>
            </a:endParaRPr>
          </a:p>
        </p:txBody>
      </p:sp>
      <p:sp>
        <p:nvSpPr>
          <p:cNvPr id="350" name="Google Shape;350;p42"/>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Research Gap</a:t>
            </a:r>
            <a:endParaRPr sz="2100" u="sng">
              <a:latin typeface="Arial"/>
              <a:ea typeface="Arial"/>
              <a:cs typeface="Arial"/>
              <a:sym typeface="Arial"/>
            </a:endParaRPr>
          </a:p>
          <a:p>
            <a:pPr indent="0" lvl="0" marL="0" rtl="0" algn="l">
              <a:lnSpc>
                <a:spcPct val="100000"/>
              </a:lnSpc>
              <a:spcBef>
                <a:spcPts val="0"/>
              </a:spcBef>
              <a:spcAft>
                <a:spcPts val="0"/>
              </a:spcAft>
              <a:buSzPts val="2800"/>
              <a:buNone/>
            </a:pPr>
            <a:r>
              <a:t/>
            </a:r>
            <a:endParaRPr sz="2100" u="sng">
              <a:latin typeface="Arial"/>
              <a:ea typeface="Arial"/>
              <a:cs typeface="Arial"/>
              <a:sym typeface="Arial"/>
            </a:endParaRPr>
          </a:p>
        </p:txBody>
      </p:sp>
      <p:sp>
        <p:nvSpPr>
          <p:cNvPr id="351" name="Google Shape;351;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3"/>
          <p:cNvSpPr txBox="1"/>
          <p:nvPr>
            <p:ph type="title"/>
          </p:nvPr>
        </p:nvSpPr>
        <p:spPr>
          <a:xfrm>
            <a:off x="720025" y="4562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200" u="sng">
                <a:solidFill>
                  <a:srgbClr val="191919"/>
                </a:solidFill>
                <a:latin typeface="Arial"/>
                <a:ea typeface="Arial"/>
                <a:cs typeface="Arial"/>
                <a:sym typeface="Arial"/>
              </a:rPr>
              <a:t>Expected Outcome</a:t>
            </a:r>
            <a:endParaRPr sz="2200" u="sng">
              <a:solidFill>
                <a:srgbClr val="191919"/>
              </a:solidFill>
              <a:latin typeface="Arial"/>
              <a:ea typeface="Arial"/>
              <a:cs typeface="Arial"/>
              <a:sym typeface="Arial"/>
            </a:endParaRPr>
          </a:p>
        </p:txBody>
      </p:sp>
      <p:sp>
        <p:nvSpPr>
          <p:cNvPr id="357" name="Google Shape;357;p43"/>
          <p:cNvSpPr txBox="1"/>
          <p:nvPr>
            <p:ph idx="4" type="subTitle"/>
          </p:nvPr>
        </p:nvSpPr>
        <p:spPr>
          <a:xfrm>
            <a:off x="720000" y="1450250"/>
            <a:ext cx="25311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600">
                <a:latin typeface="Arial"/>
                <a:ea typeface="Arial"/>
                <a:cs typeface="Arial"/>
                <a:sym typeface="Arial"/>
              </a:rPr>
              <a:t>Confidentiality</a:t>
            </a:r>
            <a:endParaRPr b="1" sz="1600">
              <a:latin typeface="Arial"/>
              <a:ea typeface="Arial"/>
              <a:cs typeface="Arial"/>
              <a:sym typeface="Arial"/>
            </a:endParaRPr>
          </a:p>
        </p:txBody>
      </p:sp>
      <p:sp>
        <p:nvSpPr>
          <p:cNvPr id="358" name="Google Shape;358;p43"/>
          <p:cNvSpPr txBox="1"/>
          <p:nvPr>
            <p:ph idx="5" type="subTitle"/>
          </p:nvPr>
        </p:nvSpPr>
        <p:spPr>
          <a:xfrm>
            <a:off x="3306475" y="1450250"/>
            <a:ext cx="2531100" cy="433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b="1" lang="en" sz="1600">
                <a:latin typeface="Arial"/>
                <a:ea typeface="Arial"/>
                <a:cs typeface="Arial"/>
                <a:sym typeface="Arial"/>
              </a:rPr>
              <a:t>Integrity</a:t>
            </a:r>
            <a:endParaRPr b="1" sz="1600">
              <a:latin typeface="Arial"/>
              <a:ea typeface="Arial"/>
              <a:cs typeface="Arial"/>
              <a:sym typeface="Arial"/>
            </a:endParaRPr>
          </a:p>
        </p:txBody>
      </p:sp>
      <p:sp>
        <p:nvSpPr>
          <p:cNvPr id="359" name="Google Shape;359;p43"/>
          <p:cNvSpPr txBox="1"/>
          <p:nvPr>
            <p:ph idx="1" type="subTitle"/>
          </p:nvPr>
        </p:nvSpPr>
        <p:spPr>
          <a:xfrm>
            <a:off x="719975" y="1933363"/>
            <a:ext cx="2531100" cy="1233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Arial"/>
                <a:ea typeface="Arial"/>
                <a:cs typeface="Arial"/>
                <a:sym typeface="Arial"/>
              </a:rPr>
              <a:t>Required to safeguard the privacy of those whose private information is kept. The data should be itself in a secure form while travelling over the insecure internet.</a:t>
            </a:r>
            <a:endParaRPr>
              <a:latin typeface="Arial"/>
              <a:ea typeface="Arial"/>
              <a:cs typeface="Arial"/>
              <a:sym typeface="Arial"/>
            </a:endParaRPr>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SzPts val="1200"/>
              <a:buNone/>
            </a:pPr>
            <a:r>
              <a:t/>
            </a:r>
            <a:endParaRPr sz="1600"/>
          </a:p>
        </p:txBody>
      </p:sp>
      <p:sp>
        <p:nvSpPr>
          <p:cNvPr id="360" name="Google Shape;360;p43"/>
          <p:cNvSpPr txBox="1"/>
          <p:nvPr>
            <p:ph idx="3" type="subTitle"/>
          </p:nvPr>
        </p:nvSpPr>
        <p:spPr>
          <a:xfrm>
            <a:off x="5892925" y="1933375"/>
            <a:ext cx="2645100" cy="1233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Arial"/>
                <a:ea typeface="Arial"/>
                <a:cs typeface="Arial"/>
                <a:sym typeface="Arial"/>
              </a:rPr>
              <a:t>The accuracy of the information's origin or destination, as well as the identities of the transmitter and receiver, is ensured. Only a specific key exchange used by the sender to confirm their identity can ensure authenticity</a:t>
            </a:r>
            <a:endParaRPr>
              <a:latin typeface="Arial"/>
              <a:ea typeface="Arial"/>
              <a:cs typeface="Arial"/>
              <a:sym typeface="Arial"/>
            </a:endParaRPr>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SzPts val="1200"/>
              <a:buNone/>
            </a:pPr>
            <a:r>
              <a:t/>
            </a:r>
            <a:endParaRPr sz="1600"/>
          </a:p>
        </p:txBody>
      </p:sp>
      <p:grpSp>
        <p:nvGrpSpPr>
          <p:cNvPr id="361" name="Google Shape;361;p43"/>
          <p:cNvGrpSpPr/>
          <p:nvPr/>
        </p:nvGrpSpPr>
        <p:grpSpPr>
          <a:xfrm>
            <a:off x="1254000" y="4566775"/>
            <a:ext cx="7890000" cy="0"/>
            <a:chOff x="2220050" y="1547100"/>
            <a:chExt cx="7890000" cy="0"/>
          </a:xfrm>
        </p:grpSpPr>
        <p:cxnSp>
          <p:nvCxnSpPr>
            <p:cNvPr id="362" name="Google Shape;362;p4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63" name="Google Shape;363;p43"/>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364" name="Google Shape;364;p43"/>
          <p:cNvSpPr txBox="1"/>
          <p:nvPr>
            <p:ph idx="6" type="subTitle"/>
          </p:nvPr>
        </p:nvSpPr>
        <p:spPr>
          <a:xfrm>
            <a:off x="5892950" y="1450250"/>
            <a:ext cx="2531100" cy="433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b="1" lang="en" sz="1600">
                <a:latin typeface="Arial"/>
                <a:ea typeface="Arial"/>
                <a:cs typeface="Arial"/>
                <a:sym typeface="Arial"/>
              </a:rPr>
              <a:t>Accuracy</a:t>
            </a:r>
            <a:endParaRPr b="1" sz="1600">
              <a:latin typeface="Arial"/>
              <a:ea typeface="Arial"/>
              <a:cs typeface="Arial"/>
              <a:sym typeface="Arial"/>
            </a:endParaRPr>
          </a:p>
        </p:txBody>
      </p:sp>
      <p:sp>
        <p:nvSpPr>
          <p:cNvPr id="365" name="Google Shape;365;p43"/>
          <p:cNvSpPr txBox="1"/>
          <p:nvPr>
            <p:ph idx="2" type="subTitle"/>
          </p:nvPr>
        </p:nvSpPr>
        <p:spPr>
          <a:xfrm>
            <a:off x="3306452" y="1933363"/>
            <a:ext cx="2531100" cy="1233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latin typeface="Arial"/>
                <a:ea typeface="Arial"/>
                <a:cs typeface="Arial"/>
                <a:sym typeface="Arial"/>
              </a:rPr>
              <a:t>Security environment refers to the accuracy of information management and associated information. It indicates that the data is transported and handled in controlled situations and remains unchanged even after it has been processed.</a:t>
            </a:r>
            <a:endParaRPr>
              <a:latin typeface="Arial"/>
              <a:ea typeface="Arial"/>
              <a:cs typeface="Arial"/>
              <a:sym typeface="Arial"/>
            </a:endParaRPr>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SzPts val="1200"/>
              <a:buNone/>
            </a:pPr>
            <a:r>
              <a:t/>
            </a:r>
            <a:endParaRPr sz="1600"/>
          </a:p>
        </p:txBody>
      </p:sp>
      <p:sp>
        <p:nvSpPr>
          <p:cNvPr id="366" name="Google Shape;366;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25011"/>
              </a:lnSpc>
              <a:spcBef>
                <a:spcPts val="0"/>
              </a:spcBef>
              <a:spcAft>
                <a:spcPts val="0"/>
              </a:spcAft>
              <a:buClr>
                <a:srgbClr val="FF726D"/>
              </a:buClr>
              <a:buSzPts val="4374"/>
              <a:buFont typeface="Inconsolata"/>
              <a:buNone/>
            </a:pPr>
            <a:r>
              <a:rPr lang="en" sz="2200" u="sng">
                <a:latin typeface="Arial"/>
                <a:ea typeface="Arial"/>
                <a:cs typeface="Arial"/>
                <a:sym typeface="Arial"/>
              </a:rPr>
              <a:t>Proposed Methodology</a:t>
            </a:r>
            <a:endParaRPr sz="2200" u="sng">
              <a:latin typeface="Arial"/>
              <a:ea typeface="Arial"/>
              <a:cs typeface="Arial"/>
              <a:sym typeface="Arial"/>
            </a:endParaRPr>
          </a:p>
        </p:txBody>
      </p:sp>
      <p:sp>
        <p:nvSpPr>
          <p:cNvPr id="372" name="Google Shape;372;p44"/>
          <p:cNvSpPr/>
          <p:nvPr/>
        </p:nvSpPr>
        <p:spPr>
          <a:xfrm>
            <a:off x="524175" y="1148150"/>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73" name="Google Shape;373;p44"/>
          <p:cNvSpPr txBox="1"/>
          <p:nvPr/>
        </p:nvSpPr>
        <p:spPr>
          <a:xfrm>
            <a:off x="605700" y="1231900"/>
            <a:ext cx="7818300" cy="41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lt1"/>
                </a:solidFill>
              </a:rPr>
              <a:t>The Cloud itself has security measures and protocols that provides security from unauthorized access to the underlying services that it offers. For example, Identity and Access Management, Public and Private IP Addresses, VPNs, etc.</a:t>
            </a:r>
            <a:endParaRPr sz="1000">
              <a:solidFill>
                <a:schemeClr val="lt1"/>
              </a:solidFill>
            </a:endParaRPr>
          </a:p>
        </p:txBody>
      </p:sp>
      <p:sp>
        <p:nvSpPr>
          <p:cNvPr id="374" name="Google Shape;374;p44"/>
          <p:cNvSpPr/>
          <p:nvPr/>
        </p:nvSpPr>
        <p:spPr>
          <a:xfrm>
            <a:off x="524175" y="2238575"/>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But even though the CSP (e.g. AWS) offers encryption of data while at rest and at transit, it still has a risk of exposing the data that can be sensitive at the client side.</a:t>
            </a:r>
            <a:endParaRPr>
              <a:solidFill>
                <a:schemeClr val="lt1"/>
              </a:solidFill>
            </a:endParaRPr>
          </a:p>
        </p:txBody>
      </p:sp>
      <p:sp>
        <p:nvSpPr>
          <p:cNvPr id="375" name="Google Shape;375;p44"/>
          <p:cNvSpPr/>
          <p:nvPr/>
        </p:nvSpPr>
        <p:spPr>
          <a:xfrm>
            <a:off x="524175" y="3329000"/>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76" name="Google Shape;376;p44"/>
          <p:cNvSpPr txBox="1"/>
          <p:nvPr/>
        </p:nvSpPr>
        <p:spPr>
          <a:xfrm>
            <a:off x="605700" y="3412750"/>
            <a:ext cx="7818300" cy="41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lt1"/>
                </a:solidFill>
              </a:rPr>
              <a:t>So to counter this approach, what can be done is when the frontend takes in the data that is entered by the client, it can immediately be encrypted at the client side itself, creating a safer version of the data when being sent over the insecure internet to reach the server and then get encrypted.</a:t>
            </a:r>
            <a:endParaRPr>
              <a:solidFill>
                <a:schemeClr val="lt1"/>
              </a:solidFill>
            </a:endParaRPr>
          </a:p>
          <a:p>
            <a:pPr indent="0" lvl="0" marL="0" marR="0" rtl="0" algn="l">
              <a:lnSpc>
                <a:spcPct val="115000"/>
              </a:lnSpc>
              <a:spcBef>
                <a:spcPts val="0"/>
              </a:spcBef>
              <a:spcAft>
                <a:spcPts val="0"/>
              </a:spcAft>
              <a:buNone/>
            </a:pPr>
            <a:r>
              <a:t/>
            </a:r>
            <a:endParaRPr>
              <a:solidFill>
                <a:schemeClr val="lt1"/>
              </a:solidFill>
            </a:endParaRPr>
          </a:p>
        </p:txBody>
      </p:sp>
      <p:sp>
        <p:nvSpPr>
          <p:cNvPr id="377" name="Google Shape;377;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grpSp>
        <p:nvGrpSpPr>
          <p:cNvPr id="382" name="Google Shape;382;p45"/>
          <p:cNvGrpSpPr/>
          <p:nvPr/>
        </p:nvGrpSpPr>
        <p:grpSpPr>
          <a:xfrm flipH="1">
            <a:off x="0" y="4688950"/>
            <a:ext cx="4993500" cy="0"/>
            <a:chOff x="2220050" y="1547100"/>
            <a:chExt cx="4993500" cy="0"/>
          </a:xfrm>
        </p:grpSpPr>
        <p:cxnSp>
          <p:nvCxnSpPr>
            <p:cNvPr id="383" name="Google Shape;383;p4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384" name="Google Shape;384;p45"/>
            <p:cNvCxnSpPr/>
            <p:nvPr/>
          </p:nvCxnSpPr>
          <p:spPr>
            <a:xfrm>
              <a:off x="2684450" y="1547100"/>
              <a:ext cx="4529100" cy="0"/>
            </a:xfrm>
            <a:prstGeom prst="straightConnector1">
              <a:avLst/>
            </a:prstGeom>
            <a:noFill/>
            <a:ln cap="flat" cmpd="sng" w="9525">
              <a:solidFill>
                <a:schemeClr val="dk1"/>
              </a:solidFill>
              <a:prstDash val="solid"/>
              <a:round/>
              <a:headEnd len="sm" w="sm" type="none"/>
              <a:tailEnd len="sm" w="sm" type="none"/>
            </a:ln>
          </p:spPr>
        </p:cxnSp>
      </p:grpSp>
      <p:sp>
        <p:nvSpPr>
          <p:cNvPr id="385" name="Google Shape;385;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25011"/>
              </a:lnSpc>
              <a:spcBef>
                <a:spcPts val="0"/>
              </a:spcBef>
              <a:spcAft>
                <a:spcPts val="0"/>
              </a:spcAft>
              <a:buSzPts val="4374"/>
              <a:buNone/>
            </a:pPr>
            <a:r>
              <a:rPr lang="en" sz="2200" u="sng">
                <a:latin typeface="Arial"/>
                <a:ea typeface="Arial"/>
                <a:cs typeface="Arial"/>
                <a:sym typeface="Arial"/>
              </a:rPr>
              <a:t>Conceptualised Flow Diagram</a:t>
            </a:r>
            <a:endParaRPr sz="2200" u="sng">
              <a:latin typeface="Arial"/>
              <a:ea typeface="Arial"/>
              <a:cs typeface="Arial"/>
              <a:sym typeface="Arial"/>
            </a:endParaRPr>
          </a:p>
        </p:txBody>
      </p:sp>
      <p:pic>
        <p:nvPicPr>
          <p:cNvPr id="386" name="Google Shape;386;p45"/>
          <p:cNvPicPr preferRelativeResize="0"/>
          <p:nvPr/>
        </p:nvPicPr>
        <p:blipFill>
          <a:blip r:embed="rId3">
            <a:alphaModFix/>
          </a:blip>
          <a:stretch>
            <a:fillRect/>
          </a:stretch>
        </p:blipFill>
        <p:spPr>
          <a:xfrm>
            <a:off x="64113" y="1264324"/>
            <a:ext cx="9015776" cy="3178051"/>
          </a:xfrm>
          <a:prstGeom prst="rect">
            <a:avLst/>
          </a:prstGeom>
          <a:noFill/>
          <a:ln>
            <a:noFill/>
          </a:ln>
        </p:spPr>
      </p:pic>
      <p:sp>
        <p:nvSpPr>
          <p:cNvPr id="387" name="Google Shape;387;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6"/>
          <p:cNvSpPr txBox="1"/>
          <p:nvPr>
            <p:ph type="title"/>
          </p:nvPr>
        </p:nvSpPr>
        <p:spPr>
          <a:xfrm>
            <a:off x="524175" y="716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25011"/>
              </a:lnSpc>
              <a:spcBef>
                <a:spcPts val="0"/>
              </a:spcBef>
              <a:spcAft>
                <a:spcPts val="0"/>
              </a:spcAft>
              <a:buClr>
                <a:srgbClr val="FF726D"/>
              </a:buClr>
              <a:buSzPts val="4374"/>
              <a:buFont typeface="Inconsolata"/>
              <a:buNone/>
            </a:pPr>
            <a:r>
              <a:rPr lang="en" sz="2200" u="sng">
                <a:latin typeface="Arial"/>
                <a:ea typeface="Arial"/>
                <a:cs typeface="Arial"/>
                <a:sym typeface="Arial"/>
              </a:rPr>
              <a:t>Proposed Methodology</a:t>
            </a:r>
            <a:endParaRPr sz="2200" u="sng">
              <a:latin typeface="Arial"/>
              <a:ea typeface="Arial"/>
              <a:cs typeface="Arial"/>
              <a:sym typeface="Arial"/>
            </a:endParaRPr>
          </a:p>
        </p:txBody>
      </p:sp>
      <p:sp>
        <p:nvSpPr>
          <p:cNvPr id="393" name="Google Shape;393;p46"/>
          <p:cNvSpPr/>
          <p:nvPr/>
        </p:nvSpPr>
        <p:spPr>
          <a:xfrm>
            <a:off x="524175" y="691000"/>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94" name="Google Shape;394;p46"/>
          <p:cNvSpPr txBox="1"/>
          <p:nvPr/>
        </p:nvSpPr>
        <p:spPr>
          <a:xfrm>
            <a:off x="524175" y="691000"/>
            <a:ext cx="7818300" cy="41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lt1"/>
                </a:solidFill>
              </a:rPr>
              <a:t>So our proposed methodology takes an inspiration from how cloud security architecture works (i.e. the concept of public IP and private IP address to talk over the internet and intranet respectively) and the hybrid category of algorithm (i.e. a combination of both asymmetric and hashing algorithms)</a:t>
            </a:r>
            <a:endParaRPr>
              <a:solidFill>
                <a:schemeClr val="lt1"/>
              </a:solidFill>
            </a:endParaRPr>
          </a:p>
          <a:p>
            <a:pPr indent="0" lvl="0" marL="0" marR="0" rtl="0" algn="l">
              <a:lnSpc>
                <a:spcPct val="115000"/>
              </a:lnSpc>
              <a:spcBef>
                <a:spcPts val="0"/>
              </a:spcBef>
              <a:spcAft>
                <a:spcPts val="0"/>
              </a:spcAft>
              <a:buNone/>
            </a:pPr>
            <a:r>
              <a:t/>
            </a:r>
            <a:endParaRPr>
              <a:solidFill>
                <a:schemeClr val="lt1"/>
              </a:solidFill>
            </a:endParaRPr>
          </a:p>
          <a:p>
            <a:pPr indent="0" lvl="0" marL="0" marR="0" rtl="0" algn="l">
              <a:lnSpc>
                <a:spcPct val="115000"/>
              </a:lnSpc>
              <a:spcBef>
                <a:spcPts val="0"/>
              </a:spcBef>
              <a:spcAft>
                <a:spcPts val="0"/>
              </a:spcAft>
              <a:buNone/>
            </a:pPr>
            <a:r>
              <a:t/>
            </a:r>
            <a:endParaRPr>
              <a:solidFill>
                <a:schemeClr val="lt1"/>
              </a:solidFill>
            </a:endParaRPr>
          </a:p>
        </p:txBody>
      </p:sp>
      <p:sp>
        <p:nvSpPr>
          <p:cNvPr id="395" name="Google Shape;395;p46"/>
          <p:cNvSpPr/>
          <p:nvPr/>
        </p:nvSpPr>
        <p:spPr>
          <a:xfrm>
            <a:off x="524175" y="1781425"/>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Trying to implement the idea similar to the concept of public/private IP, we use the combination of public keys and private keys both in the client side and server side, to create a secure encrypt-decrypt sequence while sending/receiving data from and to any side of the communication.</a:t>
            </a:r>
            <a:endParaRPr>
              <a:solidFill>
                <a:schemeClr val="lt1"/>
              </a:solidFill>
            </a:endParaRPr>
          </a:p>
        </p:txBody>
      </p:sp>
      <p:sp>
        <p:nvSpPr>
          <p:cNvPr id="396" name="Google Shape;396;p46"/>
          <p:cNvSpPr/>
          <p:nvPr/>
        </p:nvSpPr>
        <p:spPr>
          <a:xfrm>
            <a:off x="524175" y="3878525"/>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97" name="Google Shape;397;p46"/>
          <p:cNvSpPr txBox="1"/>
          <p:nvPr/>
        </p:nvSpPr>
        <p:spPr>
          <a:xfrm>
            <a:off x="592425" y="3878525"/>
            <a:ext cx="7818300" cy="41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lt1"/>
                </a:solidFill>
              </a:rPr>
              <a:t>By executing the above steps we can encrypt the data into its extra protected version, that can be considered comparatively more secure and less recognizable while travelling from the client side to the cloud or vice versa.</a:t>
            </a:r>
            <a:endParaRPr>
              <a:solidFill>
                <a:schemeClr val="lt1"/>
              </a:solidFill>
            </a:endParaRPr>
          </a:p>
          <a:p>
            <a:pPr indent="0" lvl="0" marL="0" marR="0" rtl="0" algn="l">
              <a:lnSpc>
                <a:spcPct val="115000"/>
              </a:lnSpc>
              <a:spcBef>
                <a:spcPts val="0"/>
              </a:spcBef>
              <a:spcAft>
                <a:spcPts val="0"/>
              </a:spcAft>
              <a:buNone/>
            </a:pPr>
            <a:r>
              <a:t/>
            </a:r>
            <a:endParaRPr>
              <a:solidFill>
                <a:schemeClr val="lt1"/>
              </a:solidFill>
            </a:endParaRPr>
          </a:p>
        </p:txBody>
      </p:sp>
      <p:sp>
        <p:nvSpPr>
          <p:cNvPr id="398" name="Google Shape;398;p46"/>
          <p:cNvSpPr/>
          <p:nvPr/>
        </p:nvSpPr>
        <p:spPr>
          <a:xfrm>
            <a:off x="524175" y="2829975"/>
            <a:ext cx="8369400" cy="960000"/>
          </a:xfrm>
          <a:prstGeom prst="homePlate">
            <a:avLst>
              <a:gd fmla="val 50000" name="adj"/>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Next, by implementing the hashing algorithms, the data can be converted in a more unrecognizable version, which then can be again encrypted using using the previously mentioned step.</a:t>
            </a:r>
            <a:endParaRPr>
              <a:solidFill>
                <a:schemeClr val="lt1"/>
              </a:solidFill>
            </a:endParaRPr>
          </a:p>
          <a:p>
            <a:pPr indent="0" lvl="0" marL="0" rtl="0" algn="l">
              <a:spcBef>
                <a:spcPts val="0"/>
              </a:spcBef>
              <a:spcAft>
                <a:spcPts val="0"/>
              </a:spcAft>
              <a:buNone/>
            </a:pPr>
            <a:r>
              <a:t/>
            </a:r>
            <a:endParaRPr/>
          </a:p>
        </p:txBody>
      </p:sp>
      <p:sp>
        <p:nvSpPr>
          <p:cNvPr id="399" name="Google Shape;399;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7"/>
          <p:cNvSpPr txBox="1"/>
          <p:nvPr>
            <p:ph type="title"/>
          </p:nvPr>
        </p:nvSpPr>
        <p:spPr>
          <a:xfrm>
            <a:off x="720000" y="902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u="sng">
                <a:latin typeface="Arial"/>
                <a:ea typeface="Arial"/>
                <a:cs typeface="Arial"/>
                <a:sym typeface="Arial"/>
              </a:rPr>
              <a:t>AES - </a:t>
            </a:r>
            <a:r>
              <a:rPr b="0" lang="en" sz="2200" u="sng">
                <a:solidFill>
                  <a:srgbClr val="000000"/>
                </a:solidFill>
                <a:highlight>
                  <a:srgbClr val="FFFFFF"/>
                </a:highlight>
                <a:latin typeface="Arial"/>
                <a:ea typeface="Arial"/>
                <a:cs typeface="Arial"/>
                <a:sym typeface="Arial"/>
              </a:rPr>
              <a:t> </a:t>
            </a:r>
            <a:r>
              <a:rPr b="0" lang="en" sz="2200" u="sng">
                <a:solidFill>
                  <a:srgbClr val="267438"/>
                </a:solidFill>
                <a:highlight>
                  <a:srgbClr val="FFFFFF"/>
                </a:highlight>
                <a:latin typeface="Arial"/>
                <a:ea typeface="Arial"/>
                <a:cs typeface="Arial"/>
                <a:sym typeface="Arial"/>
                <a:hlinkClick r:id="rId3">
                  <a:extLst>
                    <a:ext uri="{A12FA001-AC4F-418D-AE19-62706E023703}">
                      <ahyp:hlinkClr val="tx"/>
                    </a:ext>
                  </a:extLst>
                </a:hlinkClick>
              </a:rPr>
              <a:t>Advanced Encryption Standard</a:t>
            </a:r>
            <a:endParaRPr sz="2200" u="sng">
              <a:latin typeface="Arial"/>
              <a:ea typeface="Arial"/>
              <a:cs typeface="Arial"/>
              <a:sym typeface="Arial"/>
            </a:endParaRPr>
          </a:p>
        </p:txBody>
      </p:sp>
      <p:sp>
        <p:nvSpPr>
          <p:cNvPr id="405" name="Google Shape;405;p47"/>
          <p:cNvSpPr txBox="1"/>
          <p:nvPr/>
        </p:nvSpPr>
        <p:spPr>
          <a:xfrm>
            <a:off x="720000" y="1511000"/>
            <a:ext cx="8064600" cy="5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highlight>
                  <a:srgbClr val="FFFFFF"/>
                </a:highlight>
              </a:rPr>
              <a:t>The AES algorithm is an iterative, symmetric-key block cipher that </a:t>
            </a:r>
            <a:r>
              <a:rPr b="1" lang="en" sz="1600">
                <a:highlight>
                  <a:srgbClr val="FFFFFF"/>
                </a:highlight>
              </a:rPr>
              <a:t>supports cryptographic keys (secret keys) of 128, 192, and 256 bits to encrypt and decrypt data in blocks of 128 bits</a:t>
            </a:r>
            <a:r>
              <a:rPr lang="en" sz="1600">
                <a:highlight>
                  <a:srgbClr val="FFFFFF"/>
                </a:highlight>
              </a:rPr>
              <a:t>. The below figure shows the high-level AES algorithm:</a:t>
            </a:r>
            <a:endParaRPr sz="1600"/>
          </a:p>
        </p:txBody>
      </p:sp>
      <p:pic>
        <p:nvPicPr>
          <p:cNvPr id="406" name="Google Shape;406;p47"/>
          <p:cNvPicPr preferRelativeResize="0"/>
          <p:nvPr/>
        </p:nvPicPr>
        <p:blipFill>
          <a:blip r:embed="rId4">
            <a:alphaModFix/>
          </a:blip>
          <a:stretch>
            <a:fillRect/>
          </a:stretch>
        </p:blipFill>
        <p:spPr>
          <a:xfrm>
            <a:off x="1879975" y="2683875"/>
            <a:ext cx="5223175" cy="1906350"/>
          </a:xfrm>
          <a:prstGeom prst="rect">
            <a:avLst/>
          </a:prstGeom>
          <a:noFill/>
          <a:ln>
            <a:noFill/>
          </a:ln>
        </p:spPr>
      </p:pic>
      <p:sp>
        <p:nvSpPr>
          <p:cNvPr id="407" name="Google Shape;407;p47"/>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Last</a:t>
            </a:r>
            <a:r>
              <a:rPr lang="en" sz="2100" u="sng">
                <a:latin typeface="Arial"/>
                <a:ea typeface="Arial"/>
                <a:cs typeface="Arial"/>
                <a:sym typeface="Arial"/>
              </a:rPr>
              <a:t> Progress</a:t>
            </a:r>
            <a:endParaRPr sz="2100" u="sng">
              <a:latin typeface="Arial"/>
              <a:ea typeface="Arial"/>
              <a:cs typeface="Arial"/>
              <a:sym typeface="Arial"/>
            </a:endParaRPr>
          </a:p>
        </p:txBody>
      </p:sp>
      <p:sp>
        <p:nvSpPr>
          <p:cNvPr id="408" name="Google Shape;408;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8"/>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AES Algorithm- </a:t>
            </a:r>
            <a:endParaRPr sz="2100" u="sng">
              <a:latin typeface="Arial"/>
              <a:ea typeface="Arial"/>
              <a:cs typeface="Arial"/>
              <a:sym typeface="Arial"/>
            </a:endParaRPr>
          </a:p>
        </p:txBody>
      </p:sp>
      <p:sp>
        <p:nvSpPr>
          <p:cNvPr id="414" name="Google Shape;414;p48"/>
          <p:cNvSpPr txBox="1"/>
          <p:nvPr/>
        </p:nvSpPr>
        <p:spPr>
          <a:xfrm>
            <a:off x="521725" y="1055525"/>
            <a:ext cx="7981800" cy="373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AES </a:t>
            </a:r>
            <a:r>
              <a:rPr lang="en" sz="1600"/>
              <a:t>algorithm</a:t>
            </a:r>
            <a:r>
              <a:rPr lang="en" sz="1600"/>
              <a:t> is the method of </a:t>
            </a:r>
            <a:r>
              <a:rPr lang="en" sz="1600">
                <a:highlight>
                  <a:srgbClr val="D0E0E3"/>
                </a:highlight>
              </a:rPr>
              <a:t>lesser time complexity </a:t>
            </a:r>
            <a:r>
              <a:rPr lang="en" sz="1600"/>
              <a:t>and due to its </a:t>
            </a:r>
            <a:r>
              <a:rPr lang="en" sz="1600"/>
              <a:t>flexible</a:t>
            </a:r>
            <a:r>
              <a:rPr lang="en" sz="1600"/>
              <a:t> and </a:t>
            </a:r>
            <a:r>
              <a:rPr lang="en" sz="1600"/>
              <a:t>scalable behaviour it is easily implemented. </a:t>
            </a:r>
            <a:endParaRPr sz="1600"/>
          </a:p>
          <a:p>
            <a:pPr indent="0" lvl="0" marL="457200" rtl="0" algn="l">
              <a:spcBef>
                <a:spcPts val="0"/>
              </a:spcBef>
              <a:spcAft>
                <a:spcPts val="0"/>
              </a:spcAft>
              <a:buNone/>
            </a:pPr>
            <a:r>
              <a:t/>
            </a:r>
            <a:endParaRPr sz="1900"/>
          </a:p>
          <a:p>
            <a:pPr indent="-330200" lvl="0" marL="457200" rtl="0" algn="l">
              <a:spcBef>
                <a:spcPts val="0"/>
              </a:spcBef>
              <a:spcAft>
                <a:spcPts val="0"/>
              </a:spcAft>
              <a:buSzPts val="1600"/>
              <a:buChar char="❖"/>
            </a:pPr>
            <a:r>
              <a:rPr lang="en" sz="1600"/>
              <a:t>AES algorithm</a:t>
            </a:r>
            <a:r>
              <a:rPr lang="en" sz="1600">
                <a:highlight>
                  <a:srgbClr val="D0E0E3"/>
                </a:highlight>
              </a:rPr>
              <a:t> protects data with its high security level</a:t>
            </a:r>
            <a:r>
              <a:rPr lang="en" sz="1600"/>
              <a:t> and can counterattack against a variety of attacks.</a:t>
            </a:r>
            <a:endParaRPr sz="1600"/>
          </a:p>
          <a:p>
            <a:pPr indent="0" lvl="0" marL="457200" rtl="0" algn="l">
              <a:spcBef>
                <a:spcPts val="0"/>
              </a:spcBef>
              <a:spcAft>
                <a:spcPts val="0"/>
              </a:spcAft>
              <a:buNone/>
            </a:pPr>
            <a:r>
              <a:t/>
            </a:r>
            <a:endParaRPr sz="1900"/>
          </a:p>
          <a:p>
            <a:pPr indent="-330200" lvl="0" marL="457200" rtl="0" algn="l">
              <a:spcBef>
                <a:spcPts val="0"/>
              </a:spcBef>
              <a:spcAft>
                <a:spcPts val="0"/>
              </a:spcAft>
              <a:buSzPts val="1600"/>
              <a:buChar char="❖"/>
            </a:pPr>
            <a:r>
              <a:rPr lang="en" sz="1600"/>
              <a:t>AES algorithm requires</a:t>
            </a:r>
            <a:r>
              <a:rPr lang="en" sz="1600">
                <a:highlight>
                  <a:srgbClr val="D0E0E3"/>
                </a:highlight>
              </a:rPr>
              <a:t> less storage space</a:t>
            </a:r>
            <a:r>
              <a:rPr lang="en" sz="1600"/>
              <a:t> while providing a higher performance without any major limitations.</a:t>
            </a:r>
            <a:endParaRPr sz="1600"/>
          </a:p>
          <a:p>
            <a:pPr indent="0" lvl="0" marL="0" rtl="0" algn="l">
              <a:spcBef>
                <a:spcPts val="0"/>
              </a:spcBef>
              <a:spcAft>
                <a:spcPts val="0"/>
              </a:spcAft>
              <a:buNone/>
            </a:pPr>
            <a:r>
              <a:t/>
            </a:r>
            <a:endParaRPr>
              <a:latin typeface="Poppins"/>
              <a:ea typeface="Poppins"/>
              <a:cs typeface="Poppins"/>
              <a:sym typeface="Poppins"/>
            </a:endParaRPr>
          </a:p>
        </p:txBody>
      </p:sp>
      <p:sp>
        <p:nvSpPr>
          <p:cNvPr id="415" name="Google Shape;415;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9"/>
          <p:cNvSpPr txBox="1"/>
          <p:nvPr>
            <p:ph type="title"/>
          </p:nvPr>
        </p:nvSpPr>
        <p:spPr>
          <a:xfrm>
            <a:off x="523500" y="286225"/>
            <a:ext cx="7811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AES Encryption &amp; Decryption Flowchart</a:t>
            </a:r>
            <a:endParaRPr sz="2100" u="sng">
              <a:latin typeface="Arial"/>
              <a:ea typeface="Arial"/>
              <a:cs typeface="Arial"/>
              <a:sym typeface="Arial"/>
            </a:endParaRPr>
          </a:p>
        </p:txBody>
      </p:sp>
      <p:pic>
        <p:nvPicPr>
          <p:cNvPr id="421" name="Google Shape;421;p49"/>
          <p:cNvPicPr preferRelativeResize="0"/>
          <p:nvPr/>
        </p:nvPicPr>
        <p:blipFill>
          <a:blip r:embed="rId3">
            <a:alphaModFix/>
          </a:blip>
          <a:stretch>
            <a:fillRect/>
          </a:stretch>
        </p:blipFill>
        <p:spPr>
          <a:xfrm>
            <a:off x="1107713" y="858925"/>
            <a:ext cx="6642675" cy="4121975"/>
          </a:xfrm>
          <a:prstGeom prst="rect">
            <a:avLst/>
          </a:prstGeom>
          <a:noFill/>
          <a:ln>
            <a:noFill/>
          </a:ln>
        </p:spPr>
      </p:pic>
      <p:sp>
        <p:nvSpPr>
          <p:cNvPr id="422" name="Google Shape;422;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grpSp>
        <p:nvGrpSpPr>
          <p:cNvPr id="427" name="Google Shape;427;p50"/>
          <p:cNvGrpSpPr/>
          <p:nvPr/>
        </p:nvGrpSpPr>
        <p:grpSpPr>
          <a:xfrm>
            <a:off x="1375675" y="4387100"/>
            <a:ext cx="7890000" cy="0"/>
            <a:chOff x="2220050" y="1547100"/>
            <a:chExt cx="7890000" cy="0"/>
          </a:xfrm>
        </p:grpSpPr>
        <p:cxnSp>
          <p:nvCxnSpPr>
            <p:cNvPr id="428" name="Google Shape;428;p5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29" name="Google Shape;429;p50"/>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430" name="Google Shape;430;p50"/>
          <p:cNvSpPr txBox="1"/>
          <p:nvPr/>
        </p:nvSpPr>
        <p:spPr>
          <a:xfrm>
            <a:off x="343275" y="1498225"/>
            <a:ext cx="8321700" cy="2401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600"/>
              <a:t>It is </a:t>
            </a:r>
            <a:r>
              <a:rPr lang="en" sz="1600"/>
              <a:t>symmetric algorithms, therefore implementing this for data transaction from cloud can expose the key while sharing it.</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Font typeface="Times New Roman"/>
              <a:buChar char="●"/>
            </a:pPr>
            <a:r>
              <a:rPr lang="en" sz="1600"/>
              <a:t>Implementing such an algorithm using a robust programming language ike </a:t>
            </a:r>
            <a:r>
              <a:rPr b="1" lang="en" sz="1600"/>
              <a:t>JAVA </a:t>
            </a:r>
            <a:r>
              <a:rPr lang="en" sz="1600"/>
              <a:t>was easier as it already had</a:t>
            </a:r>
            <a:r>
              <a:rPr b="1" lang="en" sz="1600"/>
              <a:t> existing official packages</a:t>
            </a:r>
            <a:r>
              <a:rPr lang="en" sz="1600"/>
              <a:t> that supports the implementation.</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Font typeface="Times New Roman"/>
              <a:buChar char="●"/>
            </a:pPr>
            <a:r>
              <a:rPr lang="en" sz="1600"/>
              <a:t>But while implementing it on the client-side using a language like </a:t>
            </a:r>
            <a:r>
              <a:rPr b="1" lang="en" sz="1600"/>
              <a:t>JavaScript </a:t>
            </a:r>
            <a:r>
              <a:rPr lang="en" sz="1600"/>
              <a:t>might not provide such packages rather we have to use less reliables packages available in the </a:t>
            </a:r>
            <a:r>
              <a:rPr b="1" lang="en" sz="1600"/>
              <a:t>open source domain</a:t>
            </a:r>
            <a:r>
              <a:rPr lang="en" sz="1600"/>
              <a:t>.</a:t>
            </a:r>
            <a:endParaRPr sz="1600"/>
          </a:p>
        </p:txBody>
      </p:sp>
      <p:sp>
        <p:nvSpPr>
          <p:cNvPr id="431" name="Google Shape;431;p50"/>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Recent </a:t>
            </a:r>
            <a:r>
              <a:rPr lang="en" sz="2100" u="sng">
                <a:latin typeface="Arial"/>
                <a:ea typeface="Arial"/>
                <a:cs typeface="Arial"/>
                <a:sym typeface="Arial"/>
              </a:rPr>
              <a:t>Progress</a:t>
            </a:r>
            <a:endParaRPr sz="2100" u="sng">
              <a:latin typeface="Arial"/>
              <a:ea typeface="Arial"/>
              <a:cs typeface="Arial"/>
              <a:sym typeface="Arial"/>
            </a:endParaRPr>
          </a:p>
        </p:txBody>
      </p:sp>
      <p:sp>
        <p:nvSpPr>
          <p:cNvPr id="432" name="Google Shape;432;p50"/>
          <p:cNvSpPr txBox="1"/>
          <p:nvPr>
            <p:ph idx="4" type="subTitle"/>
          </p:nvPr>
        </p:nvSpPr>
        <p:spPr>
          <a:xfrm>
            <a:off x="523500" y="985075"/>
            <a:ext cx="72171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AES </a:t>
            </a:r>
            <a:r>
              <a:rPr b="1" lang="en" sz="1800">
                <a:latin typeface="Arial"/>
                <a:ea typeface="Arial"/>
                <a:cs typeface="Arial"/>
                <a:sym typeface="Arial"/>
              </a:rPr>
              <a:t>Algorithm: Implementation Limitations</a:t>
            </a:r>
            <a:endParaRPr b="1" sz="1800">
              <a:latin typeface="Arial"/>
              <a:ea typeface="Arial"/>
              <a:cs typeface="Arial"/>
              <a:sym typeface="Arial"/>
            </a:endParaRPr>
          </a:p>
        </p:txBody>
      </p:sp>
      <p:sp>
        <p:nvSpPr>
          <p:cNvPr id="433" name="Google Shape;433;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grpSp>
        <p:nvGrpSpPr>
          <p:cNvPr id="438" name="Google Shape;438;p51"/>
          <p:cNvGrpSpPr/>
          <p:nvPr/>
        </p:nvGrpSpPr>
        <p:grpSpPr>
          <a:xfrm>
            <a:off x="1375675" y="4387100"/>
            <a:ext cx="7890000" cy="0"/>
            <a:chOff x="2220050" y="1547100"/>
            <a:chExt cx="7890000" cy="0"/>
          </a:xfrm>
        </p:grpSpPr>
        <p:cxnSp>
          <p:nvCxnSpPr>
            <p:cNvPr id="439" name="Google Shape;439;p5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40" name="Google Shape;440;p51"/>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441" name="Google Shape;441;p51"/>
          <p:cNvSpPr txBox="1"/>
          <p:nvPr/>
        </p:nvSpPr>
        <p:spPr>
          <a:xfrm>
            <a:off x="343275" y="1498225"/>
            <a:ext cx="83217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p>
          <a:p>
            <a:pPr indent="-330200" lvl="0" marL="457200" rtl="0" algn="l">
              <a:spcBef>
                <a:spcPts val="0"/>
              </a:spcBef>
              <a:spcAft>
                <a:spcPts val="0"/>
              </a:spcAft>
              <a:buSzPts val="1600"/>
              <a:buFont typeface="Times New Roman"/>
              <a:buChar char="●"/>
            </a:pPr>
            <a:r>
              <a:rPr lang="en" sz="1600"/>
              <a:t>Implementing such an algorithm using a robust programming language like </a:t>
            </a:r>
            <a:r>
              <a:rPr b="1" lang="en" sz="1600"/>
              <a:t>JAVA </a:t>
            </a:r>
            <a:r>
              <a:rPr lang="en" sz="1600"/>
              <a:t>was easier as it already had</a:t>
            </a:r>
            <a:r>
              <a:rPr b="1" lang="en" sz="1600"/>
              <a:t> existing official packages</a:t>
            </a:r>
            <a:r>
              <a:rPr lang="en" sz="1600"/>
              <a:t> that supports the implementation.</a:t>
            </a:r>
            <a:endParaRPr sz="1600"/>
          </a:p>
          <a:p>
            <a:pPr indent="0" lvl="0" marL="457200" rtl="0" algn="l">
              <a:spcBef>
                <a:spcPts val="0"/>
              </a:spcBef>
              <a:spcAft>
                <a:spcPts val="0"/>
              </a:spcAft>
              <a:buNone/>
            </a:pPr>
            <a:r>
              <a:t/>
            </a:r>
            <a:endParaRPr sz="1600"/>
          </a:p>
          <a:p>
            <a:pPr indent="-330200" lvl="0" marL="457200" rtl="0" algn="l">
              <a:spcBef>
                <a:spcPts val="0"/>
              </a:spcBef>
              <a:spcAft>
                <a:spcPts val="0"/>
              </a:spcAft>
              <a:buSzPts val="1600"/>
              <a:buFont typeface="Times New Roman"/>
              <a:buChar char="●"/>
            </a:pPr>
            <a:r>
              <a:rPr lang="en" sz="1600"/>
              <a:t>But while implementing it on the client-side using a language like </a:t>
            </a:r>
            <a:r>
              <a:rPr b="1" lang="en" sz="1600"/>
              <a:t>JavaScript </a:t>
            </a:r>
            <a:r>
              <a:rPr lang="en" sz="1600"/>
              <a:t>might not provide such packages rather we have to use less reliables packages available in the </a:t>
            </a:r>
            <a:r>
              <a:rPr b="1" lang="en" sz="1600"/>
              <a:t>open source domain</a:t>
            </a:r>
            <a:r>
              <a:rPr lang="en" sz="1600"/>
              <a:t>.</a:t>
            </a:r>
            <a:endParaRPr sz="1600"/>
          </a:p>
        </p:txBody>
      </p:sp>
      <p:sp>
        <p:nvSpPr>
          <p:cNvPr id="442" name="Google Shape;442;p51"/>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Recent </a:t>
            </a:r>
            <a:r>
              <a:rPr lang="en" sz="2100" u="sng">
                <a:latin typeface="Arial"/>
                <a:ea typeface="Arial"/>
                <a:cs typeface="Arial"/>
                <a:sym typeface="Arial"/>
              </a:rPr>
              <a:t>Progress</a:t>
            </a:r>
            <a:endParaRPr sz="2100" u="sng">
              <a:latin typeface="Arial"/>
              <a:ea typeface="Arial"/>
              <a:cs typeface="Arial"/>
              <a:sym typeface="Arial"/>
            </a:endParaRPr>
          </a:p>
        </p:txBody>
      </p:sp>
      <p:sp>
        <p:nvSpPr>
          <p:cNvPr id="443" name="Google Shape;443;p51"/>
          <p:cNvSpPr txBox="1"/>
          <p:nvPr>
            <p:ph idx="4" type="subTitle"/>
          </p:nvPr>
        </p:nvSpPr>
        <p:spPr>
          <a:xfrm>
            <a:off x="523500" y="985075"/>
            <a:ext cx="72171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RSA Algorithm: Implementation Limitations</a:t>
            </a:r>
            <a:endParaRPr b="1" sz="1800">
              <a:latin typeface="Arial"/>
              <a:ea typeface="Arial"/>
              <a:cs typeface="Arial"/>
              <a:sym typeface="Arial"/>
            </a:endParaRPr>
          </a:p>
        </p:txBody>
      </p:sp>
      <p:sp>
        <p:nvSpPr>
          <p:cNvPr id="444" name="Google Shape;444;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2"/>
          <p:cNvSpPr txBox="1"/>
          <p:nvPr>
            <p:ph type="title"/>
          </p:nvPr>
        </p:nvSpPr>
        <p:spPr>
          <a:xfrm>
            <a:off x="720000" y="902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u="sng">
                <a:latin typeface="Arial"/>
                <a:ea typeface="Arial"/>
                <a:cs typeface="Arial"/>
                <a:sym typeface="Arial"/>
              </a:rPr>
              <a:t>RSA</a:t>
            </a:r>
            <a:r>
              <a:rPr lang="en" sz="2200" u="sng">
                <a:latin typeface="Arial"/>
                <a:ea typeface="Arial"/>
                <a:cs typeface="Arial"/>
                <a:sym typeface="Arial"/>
              </a:rPr>
              <a:t> - </a:t>
            </a:r>
            <a:endParaRPr sz="2200" u="sng">
              <a:latin typeface="Arial"/>
              <a:ea typeface="Arial"/>
              <a:cs typeface="Arial"/>
              <a:sym typeface="Arial"/>
            </a:endParaRPr>
          </a:p>
        </p:txBody>
      </p:sp>
      <p:sp>
        <p:nvSpPr>
          <p:cNvPr id="450" name="Google Shape;450;p52"/>
          <p:cNvSpPr txBox="1"/>
          <p:nvPr/>
        </p:nvSpPr>
        <p:spPr>
          <a:xfrm>
            <a:off x="720000" y="1599000"/>
            <a:ext cx="8064600" cy="124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highlight>
                  <a:srgbClr val="FFFFFF"/>
                </a:highlight>
              </a:rPr>
              <a:t>The RSA algorithm is a public-key signature algorithm developed by Ron Rivest, Adi Shamir, and Leonard Adleman. Their paper was first published in 1977, and the algorithm uses</a:t>
            </a:r>
            <a:r>
              <a:rPr lang="en" sz="1600">
                <a:solidFill>
                  <a:schemeClr val="dk1"/>
                </a:solidFill>
                <a:highlight>
                  <a:srgbClr val="D9EAD3"/>
                </a:highlight>
              </a:rPr>
              <a:t> logarithmic functions to keep the working complex enough to withstand brute force </a:t>
            </a:r>
            <a:r>
              <a:rPr lang="en" sz="1600">
                <a:solidFill>
                  <a:schemeClr val="dk1"/>
                </a:solidFill>
                <a:highlight>
                  <a:srgbClr val="FFFFFF"/>
                </a:highlight>
              </a:rPr>
              <a:t>and streamlined enough to be fast post-deployment.</a:t>
            </a:r>
            <a:endParaRPr sz="2000">
              <a:solidFill>
                <a:schemeClr val="dk1"/>
              </a:solidFill>
            </a:endParaRPr>
          </a:p>
        </p:txBody>
      </p:sp>
      <p:sp>
        <p:nvSpPr>
          <p:cNvPr id="451" name="Google Shape;451;p52"/>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Recent</a:t>
            </a:r>
            <a:r>
              <a:rPr lang="en" sz="2100" u="sng">
                <a:latin typeface="Arial"/>
                <a:ea typeface="Arial"/>
                <a:cs typeface="Arial"/>
                <a:sym typeface="Arial"/>
              </a:rPr>
              <a:t> Progress</a:t>
            </a:r>
            <a:endParaRPr sz="2100" u="sng">
              <a:latin typeface="Arial"/>
              <a:ea typeface="Arial"/>
              <a:cs typeface="Arial"/>
              <a:sym typeface="Arial"/>
            </a:endParaRPr>
          </a:p>
        </p:txBody>
      </p:sp>
      <p:sp>
        <p:nvSpPr>
          <p:cNvPr id="452" name="Google Shape;452;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52"/>
          <p:cNvSpPr txBox="1"/>
          <p:nvPr/>
        </p:nvSpPr>
        <p:spPr>
          <a:xfrm>
            <a:off x="720000" y="2970475"/>
            <a:ext cx="7704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There are two broad components when it comes to RSA cryptography, they are: </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b="1" lang="en" sz="1600">
                <a:highlight>
                  <a:srgbClr val="D9EAD3"/>
                </a:highlight>
              </a:rPr>
              <a:t>Key Generation</a:t>
            </a:r>
            <a:r>
              <a:rPr b="1" lang="en" sz="1600"/>
              <a:t>:</a:t>
            </a:r>
            <a:r>
              <a:rPr lang="en" sz="1600"/>
              <a:t> Generating the keys to be used for encrypting and decrypting the data to be exchanged.</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b="1" lang="en" sz="1600">
                <a:highlight>
                  <a:srgbClr val="D9EAD3"/>
                </a:highlight>
              </a:rPr>
              <a:t>Encryption/Decryption Function</a:t>
            </a:r>
            <a:r>
              <a:rPr b="1" lang="en" sz="1600"/>
              <a:t>:</a:t>
            </a:r>
            <a:r>
              <a:rPr lang="en" sz="1600"/>
              <a:t> The steps that need to be run when scrambling and recovering the data.</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3"/>
          <p:cNvSpPr txBox="1"/>
          <p:nvPr>
            <p:ph type="title"/>
          </p:nvPr>
        </p:nvSpPr>
        <p:spPr>
          <a:xfrm>
            <a:off x="720025" y="4058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 RSA Flowchart-</a:t>
            </a:r>
            <a:endParaRPr/>
          </a:p>
        </p:txBody>
      </p:sp>
      <p:sp>
        <p:nvSpPr>
          <p:cNvPr id="459" name="Google Shape;459;p53"/>
          <p:cNvSpPr txBox="1"/>
          <p:nvPr>
            <p:ph idx="3" type="subTitle"/>
          </p:nvPr>
        </p:nvSpPr>
        <p:spPr>
          <a:xfrm>
            <a:off x="720019" y="3734600"/>
            <a:ext cx="7704000" cy="123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highlight>
                  <a:srgbClr val="FFFFFF"/>
                </a:highlight>
                <a:latin typeface="Arial"/>
                <a:ea typeface="Arial"/>
                <a:cs typeface="Arial"/>
                <a:sym typeface="Arial"/>
              </a:rPr>
              <a:t>RSA can also encrypt and decrypt general information to securely exchange data along with handling digital signature verification. The image above shows the entire procedure of the RSA algorithm.</a:t>
            </a:r>
            <a:endParaRPr sz="1600">
              <a:latin typeface="Arial"/>
              <a:ea typeface="Arial"/>
              <a:cs typeface="Arial"/>
              <a:sym typeface="Arial"/>
            </a:endParaRPr>
          </a:p>
        </p:txBody>
      </p:sp>
      <p:pic>
        <p:nvPicPr>
          <p:cNvPr id="460" name="Google Shape;460;p53"/>
          <p:cNvPicPr preferRelativeResize="0"/>
          <p:nvPr/>
        </p:nvPicPr>
        <p:blipFill>
          <a:blip r:embed="rId3">
            <a:alphaModFix/>
          </a:blip>
          <a:stretch>
            <a:fillRect/>
          </a:stretch>
        </p:blipFill>
        <p:spPr>
          <a:xfrm>
            <a:off x="1332721" y="1096578"/>
            <a:ext cx="6111949" cy="2520025"/>
          </a:xfrm>
          <a:prstGeom prst="rect">
            <a:avLst/>
          </a:prstGeom>
          <a:noFill/>
          <a:ln>
            <a:noFill/>
          </a:ln>
        </p:spPr>
      </p:pic>
      <p:sp>
        <p:nvSpPr>
          <p:cNvPr id="461" name="Google Shape;461;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4"/>
          <p:cNvSpPr txBox="1"/>
          <p:nvPr>
            <p:ph type="title"/>
          </p:nvPr>
        </p:nvSpPr>
        <p:spPr>
          <a:xfrm>
            <a:off x="523500" y="286225"/>
            <a:ext cx="7811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RSA Encryption &amp; Decryption Flowchart</a:t>
            </a:r>
            <a:endParaRPr sz="2100" u="sng">
              <a:latin typeface="Arial"/>
              <a:ea typeface="Arial"/>
              <a:cs typeface="Arial"/>
              <a:sym typeface="Arial"/>
            </a:endParaRPr>
          </a:p>
        </p:txBody>
      </p:sp>
      <p:pic>
        <p:nvPicPr>
          <p:cNvPr id="467" name="Google Shape;467;p54"/>
          <p:cNvPicPr preferRelativeResize="0"/>
          <p:nvPr/>
        </p:nvPicPr>
        <p:blipFill>
          <a:blip r:embed="rId3">
            <a:alphaModFix/>
          </a:blip>
          <a:stretch>
            <a:fillRect/>
          </a:stretch>
        </p:blipFill>
        <p:spPr>
          <a:xfrm>
            <a:off x="587625" y="932200"/>
            <a:ext cx="7263900" cy="4144700"/>
          </a:xfrm>
          <a:prstGeom prst="rect">
            <a:avLst/>
          </a:prstGeom>
          <a:noFill/>
          <a:ln>
            <a:noFill/>
          </a:ln>
        </p:spPr>
      </p:pic>
      <p:sp>
        <p:nvSpPr>
          <p:cNvPr id="468" name="Google Shape;468;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grpSp>
        <p:nvGrpSpPr>
          <p:cNvPr id="473" name="Google Shape;473;p55"/>
          <p:cNvGrpSpPr/>
          <p:nvPr/>
        </p:nvGrpSpPr>
        <p:grpSpPr>
          <a:xfrm>
            <a:off x="1375675" y="4387100"/>
            <a:ext cx="7890000" cy="0"/>
            <a:chOff x="2220050" y="1547100"/>
            <a:chExt cx="7890000" cy="0"/>
          </a:xfrm>
        </p:grpSpPr>
        <p:cxnSp>
          <p:nvCxnSpPr>
            <p:cNvPr id="474" name="Google Shape;474;p55"/>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75" name="Google Shape;475;p55"/>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476" name="Google Shape;476;p55"/>
          <p:cNvSpPr txBox="1"/>
          <p:nvPr/>
        </p:nvSpPr>
        <p:spPr>
          <a:xfrm>
            <a:off x="343275" y="1498225"/>
            <a:ext cx="8569800" cy="6771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600"/>
              <a:t>We tried to implement the RSA Algorithm which uses both public key and private keys for both encryption and decryption and observe the merits and limitations</a:t>
            </a:r>
            <a:endParaRPr sz="1600"/>
          </a:p>
        </p:txBody>
      </p:sp>
      <p:sp>
        <p:nvSpPr>
          <p:cNvPr id="477" name="Google Shape;477;p55"/>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Recent </a:t>
            </a:r>
            <a:r>
              <a:rPr lang="en" sz="2100" u="sng">
                <a:latin typeface="Arial"/>
                <a:ea typeface="Arial"/>
                <a:cs typeface="Arial"/>
                <a:sym typeface="Arial"/>
              </a:rPr>
              <a:t>Progress</a:t>
            </a:r>
            <a:endParaRPr sz="2100" u="sng">
              <a:latin typeface="Arial"/>
              <a:ea typeface="Arial"/>
              <a:cs typeface="Arial"/>
              <a:sym typeface="Arial"/>
            </a:endParaRPr>
          </a:p>
        </p:txBody>
      </p:sp>
      <p:sp>
        <p:nvSpPr>
          <p:cNvPr id="478" name="Google Shape;478;p55"/>
          <p:cNvSpPr txBox="1"/>
          <p:nvPr>
            <p:ph idx="4" type="subTitle"/>
          </p:nvPr>
        </p:nvSpPr>
        <p:spPr>
          <a:xfrm>
            <a:off x="59945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RSA Algorithm: Implementation</a:t>
            </a:r>
            <a:endParaRPr b="1" sz="1800">
              <a:latin typeface="Arial"/>
              <a:ea typeface="Arial"/>
              <a:cs typeface="Arial"/>
              <a:sym typeface="Arial"/>
            </a:endParaRPr>
          </a:p>
        </p:txBody>
      </p:sp>
      <p:sp>
        <p:nvSpPr>
          <p:cNvPr id="479" name="Google Shape;479;p55"/>
          <p:cNvSpPr txBox="1"/>
          <p:nvPr/>
        </p:nvSpPr>
        <p:spPr>
          <a:xfrm>
            <a:off x="925575" y="2458125"/>
            <a:ext cx="5645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Language Used: </a:t>
            </a:r>
            <a:r>
              <a:rPr b="1" lang="en" sz="1600"/>
              <a:t>JAVA</a:t>
            </a:r>
            <a:endParaRPr b="1" sz="1600"/>
          </a:p>
          <a:p>
            <a:pPr indent="0" lvl="0" marL="0" rtl="0" algn="l">
              <a:spcBef>
                <a:spcPts val="0"/>
              </a:spcBef>
              <a:spcAft>
                <a:spcPts val="0"/>
              </a:spcAft>
              <a:buNone/>
            </a:pPr>
            <a:r>
              <a:rPr lang="en" sz="1600"/>
              <a:t>IDE: </a:t>
            </a:r>
            <a:r>
              <a:rPr b="1" lang="en" sz="1600"/>
              <a:t>IntelliJ IDEA</a:t>
            </a:r>
            <a:endParaRPr b="1" sz="1600"/>
          </a:p>
          <a:p>
            <a:pPr indent="0" lvl="0" marL="0" rtl="0" algn="l">
              <a:spcBef>
                <a:spcPts val="0"/>
              </a:spcBef>
              <a:spcAft>
                <a:spcPts val="0"/>
              </a:spcAft>
              <a:buNone/>
            </a:pPr>
            <a:r>
              <a:rPr lang="en" sz="1600"/>
              <a:t>Algorithm: </a:t>
            </a:r>
            <a:r>
              <a:rPr b="1" lang="en" sz="1600"/>
              <a:t>RSA</a:t>
            </a:r>
            <a:endParaRPr b="1" sz="1600"/>
          </a:p>
        </p:txBody>
      </p:sp>
      <p:sp>
        <p:nvSpPr>
          <p:cNvPr id="480" name="Google Shape;480;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56"/>
          <p:cNvGrpSpPr/>
          <p:nvPr/>
        </p:nvGrpSpPr>
        <p:grpSpPr>
          <a:xfrm>
            <a:off x="1375675" y="4387100"/>
            <a:ext cx="7890000" cy="0"/>
            <a:chOff x="2220050" y="1547100"/>
            <a:chExt cx="7890000" cy="0"/>
          </a:xfrm>
        </p:grpSpPr>
        <p:cxnSp>
          <p:nvCxnSpPr>
            <p:cNvPr id="486" name="Google Shape;486;p56"/>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87" name="Google Shape;487;p56"/>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488" name="Google Shape;488;p56"/>
          <p:cNvSpPr txBox="1"/>
          <p:nvPr>
            <p:ph idx="4" type="subTitle"/>
          </p:nvPr>
        </p:nvSpPr>
        <p:spPr>
          <a:xfrm>
            <a:off x="442500" y="271600"/>
            <a:ext cx="62517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2100">
                <a:latin typeface="Arial"/>
                <a:ea typeface="Arial"/>
                <a:cs typeface="Arial"/>
                <a:sym typeface="Arial"/>
              </a:rPr>
              <a:t>RSA </a:t>
            </a:r>
            <a:r>
              <a:rPr b="1" lang="en" sz="2100">
                <a:latin typeface="Arial"/>
                <a:ea typeface="Arial"/>
                <a:cs typeface="Arial"/>
                <a:sym typeface="Arial"/>
              </a:rPr>
              <a:t>Algorithm: </a:t>
            </a:r>
            <a:r>
              <a:rPr b="1" lang="en" sz="2100" u="sng">
                <a:latin typeface="Arial"/>
                <a:ea typeface="Arial"/>
                <a:cs typeface="Arial"/>
                <a:sym typeface="Arial"/>
              </a:rPr>
              <a:t>Implementation</a:t>
            </a:r>
            <a:endParaRPr b="1" sz="2100" u="sng">
              <a:latin typeface="Arial"/>
              <a:ea typeface="Arial"/>
              <a:cs typeface="Arial"/>
              <a:sym typeface="Arial"/>
            </a:endParaRPr>
          </a:p>
        </p:txBody>
      </p:sp>
      <p:sp>
        <p:nvSpPr>
          <p:cNvPr id="489" name="Google Shape;489;p56"/>
          <p:cNvSpPr txBox="1"/>
          <p:nvPr/>
        </p:nvSpPr>
        <p:spPr>
          <a:xfrm>
            <a:off x="163700" y="1506900"/>
            <a:ext cx="8980200" cy="23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System.</a:t>
            </a:r>
            <a:r>
              <a:rPr i="1" lang="en" sz="1500">
                <a:solidFill>
                  <a:srgbClr val="C77DBB"/>
                </a:solidFill>
                <a:highlight>
                  <a:srgbClr val="1E1F22"/>
                </a:highlight>
                <a:latin typeface="Courier New"/>
                <a:ea typeface="Courier New"/>
                <a:cs typeface="Courier New"/>
                <a:sym typeface="Courier New"/>
              </a:rPr>
              <a:t>out</a:t>
            </a:r>
            <a:r>
              <a:rPr lang="en" sz="1500">
                <a:solidFill>
                  <a:srgbClr val="BCBEC4"/>
                </a:solidFill>
                <a:highlight>
                  <a:srgbClr val="1E1F22"/>
                </a:highlight>
                <a:latin typeface="Courier New"/>
                <a:ea typeface="Courier New"/>
                <a:cs typeface="Courier New"/>
                <a:sym typeface="Courier New"/>
              </a:rPr>
              <a:t>.println(</a:t>
            </a:r>
            <a:r>
              <a:rPr lang="en" sz="1500">
                <a:solidFill>
                  <a:srgbClr val="6AAB73"/>
                </a:solidFill>
                <a:highlight>
                  <a:srgbClr val="1E1F22"/>
                </a:highlight>
                <a:latin typeface="Courier New"/>
                <a:ea typeface="Courier New"/>
                <a:cs typeface="Courier New"/>
                <a:sym typeface="Courier New"/>
              </a:rPr>
              <a:t>"-------GENRATE PUBLIC and PRIVATE KEY-------------"</a:t>
            </a:r>
            <a:r>
              <a:rPr lang="en" sz="1500">
                <a:solidFill>
                  <a:srgbClr val="BCBEC4"/>
                </a:solidFill>
                <a:highlight>
                  <a:srgbClr val="1E1F22"/>
                </a:highlight>
                <a:latin typeface="Courier New"/>
                <a:ea typeface="Courier New"/>
                <a:cs typeface="Courier New"/>
                <a:sym typeface="Courier New"/>
              </a:rPr>
              <a:t>);</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KeyPairGenerator keyPairGenerator = KeyPairGenerator.</a:t>
            </a:r>
            <a:r>
              <a:rPr i="1" lang="en" sz="1500">
                <a:solidFill>
                  <a:srgbClr val="BCBEC4"/>
                </a:solidFill>
                <a:highlight>
                  <a:srgbClr val="1E1F22"/>
                </a:highlight>
                <a:latin typeface="Courier New"/>
                <a:ea typeface="Courier New"/>
                <a:cs typeface="Courier New"/>
                <a:sym typeface="Courier New"/>
              </a:rPr>
              <a:t>getInstance</a:t>
            </a:r>
            <a:r>
              <a:rPr lang="en" sz="1500">
                <a:solidFill>
                  <a:srgbClr val="BCBEC4"/>
                </a:solidFill>
                <a:highlight>
                  <a:srgbClr val="1E1F22"/>
                </a:highlight>
                <a:latin typeface="Courier New"/>
                <a:ea typeface="Courier New"/>
                <a:cs typeface="Courier New"/>
                <a:sym typeface="Courier New"/>
              </a:rPr>
              <a:t>(</a:t>
            </a:r>
            <a:r>
              <a:rPr lang="en" sz="1500">
                <a:solidFill>
                  <a:srgbClr val="6AAB73"/>
                </a:solidFill>
                <a:highlight>
                  <a:srgbClr val="1E1F22"/>
                </a:highlight>
                <a:latin typeface="Courier New"/>
                <a:ea typeface="Courier New"/>
                <a:cs typeface="Courier New"/>
                <a:sym typeface="Courier New"/>
              </a:rPr>
              <a:t>"RSA"</a:t>
            </a:r>
            <a:r>
              <a:rPr lang="en" sz="1500">
                <a:solidFill>
                  <a:srgbClr val="BCBEC4"/>
                </a:solidFill>
                <a:highlight>
                  <a:srgbClr val="1E1F22"/>
                </a:highlight>
                <a:latin typeface="Courier New"/>
                <a:ea typeface="Courier New"/>
                <a:cs typeface="Courier New"/>
                <a:sym typeface="Courier New"/>
              </a:rPr>
              <a:t>);</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keyPairGenerator.initialize(</a:t>
            </a:r>
            <a:r>
              <a:rPr lang="en" sz="1500">
                <a:solidFill>
                  <a:srgbClr val="2AACB8"/>
                </a:solidFill>
                <a:highlight>
                  <a:srgbClr val="1E1F22"/>
                </a:highlight>
                <a:latin typeface="Courier New"/>
                <a:ea typeface="Courier New"/>
                <a:cs typeface="Courier New"/>
                <a:sym typeface="Courier New"/>
              </a:rPr>
              <a:t>2048</a:t>
            </a:r>
            <a:r>
              <a:rPr lang="en" sz="1500">
                <a:solidFill>
                  <a:srgbClr val="BCBEC4"/>
                </a:solidFill>
                <a:highlight>
                  <a:srgbClr val="1E1F22"/>
                </a:highlight>
                <a:latin typeface="Courier New"/>
                <a:ea typeface="Courier New"/>
                <a:cs typeface="Courier New"/>
                <a:sym typeface="Courier New"/>
              </a:rPr>
              <a:t>); </a:t>
            </a:r>
            <a:r>
              <a:rPr lang="en" sz="1500">
                <a:solidFill>
                  <a:srgbClr val="7A7E85"/>
                </a:solidFill>
                <a:highlight>
                  <a:srgbClr val="1E1F22"/>
                </a:highlight>
                <a:latin typeface="Courier New"/>
                <a:ea typeface="Courier New"/>
                <a:cs typeface="Courier New"/>
                <a:sym typeface="Courier New"/>
              </a:rPr>
              <a:t>//1024 used for normal securities</a:t>
            </a:r>
            <a:endParaRPr sz="1500">
              <a:solidFill>
                <a:srgbClr val="7A7E85"/>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KeyPair keyPair = keyPairGenerator.generateKeyPair();</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PublicKey publicKey = keyPair.getPublic();</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PrivateKey privateKey = keyPair.getPrivate();</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System.</a:t>
            </a:r>
            <a:r>
              <a:rPr i="1" lang="en" sz="1500">
                <a:solidFill>
                  <a:srgbClr val="C77DBB"/>
                </a:solidFill>
                <a:highlight>
                  <a:srgbClr val="1E1F22"/>
                </a:highlight>
                <a:latin typeface="Courier New"/>
                <a:ea typeface="Courier New"/>
                <a:cs typeface="Courier New"/>
                <a:sym typeface="Courier New"/>
              </a:rPr>
              <a:t>out</a:t>
            </a:r>
            <a:r>
              <a:rPr lang="en" sz="1500">
                <a:solidFill>
                  <a:srgbClr val="BCBEC4"/>
                </a:solidFill>
                <a:highlight>
                  <a:srgbClr val="1E1F22"/>
                </a:highlight>
                <a:latin typeface="Courier New"/>
                <a:ea typeface="Courier New"/>
                <a:cs typeface="Courier New"/>
                <a:sym typeface="Courier New"/>
              </a:rPr>
              <a:t>.println(</a:t>
            </a:r>
            <a:r>
              <a:rPr lang="en" sz="1500">
                <a:solidFill>
                  <a:srgbClr val="6AAB73"/>
                </a:solidFill>
                <a:highlight>
                  <a:srgbClr val="1E1F22"/>
                </a:highlight>
                <a:latin typeface="Courier New"/>
                <a:ea typeface="Courier New"/>
                <a:cs typeface="Courier New"/>
                <a:sym typeface="Courier New"/>
              </a:rPr>
              <a:t>"Public Key - " </a:t>
            </a:r>
            <a:r>
              <a:rPr lang="en" sz="1500">
                <a:solidFill>
                  <a:srgbClr val="BCBEC4"/>
                </a:solidFill>
                <a:highlight>
                  <a:srgbClr val="1E1F22"/>
                </a:highlight>
                <a:latin typeface="Courier New"/>
                <a:ea typeface="Courier New"/>
                <a:cs typeface="Courier New"/>
                <a:sym typeface="Courier New"/>
              </a:rPr>
              <a:t>+ publicKey);</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500">
                <a:solidFill>
                  <a:srgbClr val="BCBEC4"/>
                </a:solidFill>
                <a:highlight>
                  <a:srgbClr val="1E1F22"/>
                </a:highlight>
                <a:latin typeface="Courier New"/>
                <a:ea typeface="Courier New"/>
                <a:cs typeface="Courier New"/>
                <a:sym typeface="Courier New"/>
              </a:rPr>
              <a:t>System.</a:t>
            </a:r>
            <a:r>
              <a:rPr i="1" lang="en" sz="1500">
                <a:solidFill>
                  <a:srgbClr val="C77DBB"/>
                </a:solidFill>
                <a:highlight>
                  <a:srgbClr val="1E1F22"/>
                </a:highlight>
                <a:latin typeface="Courier New"/>
                <a:ea typeface="Courier New"/>
                <a:cs typeface="Courier New"/>
                <a:sym typeface="Courier New"/>
              </a:rPr>
              <a:t>out</a:t>
            </a:r>
            <a:r>
              <a:rPr lang="en" sz="1500">
                <a:solidFill>
                  <a:srgbClr val="BCBEC4"/>
                </a:solidFill>
                <a:highlight>
                  <a:srgbClr val="1E1F22"/>
                </a:highlight>
                <a:latin typeface="Courier New"/>
                <a:ea typeface="Courier New"/>
                <a:cs typeface="Courier New"/>
                <a:sym typeface="Courier New"/>
              </a:rPr>
              <a:t>.println(</a:t>
            </a:r>
            <a:r>
              <a:rPr lang="en" sz="1500">
                <a:solidFill>
                  <a:srgbClr val="6AAB73"/>
                </a:solidFill>
                <a:highlight>
                  <a:srgbClr val="1E1F22"/>
                </a:highlight>
                <a:latin typeface="Courier New"/>
                <a:ea typeface="Courier New"/>
                <a:cs typeface="Courier New"/>
                <a:sym typeface="Courier New"/>
              </a:rPr>
              <a:t>"Private Key - " </a:t>
            </a:r>
            <a:r>
              <a:rPr lang="en" sz="1500">
                <a:solidFill>
                  <a:srgbClr val="BCBEC4"/>
                </a:solidFill>
                <a:highlight>
                  <a:srgbClr val="1E1F22"/>
                </a:highlight>
                <a:latin typeface="Courier New"/>
                <a:ea typeface="Courier New"/>
                <a:cs typeface="Courier New"/>
                <a:sym typeface="Courier New"/>
              </a:rPr>
              <a:t>+ privateKey);</a:t>
            </a:r>
            <a:endParaRPr sz="15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2200">
              <a:solidFill>
                <a:srgbClr val="CF8E6D"/>
              </a:solidFill>
              <a:highlight>
                <a:srgbClr val="1E1F22"/>
              </a:highlight>
              <a:latin typeface="Courier New"/>
              <a:ea typeface="Courier New"/>
              <a:cs typeface="Courier New"/>
              <a:sym typeface="Courier New"/>
            </a:endParaRPr>
          </a:p>
        </p:txBody>
      </p:sp>
      <p:sp>
        <p:nvSpPr>
          <p:cNvPr id="490" name="Google Shape;490;p56"/>
          <p:cNvSpPr txBox="1"/>
          <p:nvPr>
            <p:ph idx="4" type="subTitle"/>
          </p:nvPr>
        </p:nvSpPr>
        <p:spPr>
          <a:xfrm>
            <a:off x="44250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Code used to </a:t>
            </a:r>
            <a:r>
              <a:rPr b="1" lang="en" sz="1800" u="sng">
                <a:latin typeface="Arial"/>
                <a:ea typeface="Arial"/>
                <a:cs typeface="Arial"/>
                <a:sym typeface="Arial"/>
              </a:rPr>
              <a:t>Generate Public and Private Key</a:t>
            </a:r>
            <a:r>
              <a:rPr b="1" lang="en" sz="1800">
                <a:latin typeface="Arial"/>
                <a:ea typeface="Arial"/>
                <a:cs typeface="Arial"/>
                <a:sym typeface="Arial"/>
              </a:rPr>
              <a:t>:</a:t>
            </a:r>
            <a:endParaRPr b="1" sz="1800">
              <a:latin typeface="Arial"/>
              <a:ea typeface="Arial"/>
              <a:cs typeface="Arial"/>
              <a:sym typeface="Arial"/>
            </a:endParaRPr>
          </a:p>
        </p:txBody>
      </p:sp>
      <p:sp>
        <p:nvSpPr>
          <p:cNvPr id="491" name="Google Shape;491;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grpSp>
        <p:nvGrpSpPr>
          <p:cNvPr id="496" name="Google Shape;496;p57"/>
          <p:cNvGrpSpPr/>
          <p:nvPr/>
        </p:nvGrpSpPr>
        <p:grpSpPr>
          <a:xfrm>
            <a:off x="1375675" y="4387100"/>
            <a:ext cx="7890000" cy="0"/>
            <a:chOff x="2220050" y="1547100"/>
            <a:chExt cx="7890000" cy="0"/>
          </a:xfrm>
        </p:grpSpPr>
        <p:cxnSp>
          <p:nvCxnSpPr>
            <p:cNvPr id="497" name="Google Shape;497;p57"/>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498" name="Google Shape;498;p57"/>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499" name="Google Shape;499;p57"/>
          <p:cNvSpPr txBox="1"/>
          <p:nvPr>
            <p:ph idx="4" type="subTitle"/>
          </p:nvPr>
        </p:nvSpPr>
        <p:spPr>
          <a:xfrm>
            <a:off x="442500" y="271600"/>
            <a:ext cx="62517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2100">
                <a:latin typeface="Arial"/>
                <a:ea typeface="Arial"/>
                <a:cs typeface="Arial"/>
                <a:sym typeface="Arial"/>
              </a:rPr>
              <a:t>RSA</a:t>
            </a:r>
            <a:r>
              <a:rPr b="1" lang="en" sz="2100">
                <a:latin typeface="Arial"/>
                <a:ea typeface="Arial"/>
                <a:cs typeface="Arial"/>
                <a:sym typeface="Arial"/>
              </a:rPr>
              <a:t> Algorithm: </a:t>
            </a:r>
            <a:r>
              <a:rPr b="1" lang="en" sz="2100" u="sng">
                <a:latin typeface="Arial"/>
                <a:ea typeface="Arial"/>
                <a:cs typeface="Arial"/>
                <a:sym typeface="Arial"/>
              </a:rPr>
              <a:t>Implementation</a:t>
            </a:r>
            <a:endParaRPr b="1" sz="2100" u="sng">
              <a:latin typeface="Arial"/>
              <a:ea typeface="Arial"/>
              <a:cs typeface="Arial"/>
              <a:sym typeface="Arial"/>
            </a:endParaRPr>
          </a:p>
        </p:txBody>
      </p:sp>
      <p:sp>
        <p:nvSpPr>
          <p:cNvPr id="500" name="Google Shape;500;p57"/>
          <p:cNvSpPr txBox="1"/>
          <p:nvPr/>
        </p:nvSpPr>
        <p:spPr>
          <a:xfrm>
            <a:off x="442500" y="1494338"/>
            <a:ext cx="8721300" cy="284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7A7E85"/>
                </a:solidFill>
                <a:highlight>
                  <a:srgbClr val="1E1F22"/>
                </a:highlight>
                <a:latin typeface="Courier New"/>
                <a:ea typeface="Courier New"/>
                <a:cs typeface="Courier New"/>
                <a:sym typeface="Courier New"/>
              </a:rPr>
              <a:t>//Pulling out parameters which makes up Key</a:t>
            </a:r>
            <a:endParaRPr sz="1300">
              <a:solidFill>
                <a:srgbClr val="7A7E85"/>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System.</a:t>
            </a:r>
            <a:r>
              <a:rPr i="1" lang="en" sz="1300">
                <a:solidFill>
                  <a:srgbClr val="C77DBB"/>
                </a:solidFill>
                <a:highlight>
                  <a:srgbClr val="1E1F22"/>
                </a:highlight>
                <a:latin typeface="Courier New"/>
                <a:ea typeface="Courier New"/>
                <a:cs typeface="Courier New"/>
                <a:sym typeface="Courier New"/>
              </a:rPr>
              <a:t>out</a:t>
            </a:r>
            <a:r>
              <a:rPr lang="en" sz="1300">
                <a:solidFill>
                  <a:srgbClr val="BCBEC4"/>
                </a:solidFill>
                <a:highlight>
                  <a:srgbClr val="1E1F22"/>
                </a:highlight>
                <a:latin typeface="Courier New"/>
                <a:ea typeface="Courier New"/>
                <a:cs typeface="Courier New"/>
                <a:sym typeface="Courier New"/>
              </a:rPr>
              <a:t>.println(</a:t>
            </a:r>
            <a:r>
              <a:rPr lang="en" sz="1300">
                <a:solidFill>
                  <a:srgbClr val="6AAB73"/>
                </a:solidFill>
                <a:highlight>
                  <a:srgbClr val="1E1F22"/>
                </a:highlight>
                <a:latin typeface="Courier New"/>
                <a:ea typeface="Courier New"/>
                <a:cs typeface="Courier New"/>
                <a:sym typeface="Courier New"/>
              </a:rPr>
              <a:t>"</a:t>
            </a:r>
            <a:r>
              <a:rPr lang="en" sz="1300">
                <a:solidFill>
                  <a:srgbClr val="CF8E6D"/>
                </a:solidFill>
                <a:highlight>
                  <a:srgbClr val="1E1F22"/>
                </a:highlight>
                <a:latin typeface="Courier New"/>
                <a:ea typeface="Courier New"/>
                <a:cs typeface="Courier New"/>
                <a:sym typeface="Courier New"/>
              </a:rPr>
              <a:t>\n</a:t>
            </a:r>
            <a:r>
              <a:rPr lang="en" sz="1300">
                <a:solidFill>
                  <a:srgbClr val="6AAB73"/>
                </a:solidFill>
                <a:highlight>
                  <a:srgbClr val="1E1F22"/>
                </a:highlight>
                <a:latin typeface="Courier New"/>
                <a:ea typeface="Courier New"/>
                <a:cs typeface="Courier New"/>
                <a:sym typeface="Courier New"/>
              </a:rPr>
              <a:t>------- PULLING OUT PARAMETERS WHICH MAKES KEYPAIR----------</a:t>
            </a:r>
            <a:r>
              <a:rPr lang="en" sz="1300">
                <a:solidFill>
                  <a:srgbClr val="CF8E6D"/>
                </a:solidFill>
                <a:highlight>
                  <a:srgbClr val="1E1F22"/>
                </a:highlight>
                <a:latin typeface="Courier New"/>
                <a:ea typeface="Courier New"/>
                <a:cs typeface="Courier New"/>
                <a:sym typeface="Courier New"/>
              </a:rPr>
              <a:t>\n</a:t>
            </a:r>
            <a:r>
              <a:rPr lang="en" sz="1300">
                <a:solidFill>
                  <a:srgbClr val="6AAB73"/>
                </a:solidFill>
                <a:highlight>
                  <a:srgbClr val="1E1F22"/>
                </a:highlight>
                <a:latin typeface="Courier New"/>
                <a:ea typeface="Courier New"/>
                <a:cs typeface="Courier New"/>
                <a:sym typeface="Courier New"/>
              </a:rPr>
              <a:t>"</a:t>
            </a:r>
            <a:r>
              <a:rPr lang="en" sz="1300">
                <a:solidFill>
                  <a:srgbClr val="BCBEC4"/>
                </a:solidFill>
                <a:highlight>
                  <a:srgbClr val="1E1F22"/>
                </a:highlight>
                <a:latin typeface="Courier New"/>
                <a:ea typeface="Courier New"/>
                <a:cs typeface="Courier New"/>
                <a:sym typeface="Courier New"/>
              </a:rPr>
              <a: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KeyFactory keyFactory = KeyFactory.</a:t>
            </a:r>
            <a:r>
              <a:rPr i="1" lang="en" sz="1300">
                <a:solidFill>
                  <a:srgbClr val="BCBEC4"/>
                </a:solidFill>
                <a:highlight>
                  <a:srgbClr val="1E1F22"/>
                </a:highlight>
                <a:latin typeface="Courier New"/>
                <a:ea typeface="Courier New"/>
                <a:cs typeface="Courier New"/>
                <a:sym typeface="Courier New"/>
              </a:rPr>
              <a:t>getInstance</a:t>
            </a:r>
            <a:r>
              <a:rPr lang="en" sz="1300">
                <a:solidFill>
                  <a:srgbClr val="BCBEC4"/>
                </a:solidFill>
                <a:highlight>
                  <a:srgbClr val="1E1F22"/>
                </a:highlight>
                <a:latin typeface="Courier New"/>
                <a:ea typeface="Courier New"/>
                <a:cs typeface="Courier New"/>
                <a:sym typeface="Courier New"/>
              </a:rPr>
              <a:t>(</a:t>
            </a:r>
            <a:r>
              <a:rPr lang="en" sz="1300">
                <a:solidFill>
                  <a:srgbClr val="6AAB73"/>
                </a:solidFill>
                <a:highlight>
                  <a:srgbClr val="1E1F22"/>
                </a:highlight>
                <a:latin typeface="Courier New"/>
                <a:ea typeface="Courier New"/>
                <a:cs typeface="Courier New"/>
                <a:sym typeface="Courier New"/>
              </a:rPr>
              <a:t>"RSA"</a:t>
            </a:r>
            <a:r>
              <a:rPr lang="en" sz="1300">
                <a:solidFill>
                  <a:srgbClr val="BCBEC4"/>
                </a:solidFill>
                <a:highlight>
                  <a:srgbClr val="1E1F22"/>
                </a:highlight>
                <a:latin typeface="Courier New"/>
                <a:ea typeface="Courier New"/>
                <a:cs typeface="Courier New"/>
                <a:sym typeface="Courier New"/>
              </a:rPr>
              <a: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RSAPublicKeySpec rsaPubKeySpec = keyFactory.getKeySpec(publicKey, RSAPublicKeySpec.</a:t>
            </a:r>
            <a:r>
              <a:rPr lang="en" sz="1300">
                <a:solidFill>
                  <a:srgbClr val="CF8E6D"/>
                </a:solidFill>
                <a:highlight>
                  <a:srgbClr val="1E1F22"/>
                </a:highlight>
                <a:latin typeface="Courier New"/>
                <a:ea typeface="Courier New"/>
                <a:cs typeface="Courier New"/>
                <a:sym typeface="Courier New"/>
              </a:rPr>
              <a:t>class</a:t>
            </a:r>
            <a:r>
              <a:rPr lang="en" sz="1300">
                <a:solidFill>
                  <a:srgbClr val="BCBEC4"/>
                </a:solidFill>
                <a:highlight>
                  <a:srgbClr val="1E1F22"/>
                </a:highlight>
                <a:latin typeface="Courier New"/>
                <a:ea typeface="Courier New"/>
                <a:cs typeface="Courier New"/>
                <a:sym typeface="Courier New"/>
              </a:rPr>
              <a: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RSAPrivateKeySpec rsaPrivKeySpec = keyFactory.getKeySpec(privateKey, RSAPrivateKeySpec.</a:t>
            </a:r>
            <a:r>
              <a:rPr lang="en" sz="1300">
                <a:solidFill>
                  <a:srgbClr val="CF8E6D"/>
                </a:solidFill>
                <a:highlight>
                  <a:srgbClr val="1E1F22"/>
                </a:highlight>
                <a:latin typeface="Courier New"/>
                <a:ea typeface="Courier New"/>
                <a:cs typeface="Courier New"/>
                <a:sym typeface="Courier New"/>
              </a:rPr>
              <a:t>class</a:t>
            </a:r>
            <a:r>
              <a:rPr lang="en" sz="1300">
                <a:solidFill>
                  <a:srgbClr val="BCBEC4"/>
                </a:solidFill>
                <a:highlight>
                  <a:srgbClr val="1E1F22"/>
                </a:highlight>
                <a:latin typeface="Courier New"/>
                <a:ea typeface="Courier New"/>
                <a:cs typeface="Courier New"/>
                <a:sym typeface="Courier New"/>
              </a:rPr>
              <a: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System.</a:t>
            </a:r>
            <a:r>
              <a:rPr i="1" lang="en" sz="1300">
                <a:solidFill>
                  <a:srgbClr val="C77DBB"/>
                </a:solidFill>
                <a:highlight>
                  <a:srgbClr val="1E1F22"/>
                </a:highlight>
                <a:latin typeface="Courier New"/>
                <a:ea typeface="Courier New"/>
                <a:cs typeface="Courier New"/>
                <a:sym typeface="Courier New"/>
              </a:rPr>
              <a:t>out</a:t>
            </a:r>
            <a:r>
              <a:rPr lang="en" sz="1300">
                <a:solidFill>
                  <a:srgbClr val="BCBEC4"/>
                </a:solidFill>
                <a:highlight>
                  <a:srgbClr val="1E1F22"/>
                </a:highlight>
                <a:latin typeface="Courier New"/>
                <a:ea typeface="Courier New"/>
                <a:cs typeface="Courier New"/>
                <a:sym typeface="Courier New"/>
              </a:rPr>
              <a:t>.println(</a:t>
            </a:r>
            <a:r>
              <a:rPr lang="en" sz="1300">
                <a:solidFill>
                  <a:srgbClr val="6AAB73"/>
                </a:solidFill>
                <a:highlight>
                  <a:srgbClr val="1E1F22"/>
                </a:highlight>
                <a:latin typeface="Courier New"/>
                <a:ea typeface="Courier New"/>
                <a:cs typeface="Courier New"/>
                <a:sym typeface="Courier New"/>
              </a:rPr>
              <a:t>"PubKey Modulus : " </a:t>
            </a:r>
            <a:r>
              <a:rPr lang="en" sz="1300">
                <a:solidFill>
                  <a:srgbClr val="BCBEC4"/>
                </a:solidFill>
                <a:highlight>
                  <a:srgbClr val="1E1F22"/>
                </a:highlight>
                <a:latin typeface="Courier New"/>
                <a:ea typeface="Courier New"/>
                <a:cs typeface="Courier New"/>
                <a:sym typeface="Courier New"/>
              </a:rPr>
              <a:t>+ rsaPubKeySpec.getModulus());</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System.</a:t>
            </a:r>
            <a:r>
              <a:rPr i="1" lang="en" sz="1300">
                <a:solidFill>
                  <a:srgbClr val="C77DBB"/>
                </a:solidFill>
                <a:highlight>
                  <a:srgbClr val="1E1F22"/>
                </a:highlight>
                <a:latin typeface="Courier New"/>
                <a:ea typeface="Courier New"/>
                <a:cs typeface="Courier New"/>
                <a:sym typeface="Courier New"/>
              </a:rPr>
              <a:t>out</a:t>
            </a:r>
            <a:r>
              <a:rPr lang="en" sz="1300">
                <a:solidFill>
                  <a:srgbClr val="BCBEC4"/>
                </a:solidFill>
                <a:highlight>
                  <a:srgbClr val="1E1F22"/>
                </a:highlight>
                <a:latin typeface="Courier New"/>
                <a:ea typeface="Courier New"/>
                <a:cs typeface="Courier New"/>
                <a:sym typeface="Courier New"/>
              </a:rPr>
              <a:t>.println(</a:t>
            </a:r>
            <a:r>
              <a:rPr lang="en" sz="1300">
                <a:solidFill>
                  <a:srgbClr val="6AAB73"/>
                </a:solidFill>
                <a:highlight>
                  <a:srgbClr val="1E1F22"/>
                </a:highlight>
                <a:latin typeface="Courier New"/>
                <a:ea typeface="Courier New"/>
                <a:cs typeface="Courier New"/>
                <a:sym typeface="Courier New"/>
              </a:rPr>
              <a:t>"PubKey Exponent : " </a:t>
            </a:r>
            <a:r>
              <a:rPr lang="en" sz="1300">
                <a:solidFill>
                  <a:srgbClr val="BCBEC4"/>
                </a:solidFill>
                <a:highlight>
                  <a:srgbClr val="1E1F22"/>
                </a:highlight>
                <a:latin typeface="Courier New"/>
                <a:ea typeface="Courier New"/>
                <a:cs typeface="Courier New"/>
                <a:sym typeface="Courier New"/>
              </a:rPr>
              <a:t>+ rsaPubKeySpec.getPublicExponent());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System.</a:t>
            </a:r>
            <a:r>
              <a:rPr i="1" lang="en" sz="1300">
                <a:solidFill>
                  <a:srgbClr val="C77DBB"/>
                </a:solidFill>
                <a:highlight>
                  <a:srgbClr val="1E1F22"/>
                </a:highlight>
                <a:latin typeface="Courier New"/>
                <a:ea typeface="Courier New"/>
                <a:cs typeface="Courier New"/>
                <a:sym typeface="Courier New"/>
              </a:rPr>
              <a:t>out</a:t>
            </a:r>
            <a:r>
              <a:rPr lang="en" sz="1300">
                <a:solidFill>
                  <a:srgbClr val="BCBEC4"/>
                </a:solidFill>
                <a:highlight>
                  <a:srgbClr val="1E1F22"/>
                </a:highlight>
                <a:latin typeface="Courier New"/>
                <a:ea typeface="Courier New"/>
                <a:cs typeface="Courier New"/>
                <a:sym typeface="Courier New"/>
              </a:rPr>
              <a:t>.println(</a:t>
            </a:r>
            <a:r>
              <a:rPr lang="en" sz="1300">
                <a:solidFill>
                  <a:srgbClr val="6AAB73"/>
                </a:solidFill>
                <a:highlight>
                  <a:srgbClr val="1E1F22"/>
                </a:highlight>
                <a:latin typeface="Courier New"/>
                <a:ea typeface="Courier New"/>
                <a:cs typeface="Courier New"/>
                <a:sym typeface="Courier New"/>
              </a:rPr>
              <a:t>"PrivKey Modulus : " </a:t>
            </a:r>
            <a:r>
              <a:rPr lang="en" sz="1300">
                <a:solidFill>
                  <a:srgbClr val="BCBEC4"/>
                </a:solidFill>
                <a:highlight>
                  <a:srgbClr val="1E1F22"/>
                </a:highlight>
                <a:latin typeface="Courier New"/>
                <a:ea typeface="Courier New"/>
                <a:cs typeface="Courier New"/>
                <a:sym typeface="Courier New"/>
              </a:rPr>
              <a:t>+ rsaPrivKeySpec.getModulus());</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300">
                <a:solidFill>
                  <a:srgbClr val="BCBEC4"/>
                </a:solidFill>
                <a:highlight>
                  <a:srgbClr val="1E1F22"/>
                </a:highlight>
                <a:latin typeface="Courier New"/>
                <a:ea typeface="Courier New"/>
                <a:cs typeface="Courier New"/>
                <a:sym typeface="Courier New"/>
              </a:rPr>
              <a:t>System.</a:t>
            </a:r>
            <a:r>
              <a:rPr i="1" lang="en" sz="1300">
                <a:solidFill>
                  <a:srgbClr val="C77DBB"/>
                </a:solidFill>
                <a:highlight>
                  <a:srgbClr val="1E1F22"/>
                </a:highlight>
                <a:latin typeface="Courier New"/>
                <a:ea typeface="Courier New"/>
                <a:cs typeface="Courier New"/>
                <a:sym typeface="Courier New"/>
              </a:rPr>
              <a:t>out</a:t>
            </a:r>
            <a:r>
              <a:rPr lang="en" sz="1300">
                <a:solidFill>
                  <a:srgbClr val="BCBEC4"/>
                </a:solidFill>
                <a:highlight>
                  <a:srgbClr val="1E1F22"/>
                </a:highlight>
                <a:latin typeface="Courier New"/>
                <a:ea typeface="Courier New"/>
                <a:cs typeface="Courier New"/>
                <a:sym typeface="Courier New"/>
              </a:rPr>
              <a:t>.println(</a:t>
            </a:r>
            <a:r>
              <a:rPr lang="en" sz="1300">
                <a:solidFill>
                  <a:srgbClr val="6AAB73"/>
                </a:solidFill>
                <a:highlight>
                  <a:srgbClr val="1E1F22"/>
                </a:highlight>
                <a:latin typeface="Courier New"/>
                <a:ea typeface="Courier New"/>
                <a:cs typeface="Courier New"/>
                <a:sym typeface="Courier New"/>
              </a:rPr>
              <a:t>"PrivKey Exponent : " </a:t>
            </a:r>
            <a:r>
              <a:rPr lang="en" sz="1300">
                <a:solidFill>
                  <a:srgbClr val="BCBEC4"/>
                </a:solidFill>
                <a:highlight>
                  <a:srgbClr val="1E1F22"/>
                </a:highlight>
                <a:latin typeface="Courier New"/>
                <a:ea typeface="Courier New"/>
                <a:cs typeface="Courier New"/>
                <a:sym typeface="Courier New"/>
              </a:rPr>
              <a:t>+ rsaPrivKeySpec.getPrivateExponent());</a:t>
            </a:r>
            <a:endParaRPr sz="13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700">
              <a:solidFill>
                <a:srgbClr val="CF8E6D"/>
              </a:solidFill>
              <a:highlight>
                <a:srgbClr val="1E1F22"/>
              </a:highlight>
              <a:latin typeface="Courier New"/>
              <a:ea typeface="Courier New"/>
              <a:cs typeface="Courier New"/>
              <a:sym typeface="Courier New"/>
            </a:endParaRPr>
          </a:p>
        </p:txBody>
      </p:sp>
      <p:sp>
        <p:nvSpPr>
          <p:cNvPr id="501" name="Google Shape;501;p57"/>
          <p:cNvSpPr txBox="1"/>
          <p:nvPr>
            <p:ph idx="4" type="subTitle"/>
          </p:nvPr>
        </p:nvSpPr>
        <p:spPr>
          <a:xfrm>
            <a:off x="44250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Code used to pull values from the keys generated</a:t>
            </a:r>
            <a:r>
              <a:rPr b="1" lang="en" sz="1800">
                <a:latin typeface="Arial"/>
                <a:ea typeface="Arial"/>
                <a:cs typeface="Arial"/>
                <a:sym typeface="Arial"/>
              </a:rPr>
              <a:t>:</a:t>
            </a:r>
            <a:endParaRPr b="1" sz="1800">
              <a:latin typeface="Arial"/>
              <a:ea typeface="Arial"/>
              <a:cs typeface="Arial"/>
              <a:sym typeface="Arial"/>
            </a:endParaRPr>
          </a:p>
        </p:txBody>
      </p:sp>
      <p:sp>
        <p:nvSpPr>
          <p:cNvPr id="502" name="Google Shape;502;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p58"/>
          <p:cNvGrpSpPr/>
          <p:nvPr/>
        </p:nvGrpSpPr>
        <p:grpSpPr>
          <a:xfrm>
            <a:off x="1375675" y="4387100"/>
            <a:ext cx="7890000" cy="0"/>
            <a:chOff x="2220050" y="1547100"/>
            <a:chExt cx="7890000" cy="0"/>
          </a:xfrm>
        </p:grpSpPr>
        <p:cxnSp>
          <p:nvCxnSpPr>
            <p:cNvPr id="508" name="Google Shape;508;p58"/>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509" name="Google Shape;509;p58"/>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510" name="Google Shape;510;p58"/>
          <p:cNvSpPr txBox="1"/>
          <p:nvPr>
            <p:ph idx="4" type="subTitle"/>
          </p:nvPr>
        </p:nvSpPr>
        <p:spPr>
          <a:xfrm>
            <a:off x="442500" y="271600"/>
            <a:ext cx="62517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2100">
                <a:latin typeface="Arial"/>
                <a:ea typeface="Arial"/>
                <a:cs typeface="Arial"/>
                <a:sym typeface="Arial"/>
              </a:rPr>
              <a:t>RSA</a:t>
            </a:r>
            <a:r>
              <a:rPr b="1" lang="en" sz="2100">
                <a:latin typeface="Arial"/>
                <a:ea typeface="Arial"/>
                <a:cs typeface="Arial"/>
                <a:sym typeface="Arial"/>
              </a:rPr>
              <a:t> Algorithm: </a:t>
            </a:r>
            <a:r>
              <a:rPr b="1" lang="en" sz="2100" u="sng">
                <a:latin typeface="Arial"/>
                <a:ea typeface="Arial"/>
                <a:cs typeface="Arial"/>
                <a:sym typeface="Arial"/>
              </a:rPr>
              <a:t>Implementation</a:t>
            </a:r>
            <a:endParaRPr b="1" sz="2100" u="sng">
              <a:latin typeface="Arial"/>
              <a:ea typeface="Arial"/>
              <a:cs typeface="Arial"/>
              <a:sym typeface="Arial"/>
            </a:endParaRPr>
          </a:p>
        </p:txBody>
      </p:sp>
      <p:sp>
        <p:nvSpPr>
          <p:cNvPr id="511" name="Google Shape;511;p58"/>
          <p:cNvSpPr txBox="1"/>
          <p:nvPr/>
        </p:nvSpPr>
        <p:spPr>
          <a:xfrm>
            <a:off x="442500" y="1494338"/>
            <a:ext cx="8721300" cy="347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F8E6D"/>
                </a:solidFill>
                <a:highlight>
                  <a:srgbClr val="1E1F22"/>
                </a:highlight>
                <a:latin typeface="Courier New"/>
                <a:ea typeface="Courier New"/>
                <a:cs typeface="Courier New"/>
                <a:sym typeface="Courier New"/>
              </a:rPr>
              <a:t>private byte</a:t>
            </a:r>
            <a:r>
              <a:rPr lang="en" sz="1000">
                <a:solidFill>
                  <a:srgbClr val="BCBEC4"/>
                </a:solidFill>
                <a:highlight>
                  <a:srgbClr val="1E1F22"/>
                </a:highlight>
                <a:latin typeface="Courier New"/>
                <a:ea typeface="Courier New"/>
                <a:cs typeface="Courier New"/>
                <a:sym typeface="Courier New"/>
              </a:rPr>
              <a:t>[] </a:t>
            </a:r>
            <a:r>
              <a:rPr lang="en" sz="1000">
                <a:solidFill>
                  <a:srgbClr val="56A8F5"/>
                </a:solidFill>
                <a:highlight>
                  <a:srgbClr val="1E1F22"/>
                </a:highlight>
                <a:latin typeface="Courier New"/>
                <a:ea typeface="Courier New"/>
                <a:cs typeface="Courier New"/>
                <a:sym typeface="Courier New"/>
              </a:rPr>
              <a:t>encryptData</a:t>
            </a:r>
            <a:r>
              <a:rPr lang="en" sz="1000">
                <a:solidFill>
                  <a:srgbClr val="BCBEC4"/>
                </a:solidFill>
                <a:highlight>
                  <a:srgbClr val="1E1F22"/>
                </a:highlight>
                <a:latin typeface="Courier New"/>
                <a:ea typeface="Courier New"/>
                <a:cs typeface="Courier New"/>
                <a:sym typeface="Courier New"/>
              </a:rPr>
              <a:t>(String data) </a:t>
            </a:r>
            <a:r>
              <a:rPr lang="en" sz="1000">
                <a:solidFill>
                  <a:srgbClr val="CF8E6D"/>
                </a:solidFill>
                <a:highlight>
                  <a:srgbClr val="1E1F22"/>
                </a:highlight>
                <a:latin typeface="Courier New"/>
                <a:ea typeface="Courier New"/>
                <a:cs typeface="Courier New"/>
                <a:sym typeface="Courier New"/>
              </a:rPr>
              <a:t>throws </a:t>
            </a:r>
            <a:r>
              <a:rPr lang="en" sz="1000">
                <a:solidFill>
                  <a:srgbClr val="BCBEC4"/>
                </a:solidFill>
                <a:highlight>
                  <a:srgbClr val="1E1F22"/>
                </a:highlight>
                <a:latin typeface="Courier New"/>
                <a:ea typeface="Courier New"/>
                <a:cs typeface="Courier New"/>
                <a:sym typeface="Courier New"/>
              </a:rPr>
              <a:t>IOException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System.</a:t>
            </a:r>
            <a:r>
              <a:rPr i="1" lang="en" sz="1000">
                <a:solidFill>
                  <a:srgbClr val="C77DBB"/>
                </a:solidFill>
                <a:highlight>
                  <a:srgbClr val="1E1F22"/>
                </a:highlight>
                <a:latin typeface="Courier New"/>
                <a:ea typeface="Courier New"/>
                <a:cs typeface="Courier New"/>
                <a:sym typeface="Courier New"/>
              </a:rPr>
              <a:t>out</a:t>
            </a:r>
            <a:r>
              <a:rPr lang="en" sz="1000">
                <a:solidFill>
                  <a:srgbClr val="BCBEC4"/>
                </a:solidFill>
                <a:highlight>
                  <a:srgbClr val="1E1F22"/>
                </a:highlight>
                <a:latin typeface="Courier New"/>
                <a:ea typeface="Courier New"/>
                <a:cs typeface="Courier New"/>
                <a:sym typeface="Courier New"/>
              </a:rPr>
              <a:t>.println(</a:t>
            </a:r>
            <a:r>
              <a:rPr lang="en" sz="1000">
                <a:solidFill>
                  <a:srgbClr val="6AAB73"/>
                </a:solidFill>
                <a:highlight>
                  <a:srgbClr val="1E1F22"/>
                </a:highlight>
                <a:latin typeface="Courier New"/>
                <a:ea typeface="Courier New"/>
                <a:cs typeface="Courier New"/>
                <a:sym typeface="Courier New"/>
              </a:rPr>
              <a:t>"</a:t>
            </a:r>
            <a:r>
              <a:rPr lang="en" sz="1000">
                <a:solidFill>
                  <a:srgbClr val="CF8E6D"/>
                </a:solidFill>
                <a:highlight>
                  <a:srgbClr val="1E1F22"/>
                </a:highlight>
                <a:latin typeface="Courier New"/>
                <a:ea typeface="Courier New"/>
                <a:cs typeface="Courier New"/>
                <a:sym typeface="Courier New"/>
              </a:rPr>
              <a:t>\n</a:t>
            </a:r>
            <a:r>
              <a:rPr lang="en" sz="1000">
                <a:solidFill>
                  <a:srgbClr val="6AAB73"/>
                </a:solidFill>
                <a:highlight>
                  <a:srgbClr val="1E1F22"/>
                </a:highlight>
                <a:latin typeface="Courier New"/>
                <a:ea typeface="Courier New"/>
                <a:cs typeface="Courier New"/>
                <a:sym typeface="Courier New"/>
              </a:rPr>
              <a:t>----------------ENCRYPTION STARTED------------"</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System.</a:t>
            </a:r>
            <a:r>
              <a:rPr i="1" lang="en" sz="1000">
                <a:solidFill>
                  <a:srgbClr val="C77DBB"/>
                </a:solidFill>
                <a:highlight>
                  <a:srgbClr val="1E1F22"/>
                </a:highlight>
                <a:latin typeface="Courier New"/>
                <a:ea typeface="Courier New"/>
                <a:cs typeface="Courier New"/>
                <a:sym typeface="Courier New"/>
              </a:rPr>
              <a:t>out</a:t>
            </a:r>
            <a:r>
              <a:rPr lang="en" sz="1000">
                <a:solidFill>
                  <a:srgbClr val="BCBEC4"/>
                </a:solidFill>
                <a:highlight>
                  <a:srgbClr val="1E1F22"/>
                </a:highlight>
                <a:latin typeface="Courier New"/>
                <a:ea typeface="Courier New"/>
                <a:cs typeface="Courier New"/>
                <a:sym typeface="Courier New"/>
              </a:rPr>
              <a:t>.println(</a:t>
            </a:r>
            <a:r>
              <a:rPr lang="en" sz="1000">
                <a:solidFill>
                  <a:srgbClr val="6AAB73"/>
                </a:solidFill>
                <a:highlight>
                  <a:srgbClr val="1E1F22"/>
                </a:highlight>
                <a:latin typeface="Courier New"/>
                <a:ea typeface="Courier New"/>
                <a:cs typeface="Courier New"/>
                <a:sym typeface="Courier New"/>
              </a:rPr>
              <a:t>"Data Before Encryption :" </a:t>
            </a:r>
            <a:r>
              <a:rPr lang="en" sz="1000">
                <a:solidFill>
                  <a:srgbClr val="BCBEC4"/>
                </a:solidFill>
                <a:highlight>
                  <a:srgbClr val="1E1F22"/>
                </a:highlight>
                <a:latin typeface="Courier New"/>
                <a:ea typeface="Courier New"/>
                <a:cs typeface="Courier New"/>
                <a:sym typeface="Courier New"/>
              </a:rPr>
              <a:t>+ data);</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a:t>
            </a:r>
            <a:r>
              <a:rPr lang="en" sz="1000">
                <a:solidFill>
                  <a:srgbClr val="CF8E6D"/>
                </a:solidFill>
                <a:highlight>
                  <a:srgbClr val="1E1F22"/>
                </a:highlight>
                <a:latin typeface="Courier New"/>
                <a:ea typeface="Courier New"/>
                <a:cs typeface="Courier New"/>
                <a:sym typeface="Courier New"/>
              </a:rPr>
              <a:t>byte</a:t>
            </a:r>
            <a:r>
              <a:rPr lang="en" sz="1000">
                <a:solidFill>
                  <a:srgbClr val="BCBEC4"/>
                </a:solidFill>
                <a:highlight>
                  <a:srgbClr val="1E1F22"/>
                </a:highlight>
                <a:latin typeface="Courier New"/>
                <a:ea typeface="Courier New"/>
                <a:cs typeface="Courier New"/>
                <a:sym typeface="Courier New"/>
              </a:rPr>
              <a:t>[] dataToEncrypt = data.getBytes();</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a:t>
            </a:r>
            <a:r>
              <a:rPr lang="en" sz="1000">
                <a:solidFill>
                  <a:srgbClr val="CF8E6D"/>
                </a:solidFill>
                <a:highlight>
                  <a:srgbClr val="1E1F22"/>
                </a:highlight>
                <a:latin typeface="Courier New"/>
                <a:ea typeface="Courier New"/>
                <a:cs typeface="Courier New"/>
                <a:sym typeface="Courier New"/>
              </a:rPr>
              <a:t>byte</a:t>
            </a:r>
            <a:r>
              <a:rPr lang="en" sz="1000">
                <a:solidFill>
                  <a:srgbClr val="BCBEC4"/>
                </a:solidFill>
                <a:highlight>
                  <a:srgbClr val="1E1F22"/>
                </a:highlight>
                <a:latin typeface="Courier New"/>
                <a:ea typeface="Courier New"/>
                <a:cs typeface="Courier New"/>
                <a:sym typeface="Courier New"/>
              </a:rPr>
              <a:t>[] encryptedData = </a:t>
            </a:r>
            <a:r>
              <a:rPr lang="en" sz="1000">
                <a:solidFill>
                  <a:srgbClr val="CF8E6D"/>
                </a:solidFill>
                <a:highlight>
                  <a:srgbClr val="1E1F22"/>
                </a:highlight>
                <a:latin typeface="Courier New"/>
                <a:ea typeface="Courier New"/>
                <a:cs typeface="Courier New"/>
                <a:sym typeface="Courier New"/>
              </a:rPr>
              <a:t>null</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a:t>
            </a:r>
            <a:r>
              <a:rPr lang="en" sz="1000">
                <a:solidFill>
                  <a:srgbClr val="CF8E6D"/>
                </a:solidFill>
                <a:highlight>
                  <a:srgbClr val="1E1F22"/>
                </a:highlight>
                <a:latin typeface="Courier New"/>
                <a:ea typeface="Courier New"/>
                <a:cs typeface="Courier New"/>
                <a:sym typeface="Courier New"/>
              </a:rPr>
              <a:t>try </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PublicKey pubKey = readPublicKeyFromFile(</a:t>
            </a:r>
            <a:r>
              <a:rPr i="1" lang="en" sz="1000">
                <a:solidFill>
                  <a:srgbClr val="C77DBB"/>
                </a:solidFill>
                <a:highlight>
                  <a:srgbClr val="1E1F22"/>
                </a:highlight>
                <a:latin typeface="Courier New"/>
                <a:ea typeface="Courier New"/>
                <a:cs typeface="Courier New"/>
                <a:sym typeface="Courier New"/>
              </a:rPr>
              <a:t>PUBLIC_KEY_FILE</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Cipher cipher = Cipher.</a:t>
            </a:r>
            <a:r>
              <a:rPr i="1" lang="en" sz="1000">
                <a:solidFill>
                  <a:srgbClr val="BCBEC4"/>
                </a:solidFill>
                <a:highlight>
                  <a:srgbClr val="1E1F22"/>
                </a:highlight>
                <a:latin typeface="Courier New"/>
                <a:ea typeface="Courier New"/>
                <a:cs typeface="Courier New"/>
                <a:sym typeface="Courier New"/>
              </a:rPr>
              <a:t>getInstance</a:t>
            </a:r>
            <a:r>
              <a:rPr lang="en" sz="1000">
                <a:solidFill>
                  <a:srgbClr val="BCBEC4"/>
                </a:solidFill>
                <a:highlight>
                  <a:srgbClr val="1E1F22"/>
                </a:highlight>
                <a:latin typeface="Courier New"/>
                <a:ea typeface="Courier New"/>
                <a:cs typeface="Courier New"/>
                <a:sym typeface="Courier New"/>
              </a:rPr>
              <a:t>(</a:t>
            </a:r>
            <a:r>
              <a:rPr lang="en" sz="1000">
                <a:solidFill>
                  <a:srgbClr val="6AAB73"/>
                </a:solidFill>
                <a:highlight>
                  <a:srgbClr val="1E1F22"/>
                </a:highlight>
                <a:latin typeface="Courier New"/>
                <a:ea typeface="Courier New"/>
                <a:cs typeface="Courier New"/>
                <a:sym typeface="Courier New"/>
              </a:rPr>
              <a:t>"RSA"</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cipher.init(Cipher.</a:t>
            </a:r>
            <a:r>
              <a:rPr i="1" lang="en" sz="1000">
                <a:solidFill>
                  <a:srgbClr val="C77DBB"/>
                </a:solidFill>
                <a:highlight>
                  <a:srgbClr val="1E1F22"/>
                </a:highlight>
                <a:latin typeface="Courier New"/>
                <a:ea typeface="Courier New"/>
                <a:cs typeface="Courier New"/>
                <a:sym typeface="Courier New"/>
              </a:rPr>
              <a:t>ENCRYPT_MODE</a:t>
            </a:r>
            <a:r>
              <a:rPr lang="en" sz="1000">
                <a:solidFill>
                  <a:srgbClr val="BCBEC4"/>
                </a:solidFill>
                <a:highlight>
                  <a:srgbClr val="1E1F22"/>
                </a:highlight>
                <a:latin typeface="Courier New"/>
                <a:ea typeface="Courier New"/>
                <a:cs typeface="Courier New"/>
                <a:sym typeface="Courier New"/>
              </a:rPr>
              <a:t>, pubKey);</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encryptedData = cipher.doFinal(dataToEncrypt);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System.</a:t>
            </a:r>
            <a:r>
              <a:rPr i="1" lang="en" sz="1000">
                <a:solidFill>
                  <a:srgbClr val="C77DBB"/>
                </a:solidFill>
                <a:highlight>
                  <a:srgbClr val="1E1F22"/>
                </a:highlight>
                <a:latin typeface="Courier New"/>
                <a:ea typeface="Courier New"/>
                <a:cs typeface="Courier New"/>
                <a:sym typeface="Courier New"/>
              </a:rPr>
              <a:t>out</a:t>
            </a:r>
            <a:r>
              <a:rPr lang="en" sz="1000">
                <a:solidFill>
                  <a:srgbClr val="BCBEC4"/>
                </a:solidFill>
                <a:highlight>
                  <a:srgbClr val="1E1F22"/>
                </a:highlight>
                <a:latin typeface="Courier New"/>
                <a:ea typeface="Courier New"/>
                <a:cs typeface="Courier New"/>
                <a:sym typeface="Courier New"/>
              </a:rPr>
              <a:t>.println(</a:t>
            </a:r>
            <a:r>
              <a:rPr lang="en" sz="1000">
                <a:solidFill>
                  <a:srgbClr val="6AAB73"/>
                </a:solidFill>
                <a:highlight>
                  <a:srgbClr val="1E1F22"/>
                </a:highlight>
                <a:latin typeface="Courier New"/>
                <a:ea typeface="Courier New"/>
                <a:cs typeface="Courier New"/>
                <a:sym typeface="Courier New"/>
              </a:rPr>
              <a:t>"Encryted Data: " </a:t>
            </a:r>
            <a:r>
              <a:rPr lang="en" sz="1000">
                <a:solidFill>
                  <a:srgbClr val="BCBEC4"/>
                </a:solidFill>
                <a:highlight>
                  <a:srgbClr val="1E1F22"/>
                </a:highlight>
                <a:latin typeface="Courier New"/>
                <a:ea typeface="Courier New"/>
                <a:cs typeface="Courier New"/>
                <a:sym typeface="Courier New"/>
              </a:rPr>
              <a:t>+ encryptedData);</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 </a:t>
            </a:r>
            <a:r>
              <a:rPr lang="en" sz="1000">
                <a:solidFill>
                  <a:srgbClr val="CF8E6D"/>
                </a:solidFill>
                <a:highlight>
                  <a:srgbClr val="1E1F22"/>
                </a:highlight>
                <a:latin typeface="Courier New"/>
                <a:ea typeface="Courier New"/>
                <a:cs typeface="Courier New"/>
                <a:sym typeface="Courier New"/>
              </a:rPr>
              <a:t>catch </a:t>
            </a:r>
            <a:r>
              <a:rPr lang="en" sz="1000">
                <a:solidFill>
                  <a:srgbClr val="BCBEC4"/>
                </a:solidFill>
                <a:highlight>
                  <a:srgbClr val="1E1F22"/>
                </a:highlight>
                <a:latin typeface="Courier New"/>
                <a:ea typeface="Courier New"/>
                <a:cs typeface="Courier New"/>
                <a:sym typeface="Courier New"/>
              </a:rPr>
              <a:t>(Exception e)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e.printStackTrace();</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System.</a:t>
            </a:r>
            <a:r>
              <a:rPr i="1" lang="en" sz="1000">
                <a:solidFill>
                  <a:srgbClr val="C77DBB"/>
                </a:solidFill>
                <a:highlight>
                  <a:srgbClr val="1E1F22"/>
                </a:highlight>
                <a:latin typeface="Courier New"/>
                <a:ea typeface="Courier New"/>
                <a:cs typeface="Courier New"/>
                <a:sym typeface="Courier New"/>
              </a:rPr>
              <a:t>out</a:t>
            </a:r>
            <a:r>
              <a:rPr lang="en" sz="1000">
                <a:solidFill>
                  <a:srgbClr val="BCBEC4"/>
                </a:solidFill>
                <a:highlight>
                  <a:srgbClr val="1E1F22"/>
                </a:highlight>
                <a:latin typeface="Courier New"/>
                <a:ea typeface="Courier New"/>
                <a:cs typeface="Courier New"/>
                <a:sym typeface="Courier New"/>
              </a:rPr>
              <a:t>.println(</a:t>
            </a:r>
            <a:r>
              <a:rPr lang="en" sz="1000">
                <a:solidFill>
                  <a:srgbClr val="6AAB73"/>
                </a:solidFill>
                <a:highlight>
                  <a:srgbClr val="1E1F22"/>
                </a:highlight>
                <a:latin typeface="Courier New"/>
                <a:ea typeface="Courier New"/>
                <a:cs typeface="Courier New"/>
                <a:sym typeface="Courier New"/>
              </a:rPr>
              <a:t>"----------------ENCRYPTION COMPLETED------------"</a:t>
            </a: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   </a:t>
            </a:r>
            <a:r>
              <a:rPr lang="en" sz="1000">
                <a:solidFill>
                  <a:srgbClr val="CF8E6D"/>
                </a:solidFill>
                <a:highlight>
                  <a:srgbClr val="1E1F22"/>
                </a:highlight>
                <a:latin typeface="Courier New"/>
                <a:ea typeface="Courier New"/>
                <a:cs typeface="Courier New"/>
                <a:sym typeface="Courier New"/>
              </a:rPr>
              <a:t>return </a:t>
            </a:r>
            <a:r>
              <a:rPr lang="en" sz="1000">
                <a:solidFill>
                  <a:srgbClr val="BCBEC4"/>
                </a:solidFill>
                <a:highlight>
                  <a:srgbClr val="1E1F22"/>
                </a:highlight>
                <a:latin typeface="Courier New"/>
                <a:ea typeface="Courier New"/>
                <a:cs typeface="Courier New"/>
                <a:sym typeface="Courier New"/>
              </a:rPr>
              <a:t>encryptedData;</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BCBEC4"/>
                </a:solidFill>
                <a:highlight>
                  <a:srgbClr val="1E1F22"/>
                </a:highlight>
                <a:latin typeface="Courier New"/>
                <a:ea typeface="Courier New"/>
                <a:cs typeface="Courier New"/>
                <a:sym typeface="Courier New"/>
              </a:rPr>
              <a:t>}</a:t>
            </a:r>
            <a:endParaRPr sz="10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a:solidFill>
                <a:srgbClr val="CF8E6D"/>
              </a:solidFill>
              <a:highlight>
                <a:srgbClr val="1E1F22"/>
              </a:highlight>
              <a:latin typeface="Courier New"/>
              <a:ea typeface="Courier New"/>
              <a:cs typeface="Courier New"/>
              <a:sym typeface="Courier New"/>
            </a:endParaRPr>
          </a:p>
        </p:txBody>
      </p:sp>
      <p:sp>
        <p:nvSpPr>
          <p:cNvPr id="512" name="Google Shape;512;p58"/>
          <p:cNvSpPr txBox="1"/>
          <p:nvPr>
            <p:ph idx="4" type="subTitle"/>
          </p:nvPr>
        </p:nvSpPr>
        <p:spPr>
          <a:xfrm>
            <a:off x="44250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Method used for </a:t>
            </a:r>
            <a:r>
              <a:rPr b="1" lang="en" sz="1800" u="sng">
                <a:latin typeface="Arial"/>
                <a:ea typeface="Arial"/>
                <a:cs typeface="Arial"/>
                <a:sym typeface="Arial"/>
              </a:rPr>
              <a:t>Encryption</a:t>
            </a:r>
            <a:r>
              <a:rPr b="1" lang="en" sz="1800">
                <a:latin typeface="Arial"/>
                <a:ea typeface="Arial"/>
                <a:cs typeface="Arial"/>
                <a:sym typeface="Arial"/>
              </a:rPr>
              <a:t>:</a:t>
            </a:r>
            <a:endParaRPr b="1" sz="1800">
              <a:latin typeface="Arial"/>
              <a:ea typeface="Arial"/>
              <a:cs typeface="Arial"/>
              <a:sym typeface="Arial"/>
            </a:endParaRPr>
          </a:p>
        </p:txBody>
      </p:sp>
      <p:sp>
        <p:nvSpPr>
          <p:cNvPr id="513" name="Google Shape;513;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grpSp>
        <p:nvGrpSpPr>
          <p:cNvPr id="518" name="Google Shape;518;p59"/>
          <p:cNvGrpSpPr/>
          <p:nvPr/>
        </p:nvGrpSpPr>
        <p:grpSpPr>
          <a:xfrm>
            <a:off x="1375675" y="4387100"/>
            <a:ext cx="7890000" cy="0"/>
            <a:chOff x="2220050" y="1547100"/>
            <a:chExt cx="7890000" cy="0"/>
          </a:xfrm>
        </p:grpSpPr>
        <p:cxnSp>
          <p:nvCxnSpPr>
            <p:cNvPr id="519" name="Google Shape;519;p59"/>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520" name="Google Shape;520;p59"/>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521" name="Google Shape;521;p59"/>
          <p:cNvSpPr txBox="1"/>
          <p:nvPr>
            <p:ph idx="4" type="subTitle"/>
          </p:nvPr>
        </p:nvSpPr>
        <p:spPr>
          <a:xfrm>
            <a:off x="442500" y="271600"/>
            <a:ext cx="62517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2100">
                <a:latin typeface="Arial"/>
                <a:ea typeface="Arial"/>
                <a:cs typeface="Arial"/>
                <a:sym typeface="Arial"/>
              </a:rPr>
              <a:t>RSA Algorithm: </a:t>
            </a:r>
            <a:r>
              <a:rPr b="1" lang="en" sz="2100" u="sng">
                <a:latin typeface="Arial"/>
                <a:ea typeface="Arial"/>
                <a:cs typeface="Arial"/>
                <a:sym typeface="Arial"/>
              </a:rPr>
              <a:t>Implementation</a:t>
            </a:r>
            <a:endParaRPr b="1" sz="2100" u="sng">
              <a:latin typeface="Arial"/>
              <a:ea typeface="Arial"/>
              <a:cs typeface="Arial"/>
              <a:sym typeface="Arial"/>
            </a:endParaRPr>
          </a:p>
        </p:txBody>
      </p:sp>
      <p:sp>
        <p:nvSpPr>
          <p:cNvPr id="522" name="Google Shape;522;p59"/>
          <p:cNvSpPr txBox="1"/>
          <p:nvPr/>
        </p:nvSpPr>
        <p:spPr>
          <a:xfrm>
            <a:off x="442500" y="1494338"/>
            <a:ext cx="8721300" cy="329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CF8E6D"/>
                </a:solidFill>
                <a:highlight>
                  <a:srgbClr val="1E1F22"/>
                </a:highlight>
                <a:latin typeface="Courier New"/>
                <a:ea typeface="Courier New"/>
                <a:cs typeface="Courier New"/>
                <a:sym typeface="Courier New"/>
              </a:rPr>
              <a:t>private void </a:t>
            </a:r>
            <a:r>
              <a:rPr lang="en" sz="1100">
                <a:solidFill>
                  <a:srgbClr val="56A8F5"/>
                </a:solidFill>
                <a:highlight>
                  <a:srgbClr val="1E1F22"/>
                </a:highlight>
                <a:latin typeface="Courier New"/>
                <a:ea typeface="Courier New"/>
                <a:cs typeface="Courier New"/>
                <a:sym typeface="Courier New"/>
              </a:rPr>
              <a:t>decryptData</a:t>
            </a:r>
            <a:r>
              <a:rPr lang="en" sz="1100">
                <a:solidFill>
                  <a:srgbClr val="BCBEC4"/>
                </a:solidFill>
                <a:highlight>
                  <a:srgbClr val="1E1F22"/>
                </a:highlight>
                <a:latin typeface="Courier New"/>
                <a:ea typeface="Courier New"/>
                <a:cs typeface="Courier New"/>
                <a:sym typeface="Courier New"/>
              </a:rPr>
              <a:t>(</a:t>
            </a:r>
            <a:r>
              <a:rPr lang="en" sz="1100">
                <a:solidFill>
                  <a:srgbClr val="CF8E6D"/>
                </a:solidFill>
                <a:highlight>
                  <a:srgbClr val="1E1F22"/>
                </a:highlight>
                <a:latin typeface="Courier New"/>
                <a:ea typeface="Courier New"/>
                <a:cs typeface="Courier New"/>
                <a:sym typeface="Courier New"/>
              </a:rPr>
              <a:t>byte</a:t>
            </a:r>
            <a:r>
              <a:rPr lang="en" sz="1100">
                <a:solidFill>
                  <a:srgbClr val="BCBEC4"/>
                </a:solidFill>
                <a:highlight>
                  <a:srgbClr val="1E1F22"/>
                </a:highlight>
                <a:latin typeface="Courier New"/>
                <a:ea typeface="Courier New"/>
                <a:cs typeface="Courier New"/>
                <a:sym typeface="Courier New"/>
              </a:rPr>
              <a:t>[] data) </a:t>
            </a:r>
            <a:r>
              <a:rPr lang="en" sz="1100">
                <a:solidFill>
                  <a:srgbClr val="CF8E6D"/>
                </a:solidFill>
                <a:highlight>
                  <a:srgbClr val="1E1F22"/>
                </a:highlight>
                <a:latin typeface="Courier New"/>
                <a:ea typeface="Courier New"/>
                <a:cs typeface="Courier New"/>
                <a:sym typeface="Courier New"/>
              </a:rPr>
              <a:t>throws </a:t>
            </a:r>
            <a:r>
              <a:rPr lang="en" sz="1100">
                <a:solidFill>
                  <a:srgbClr val="BCBEC4"/>
                </a:solidFill>
                <a:highlight>
                  <a:srgbClr val="1E1F22"/>
                </a:highlight>
                <a:latin typeface="Courier New"/>
                <a:ea typeface="Courier New"/>
                <a:cs typeface="Courier New"/>
                <a:sym typeface="Courier New"/>
              </a:rPr>
              <a:t>IOException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System.</a:t>
            </a:r>
            <a:r>
              <a:rPr i="1" lang="en" sz="1100">
                <a:solidFill>
                  <a:srgbClr val="C77DBB"/>
                </a:solidFill>
                <a:highlight>
                  <a:srgbClr val="1E1F22"/>
                </a:highlight>
                <a:latin typeface="Courier New"/>
                <a:ea typeface="Courier New"/>
                <a:cs typeface="Courier New"/>
                <a:sym typeface="Courier New"/>
              </a:rPr>
              <a:t>out</a:t>
            </a:r>
            <a:r>
              <a:rPr lang="en" sz="1100">
                <a:solidFill>
                  <a:srgbClr val="BCBEC4"/>
                </a:solidFill>
                <a:highlight>
                  <a:srgbClr val="1E1F22"/>
                </a:highlight>
                <a:latin typeface="Courier New"/>
                <a:ea typeface="Courier New"/>
                <a:cs typeface="Courier New"/>
                <a:sym typeface="Courier New"/>
              </a:rPr>
              <a:t>.println(</a:t>
            </a:r>
            <a:r>
              <a:rPr lang="en" sz="1100">
                <a:solidFill>
                  <a:srgbClr val="6AAB73"/>
                </a:solidFill>
                <a:highlight>
                  <a:srgbClr val="1E1F22"/>
                </a:highlight>
                <a:latin typeface="Courier New"/>
                <a:ea typeface="Courier New"/>
                <a:cs typeface="Courier New"/>
                <a:sym typeface="Courier New"/>
              </a:rPr>
              <a:t>"</a:t>
            </a:r>
            <a:r>
              <a:rPr lang="en" sz="1100">
                <a:solidFill>
                  <a:srgbClr val="CF8E6D"/>
                </a:solidFill>
                <a:highlight>
                  <a:srgbClr val="1E1F22"/>
                </a:highlight>
                <a:latin typeface="Courier New"/>
                <a:ea typeface="Courier New"/>
                <a:cs typeface="Courier New"/>
                <a:sym typeface="Courier New"/>
              </a:rPr>
              <a:t>\n</a:t>
            </a:r>
            <a:r>
              <a:rPr lang="en" sz="1100">
                <a:solidFill>
                  <a:srgbClr val="6AAB73"/>
                </a:solidFill>
                <a:highlight>
                  <a:srgbClr val="1E1F22"/>
                </a:highlight>
                <a:latin typeface="Courier New"/>
                <a:ea typeface="Courier New"/>
                <a:cs typeface="Courier New"/>
                <a:sym typeface="Courier New"/>
              </a:rPr>
              <a:t>----------------DECRYPTION STARTED------------"</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a:t>
            </a:r>
            <a:r>
              <a:rPr lang="en" sz="1100">
                <a:solidFill>
                  <a:srgbClr val="CF8E6D"/>
                </a:solidFill>
                <a:highlight>
                  <a:srgbClr val="1E1F22"/>
                </a:highlight>
                <a:latin typeface="Courier New"/>
                <a:ea typeface="Courier New"/>
                <a:cs typeface="Courier New"/>
                <a:sym typeface="Courier New"/>
              </a:rPr>
              <a:t>byte</a:t>
            </a:r>
            <a:r>
              <a:rPr lang="en" sz="1100">
                <a:solidFill>
                  <a:srgbClr val="BCBEC4"/>
                </a:solidFill>
                <a:highlight>
                  <a:srgbClr val="1E1F22"/>
                </a:highlight>
                <a:latin typeface="Courier New"/>
                <a:ea typeface="Courier New"/>
                <a:cs typeface="Courier New"/>
                <a:sym typeface="Courier New"/>
              </a:rPr>
              <a:t>[] descryptedData = </a:t>
            </a:r>
            <a:r>
              <a:rPr lang="en" sz="1100">
                <a:solidFill>
                  <a:srgbClr val="CF8E6D"/>
                </a:solidFill>
                <a:highlight>
                  <a:srgbClr val="1E1F22"/>
                </a:highlight>
                <a:latin typeface="Courier New"/>
                <a:ea typeface="Courier New"/>
                <a:cs typeface="Courier New"/>
                <a:sym typeface="Courier New"/>
              </a:rPr>
              <a:t>null</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a:t>
            </a:r>
            <a:r>
              <a:rPr lang="en" sz="1100">
                <a:solidFill>
                  <a:srgbClr val="CF8E6D"/>
                </a:solidFill>
                <a:highlight>
                  <a:srgbClr val="1E1F22"/>
                </a:highlight>
                <a:latin typeface="Courier New"/>
                <a:ea typeface="Courier New"/>
                <a:cs typeface="Courier New"/>
                <a:sym typeface="Courier New"/>
              </a:rPr>
              <a:t>try </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PrivateKey privateKey = readPrivateKeyFromFile(</a:t>
            </a:r>
            <a:r>
              <a:rPr i="1" lang="en" sz="1100">
                <a:solidFill>
                  <a:srgbClr val="C77DBB"/>
                </a:solidFill>
                <a:highlight>
                  <a:srgbClr val="1E1F22"/>
                </a:highlight>
                <a:latin typeface="Courier New"/>
                <a:ea typeface="Courier New"/>
                <a:cs typeface="Courier New"/>
                <a:sym typeface="Courier New"/>
              </a:rPr>
              <a:t>PRIVATE_KEY_FILE</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Cipher cipher = Cipher.</a:t>
            </a:r>
            <a:r>
              <a:rPr i="1" lang="en" sz="1100">
                <a:solidFill>
                  <a:srgbClr val="BCBEC4"/>
                </a:solidFill>
                <a:highlight>
                  <a:srgbClr val="1E1F22"/>
                </a:highlight>
                <a:latin typeface="Courier New"/>
                <a:ea typeface="Courier New"/>
                <a:cs typeface="Courier New"/>
                <a:sym typeface="Courier New"/>
              </a:rPr>
              <a:t>getInstance</a:t>
            </a:r>
            <a:r>
              <a:rPr lang="en" sz="1100">
                <a:solidFill>
                  <a:srgbClr val="BCBEC4"/>
                </a:solidFill>
                <a:highlight>
                  <a:srgbClr val="1E1F22"/>
                </a:highlight>
                <a:latin typeface="Courier New"/>
                <a:ea typeface="Courier New"/>
                <a:cs typeface="Courier New"/>
                <a:sym typeface="Courier New"/>
              </a:rPr>
              <a:t>(</a:t>
            </a:r>
            <a:r>
              <a:rPr lang="en" sz="1100">
                <a:solidFill>
                  <a:srgbClr val="6AAB73"/>
                </a:solidFill>
                <a:highlight>
                  <a:srgbClr val="1E1F22"/>
                </a:highlight>
                <a:latin typeface="Courier New"/>
                <a:ea typeface="Courier New"/>
                <a:cs typeface="Courier New"/>
                <a:sym typeface="Courier New"/>
              </a:rPr>
              <a:t>"RSA"</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cipher.init(Cipher.</a:t>
            </a:r>
            <a:r>
              <a:rPr i="1" lang="en" sz="1100">
                <a:solidFill>
                  <a:srgbClr val="C77DBB"/>
                </a:solidFill>
                <a:highlight>
                  <a:srgbClr val="1E1F22"/>
                </a:highlight>
                <a:latin typeface="Courier New"/>
                <a:ea typeface="Courier New"/>
                <a:cs typeface="Courier New"/>
                <a:sym typeface="Courier New"/>
              </a:rPr>
              <a:t>DECRYPT_MODE</a:t>
            </a:r>
            <a:r>
              <a:rPr lang="en" sz="1100">
                <a:solidFill>
                  <a:srgbClr val="BCBEC4"/>
                </a:solidFill>
                <a:highlight>
                  <a:srgbClr val="1E1F22"/>
                </a:highlight>
                <a:latin typeface="Courier New"/>
                <a:ea typeface="Courier New"/>
                <a:cs typeface="Courier New"/>
                <a:sym typeface="Courier New"/>
              </a:rPr>
              <a:t>, privateKey);</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descryptedData = cipher.doFinal(data);</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System.</a:t>
            </a:r>
            <a:r>
              <a:rPr i="1" lang="en" sz="1100">
                <a:solidFill>
                  <a:srgbClr val="C77DBB"/>
                </a:solidFill>
                <a:highlight>
                  <a:srgbClr val="1E1F22"/>
                </a:highlight>
                <a:latin typeface="Courier New"/>
                <a:ea typeface="Courier New"/>
                <a:cs typeface="Courier New"/>
                <a:sym typeface="Courier New"/>
              </a:rPr>
              <a:t>out</a:t>
            </a:r>
            <a:r>
              <a:rPr lang="en" sz="1100">
                <a:solidFill>
                  <a:srgbClr val="BCBEC4"/>
                </a:solidFill>
                <a:highlight>
                  <a:srgbClr val="1E1F22"/>
                </a:highlight>
                <a:latin typeface="Courier New"/>
                <a:ea typeface="Courier New"/>
                <a:cs typeface="Courier New"/>
                <a:sym typeface="Courier New"/>
              </a:rPr>
              <a:t>.println(</a:t>
            </a:r>
            <a:r>
              <a:rPr lang="en" sz="1100">
                <a:solidFill>
                  <a:srgbClr val="6AAB73"/>
                </a:solidFill>
                <a:highlight>
                  <a:srgbClr val="1E1F22"/>
                </a:highlight>
                <a:latin typeface="Courier New"/>
                <a:ea typeface="Courier New"/>
                <a:cs typeface="Courier New"/>
                <a:sym typeface="Courier New"/>
              </a:rPr>
              <a:t>"Decrypted Data: " </a:t>
            </a:r>
            <a:r>
              <a:rPr lang="en" sz="1100">
                <a:solidFill>
                  <a:srgbClr val="BCBEC4"/>
                </a:solidFill>
                <a:highlight>
                  <a:srgbClr val="1E1F22"/>
                </a:highlight>
                <a:latin typeface="Courier New"/>
                <a:ea typeface="Courier New"/>
                <a:cs typeface="Courier New"/>
                <a:sym typeface="Courier New"/>
              </a:rPr>
              <a:t>+ </a:t>
            </a:r>
            <a:r>
              <a:rPr lang="en" sz="1100">
                <a:solidFill>
                  <a:srgbClr val="CF8E6D"/>
                </a:solidFill>
                <a:highlight>
                  <a:srgbClr val="1E1F22"/>
                </a:highlight>
                <a:latin typeface="Courier New"/>
                <a:ea typeface="Courier New"/>
                <a:cs typeface="Courier New"/>
                <a:sym typeface="Courier New"/>
              </a:rPr>
              <a:t>new </a:t>
            </a:r>
            <a:r>
              <a:rPr lang="en" sz="1100">
                <a:solidFill>
                  <a:srgbClr val="BCBEC4"/>
                </a:solidFill>
                <a:highlight>
                  <a:srgbClr val="1E1F22"/>
                </a:highlight>
                <a:latin typeface="Courier New"/>
                <a:ea typeface="Courier New"/>
                <a:cs typeface="Courier New"/>
                <a:sym typeface="Courier New"/>
              </a:rPr>
              <a:t>String(descryptedData));</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 </a:t>
            </a:r>
            <a:r>
              <a:rPr lang="en" sz="1100">
                <a:solidFill>
                  <a:srgbClr val="CF8E6D"/>
                </a:solidFill>
                <a:highlight>
                  <a:srgbClr val="1E1F22"/>
                </a:highlight>
                <a:latin typeface="Courier New"/>
                <a:ea typeface="Courier New"/>
                <a:cs typeface="Courier New"/>
                <a:sym typeface="Courier New"/>
              </a:rPr>
              <a:t>catch </a:t>
            </a:r>
            <a:r>
              <a:rPr lang="en" sz="1100">
                <a:solidFill>
                  <a:srgbClr val="BCBEC4"/>
                </a:solidFill>
                <a:highlight>
                  <a:srgbClr val="1E1F22"/>
                </a:highlight>
                <a:latin typeface="Courier New"/>
                <a:ea typeface="Courier New"/>
                <a:cs typeface="Courier New"/>
                <a:sym typeface="Courier New"/>
              </a:rPr>
              <a:t>(Exception e)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e.printStackTrace();</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   System.</a:t>
            </a:r>
            <a:r>
              <a:rPr i="1" lang="en" sz="1100">
                <a:solidFill>
                  <a:srgbClr val="C77DBB"/>
                </a:solidFill>
                <a:highlight>
                  <a:srgbClr val="1E1F22"/>
                </a:highlight>
                <a:latin typeface="Courier New"/>
                <a:ea typeface="Courier New"/>
                <a:cs typeface="Courier New"/>
                <a:sym typeface="Courier New"/>
              </a:rPr>
              <a:t>out</a:t>
            </a:r>
            <a:r>
              <a:rPr lang="en" sz="1100">
                <a:solidFill>
                  <a:srgbClr val="BCBEC4"/>
                </a:solidFill>
                <a:highlight>
                  <a:srgbClr val="1E1F22"/>
                </a:highlight>
                <a:latin typeface="Courier New"/>
                <a:ea typeface="Courier New"/>
                <a:cs typeface="Courier New"/>
                <a:sym typeface="Courier New"/>
              </a:rPr>
              <a:t>.println(</a:t>
            </a:r>
            <a:r>
              <a:rPr lang="en" sz="1100">
                <a:solidFill>
                  <a:srgbClr val="6AAB73"/>
                </a:solidFill>
                <a:highlight>
                  <a:srgbClr val="1E1F22"/>
                </a:highlight>
                <a:latin typeface="Courier New"/>
                <a:ea typeface="Courier New"/>
                <a:cs typeface="Courier New"/>
                <a:sym typeface="Courier New"/>
              </a:rPr>
              <a:t>"----------------DECRYPTION COMPLETED------------"</a:t>
            </a: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rPr lang="en" sz="1100">
                <a:solidFill>
                  <a:srgbClr val="BCBEC4"/>
                </a:solidFill>
                <a:highlight>
                  <a:srgbClr val="1E1F22"/>
                </a:highlight>
                <a:latin typeface="Courier New"/>
                <a:ea typeface="Courier New"/>
                <a:cs typeface="Courier New"/>
                <a:sym typeface="Courier New"/>
              </a:rPr>
              <a:t>}</a:t>
            </a:r>
            <a:endParaRPr sz="1100">
              <a:solidFill>
                <a:srgbClr val="BCBEC4"/>
              </a:solidFill>
              <a:highlight>
                <a:srgbClr val="1E1F22"/>
              </a:highlight>
              <a:latin typeface="Courier New"/>
              <a:ea typeface="Courier New"/>
              <a:cs typeface="Courier New"/>
              <a:sym typeface="Courier New"/>
            </a:endParaRPr>
          </a:p>
          <a:p>
            <a:pPr indent="0" lvl="0" marL="0" rtl="0" algn="l">
              <a:spcBef>
                <a:spcPts val="0"/>
              </a:spcBef>
              <a:spcAft>
                <a:spcPts val="0"/>
              </a:spcAft>
              <a:buNone/>
            </a:pPr>
            <a:r>
              <a:t/>
            </a:r>
            <a:endParaRPr sz="1500">
              <a:solidFill>
                <a:srgbClr val="CF8E6D"/>
              </a:solidFill>
              <a:highlight>
                <a:srgbClr val="1E1F22"/>
              </a:highlight>
              <a:latin typeface="Courier New"/>
              <a:ea typeface="Courier New"/>
              <a:cs typeface="Courier New"/>
              <a:sym typeface="Courier New"/>
            </a:endParaRPr>
          </a:p>
        </p:txBody>
      </p:sp>
      <p:sp>
        <p:nvSpPr>
          <p:cNvPr id="523" name="Google Shape;523;p59"/>
          <p:cNvSpPr txBox="1"/>
          <p:nvPr>
            <p:ph idx="4" type="subTitle"/>
          </p:nvPr>
        </p:nvSpPr>
        <p:spPr>
          <a:xfrm>
            <a:off x="44250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Method used for </a:t>
            </a:r>
            <a:r>
              <a:rPr b="1" lang="en" sz="1800" u="sng">
                <a:latin typeface="Arial"/>
                <a:ea typeface="Arial"/>
                <a:cs typeface="Arial"/>
                <a:sym typeface="Arial"/>
              </a:rPr>
              <a:t>Decryption</a:t>
            </a:r>
            <a:r>
              <a:rPr b="1" lang="en" sz="1800">
                <a:latin typeface="Arial"/>
                <a:ea typeface="Arial"/>
                <a:cs typeface="Arial"/>
                <a:sym typeface="Arial"/>
              </a:rPr>
              <a:t>:</a:t>
            </a:r>
            <a:endParaRPr b="1" sz="1800">
              <a:latin typeface="Arial"/>
              <a:ea typeface="Arial"/>
              <a:cs typeface="Arial"/>
              <a:sym typeface="Arial"/>
            </a:endParaRPr>
          </a:p>
        </p:txBody>
      </p:sp>
      <p:sp>
        <p:nvSpPr>
          <p:cNvPr id="524" name="Google Shape;524;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grpSp>
        <p:nvGrpSpPr>
          <p:cNvPr id="529" name="Google Shape;529;p60"/>
          <p:cNvGrpSpPr/>
          <p:nvPr/>
        </p:nvGrpSpPr>
        <p:grpSpPr>
          <a:xfrm>
            <a:off x="1223275" y="4387100"/>
            <a:ext cx="7890000" cy="0"/>
            <a:chOff x="2220050" y="1547100"/>
            <a:chExt cx="7890000" cy="0"/>
          </a:xfrm>
        </p:grpSpPr>
        <p:cxnSp>
          <p:nvCxnSpPr>
            <p:cNvPr id="530" name="Google Shape;530;p60"/>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531" name="Google Shape;531;p60"/>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532" name="Google Shape;532;p60"/>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Recent </a:t>
            </a:r>
            <a:r>
              <a:rPr lang="en" sz="2100" u="sng">
                <a:latin typeface="Arial"/>
                <a:ea typeface="Arial"/>
                <a:cs typeface="Arial"/>
                <a:sym typeface="Arial"/>
              </a:rPr>
              <a:t>Progress</a:t>
            </a:r>
            <a:endParaRPr sz="2100" u="sng">
              <a:latin typeface="Arial"/>
              <a:ea typeface="Arial"/>
              <a:cs typeface="Arial"/>
              <a:sym typeface="Arial"/>
            </a:endParaRPr>
          </a:p>
        </p:txBody>
      </p:sp>
      <p:sp>
        <p:nvSpPr>
          <p:cNvPr id="533" name="Google Shape;533;p60"/>
          <p:cNvSpPr txBox="1"/>
          <p:nvPr>
            <p:ph idx="4" type="subTitle"/>
          </p:nvPr>
        </p:nvSpPr>
        <p:spPr>
          <a:xfrm>
            <a:off x="764550" y="985075"/>
            <a:ext cx="7141200" cy="38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400"/>
              <a:buNone/>
            </a:pPr>
            <a:r>
              <a:rPr b="1" lang="en" sz="1800">
                <a:latin typeface="Arial"/>
                <a:ea typeface="Arial"/>
                <a:cs typeface="Arial"/>
                <a:sym typeface="Arial"/>
              </a:rPr>
              <a:t>RSA</a:t>
            </a:r>
            <a:r>
              <a:rPr b="1" lang="en" sz="1800">
                <a:latin typeface="Arial"/>
                <a:ea typeface="Arial"/>
                <a:cs typeface="Arial"/>
                <a:sym typeface="Arial"/>
              </a:rPr>
              <a:t> Algorithm: </a:t>
            </a:r>
            <a:r>
              <a:rPr b="1" lang="en" sz="1800" u="sng">
                <a:latin typeface="Arial"/>
                <a:ea typeface="Arial"/>
                <a:cs typeface="Arial"/>
                <a:sym typeface="Arial"/>
              </a:rPr>
              <a:t>Output</a:t>
            </a:r>
            <a:endParaRPr b="1" sz="1800" u="sng">
              <a:latin typeface="Arial"/>
              <a:ea typeface="Arial"/>
              <a:cs typeface="Arial"/>
              <a:sym typeface="Arial"/>
            </a:endParaRPr>
          </a:p>
        </p:txBody>
      </p:sp>
      <p:sp>
        <p:nvSpPr>
          <p:cNvPr id="534" name="Google Shape;534;p60"/>
          <p:cNvSpPr txBox="1"/>
          <p:nvPr/>
        </p:nvSpPr>
        <p:spPr>
          <a:xfrm>
            <a:off x="1628150" y="1866525"/>
            <a:ext cx="56457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t>Original</a:t>
            </a:r>
            <a:r>
              <a:rPr lang="en" sz="1800"/>
              <a:t>: 		This is a classified information!</a:t>
            </a:r>
            <a:endParaRPr sz="1800"/>
          </a:p>
          <a:p>
            <a:pPr indent="0" lvl="0" marL="0" rtl="0" algn="l">
              <a:lnSpc>
                <a:spcPct val="115000"/>
              </a:lnSpc>
              <a:spcBef>
                <a:spcPts val="0"/>
              </a:spcBef>
              <a:spcAft>
                <a:spcPts val="0"/>
              </a:spcAft>
              <a:buNone/>
            </a:pPr>
            <a:r>
              <a:rPr b="1" lang="en" sz="1800"/>
              <a:t>Encrypted</a:t>
            </a:r>
            <a:r>
              <a:rPr lang="en" sz="1800"/>
              <a:t>: 		[B@2d6d8735</a:t>
            </a:r>
            <a:endParaRPr sz="1800"/>
          </a:p>
          <a:p>
            <a:pPr indent="0" lvl="0" marL="0" rtl="0" algn="l">
              <a:lnSpc>
                <a:spcPct val="115000"/>
              </a:lnSpc>
              <a:spcBef>
                <a:spcPts val="0"/>
              </a:spcBef>
              <a:spcAft>
                <a:spcPts val="0"/>
              </a:spcAft>
              <a:buNone/>
            </a:pPr>
            <a:r>
              <a:rPr b="1" lang="en" sz="1800"/>
              <a:t>Decrypted</a:t>
            </a:r>
            <a:r>
              <a:rPr lang="en" sz="1800"/>
              <a:t>: 		</a:t>
            </a:r>
            <a:r>
              <a:rPr lang="en" sz="1800"/>
              <a:t>This is a classified information!</a:t>
            </a:r>
            <a:endParaRPr sz="1800"/>
          </a:p>
        </p:txBody>
      </p:sp>
      <p:sp>
        <p:nvSpPr>
          <p:cNvPr id="535" name="Google Shape;535;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grpSp>
        <p:nvGrpSpPr>
          <p:cNvPr id="540" name="Google Shape;540;p61"/>
          <p:cNvGrpSpPr/>
          <p:nvPr/>
        </p:nvGrpSpPr>
        <p:grpSpPr>
          <a:xfrm>
            <a:off x="1375675" y="4387100"/>
            <a:ext cx="7890000" cy="0"/>
            <a:chOff x="2220050" y="1547100"/>
            <a:chExt cx="7890000" cy="0"/>
          </a:xfrm>
        </p:grpSpPr>
        <p:cxnSp>
          <p:nvCxnSpPr>
            <p:cNvPr id="541" name="Google Shape;541;p61"/>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542" name="Google Shape;542;p61"/>
            <p:cNvCxnSpPr/>
            <p:nvPr/>
          </p:nvCxnSpPr>
          <p:spPr>
            <a:xfrm>
              <a:off x="2684450" y="1547100"/>
              <a:ext cx="7425600" cy="0"/>
            </a:xfrm>
            <a:prstGeom prst="straightConnector1">
              <a:avLst/>
            </a:prstGeom>
            <a:noFill/>
            <a:ln cap="flat" cmpd="sng" w="9525">
              <a:solidFill>
                <a:schemeClr val="dk1"/>
              </a:solidFill>
              <a:prstDash val="solid"/>
              <a:round/>
              <a:headEnd len="sm" w="sm" type="none"/>
              <a:tailEnd len="sm" w="sm" type="none"/>
            </a:ln>
          </p:spPr>
        </p:cxnSp>
      </p:grpSp>
      <p:sp>
        <p:nvSpPr>
          <p:cNvPr id="543" name="Google Shape;543;p61"/>
          <p:cNvSpPr txBox="1"/>
          <p:nvPr/>
        </p:nvSpPr>
        <p:spPr>
          <a:xfrm>
            <a:off x="599450" y="1184925"/>
            <a:ext cx="83004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Times New Roman"/>
              <a:buChar char="●"/>
            </a:pPr>
            <a:r>
              <a:rPr lang="en" sz="1600"/>
              <a:t>The next step would be implementing the </a:t>
            </a:r>
            <a:r>
              <a:rPr b="1" lang="en" sz="1600"/>
              <a:t>RSA </a:t>
            </a:r>
            <a:r>
              <a:rPr lang="en" sz="1600"/>
              <a:t>algorithm using a programming language like </a:t>
            </a:r>
            <a:r>
              <a:rPr b="1" lang="en" sz="1600"/>
              <a:t>JAVA </a:t>
            </a:r>
            <a:r>
              <a:rPr lang="en" sz="1600"/>
              <a:t>and the client side language like </a:t>
            </a:r>
            <a:r>
              <a:rPr b="1" lang="en" sz="1600"/>
              <a:t>JavaScript </a:t>
            </a:r>
            <a:r>
              <a:rPr lang="en" sz="1600"/>
              <a:t>and </a:t>
            </a:r>
            <a:r>
              <a:rPr lang="en" sz="1600"/>
              <a:t>observing</a:t>
            </a:r>
            <a:r>
              <a:rPr lang="en" sz="1600"/>
              <a:t> the merits and limitations just like the AES Algorithm.</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n" sz="1600"/>
              <a:t>Also, to find, read and review more papers related to the subject and to prepare the draft paper accordingly.</a:t>
            </a:r>
            <a:endParaRPr sz="1600"/>
          </a:p>
        </p:txBody>
      </p:sp>
      <p:sp>
        <p:nvSpPr>
          <p:cNvPr id="544" name="Google Shape;544;p61"/>
          <p:cNvSpPr txBox="1"/>
          <p:nvPr>
            <p:ph type="title"/>
          </p:nvPr>
        </p:nvSpPr>
        <p:spPr>
          <a:xfrm>
            <a:off x="523500" y="286225"/>
            <a:ext cx="52128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100" u="sng">
                <a:latin typeface="Arial"/>
                <a:ea typeface="Arial"/>
                <a:cs typeface="Arial"/>
                <a:sym typeface="Arial"/>
              </a:rPr>
              <a:t>Next Steps</a:t>
            </a:r>
            <a:endParaRPr sz="2100" u="sng">
              <a:latin typeface="Arial"/>
              <a:ea typeface="Arial"/>
              <a:cs typeface="Arial"/>
              <a:sym typeface="Arial"/>
            </a:endParaRPr>
          </a:p>
        </p:txBody>
      </p:sp>
      <p:sp>
        <p:nvSpPr>
          <p:cNvPr id="545" name="Google Shape;545;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2"/>
          <p:cNvSpPr txBox="1"/>
          <p:nvPr>
            <p:ph type="title"/>
          </p:nvPr>
        </p:nvSpPr>
        <p:spPr>
          <a:xfrm>
            <a:off x="713250" y="0"/>
            <a:ext cx="46359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2800"/>
              <a:buFont typeface="Arial"/>
              <a:buNone/>
            </a:pPr>
            <a:r>
              <a:rPr lang="en" sz="2200" u="sng">
                <a:latin typeface="Arial"/>
                <a:ea typeface="Arial"/>
                <a:cs typeface="Arial"/>
                <a:sym typeface="Arial"/>
              </a:rPr>
              <a:t>References</a:t>
            </a:r>
            <a:endParaRPr sz="2200" u="sng">
              <a:latin typeface="Arial"/>
              <a:ea typeface="Arial"/>
              <a:cs typeface="Arial"/>
              <a:sym typeface="Arial"/>
            </a:endParaRPr>
          </a:p>
        </p:txBody>
      </p:sp>
      <p:sp>
        <p:nvSpPr>
          <p:cNvPr id="551" name="Google Shape;551;p62"/>
          <p:cNvSpPr txBox="1"/>
          <p:nvPr/>
        </p:nvSpPr>
        <p:spPr>
          <a:xfrm>
            <a:off x="609800" y="512575"/>
            <a:ext cx="8192400" cy="3870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t>[1] Muller, M. A., Grundy, I., &amp; Morsy, J. (2014). An analysis of the cloud computing security problem. Int. Surg, 47(3), 288-290.</a:t>
            </a:r>
            <a:endParaRPr/>
          </a:p>
          <a:p>
            <a:pPr indent="0" lvl="0" marL="0" rtl="0" algn="just">
              <a:spcBef>
                <a:spcPts val="0"/>
              </a:spcBef>
              <a:spcAft>
                <a:spcPts val="0"/>
              </a:spcAft>
              <a:buNone/>
            </a:pPr>
            <a:r>
              <a:rPr lang="en"/>
              <a:t>[2] Abdulsalam, Y.S.A.; Hedabou, M. Security and Privacy in Cloud Computing: Technical Review. Future Internet 2022, 14, 11. https:// doi.org/10.3390/fi14010011</a:t>
            </a:r>
            <a:endParaRPr/>
          </a:p>
          <a:p>
            <a:pPr indent="0" lvl="0" marL="0" rtl="0" algn="just">
              <a:spcBef>
                <a:spcPts val="0"/>
              </a:spcBef>
              <a:spcAft>
                <a:spcPts val="0"/>
              </a:spcAft>
              <a:buNone/>
            </a:pPr>
            <a:r>
              <a:rPr lang="en"/>
              <a:t>[3] Olowu, M., Yinka-Banjo, C., Misra, S., &amp; Florez, H. (2019). A Secured Private-Cloud Computing System. Applied Informatics, 373–384. https://doi.org/10.1007/978-3-030-32475-9_27</a:t>
            </a:r>
            <a:endParaRPr/>
          </a:p>
          <a:p>
            <a:pPr indent="0" lvl="0" marL="0" rtl="0" algn="just">
              <a:spcBef>
                <a:spcPts val="0"/>
              </a:spcBef>
              <a:spcAft>
                <a:spcPts val="0"/>
              </a:spcAft>
              <a:buNone/>
            </a:pPr>
            <a:r>
              <a:rPr lang="en"/>
              <a:t>[4] Jackson, K. R., Ramakrishnan, L., Muriki, K., Canon, S., Cholia, S., Shalf, J., ... &amp; Wright, N. J. (2010, November). Performance analysis of high performance computing applications on the amazon web services cloud. In 2010 IEEE second international conference on cloud computing technology and science (pp. 159-168). IEEE.</a:t>
            </a:r>
            <a:endParaRPr/>
          </a:p>
          <a:p>
            <a:pPr indent="0" lvl="0" marL="0" rtl="0" algn="just">
              <a:spcBef>
                <a:spcPts val="0"/>
              </a:spcBef>
              <a:spcAft>
                <a:spcPts val="0"/>
              </a:spcAft>
              <a:buNone/>
            </a:pPr>
            <a:r>
              <a:rPr lang="en"/>
              <a:t>[5] Khan, A. R., &amp; Alnwihel, L. K. (2023). A Brief Review on Cloud Computing Authentication Frameworks. Engineering, Technology &amp; Applied Science Research, 13(1), 9997-10004.</a:t>
            </a:r>
            <a:endParaRPr/>
          </a:p>
          <a:p>
            <a:pPr indent="0" lvl="0" marL="0" rtl="0" algn="just">
              <a:spcBef>
                <a:spcPts val="0"/>
              </a:spcBef>
              <a:spcAft>
                <a:spcPts val="0"/>
              </a:spcAft>
              <a:buNone/>
            </a:pPr>
            <a:r>
              <a:rPr lang="en"/>
              <a:t>[6] Verma, O. P., Agarwal, R., Dafouti, D., &amp; Tyagi, S. (2011, April). Notice of Violation of IEEE Publication Principles: Performance analysis of data encryption algorithms. In 2011 3rd International Conference on Electronics Computer Technology (Vol. 5, pp. 399-403). IEEE.</a:t>
            </a:r>
            <a:endParaRPr/>
          </a:p>
          <a:p>
            <a:pPr indent="0" lvl="0" marL="0" rtl="0" algn="just">
              <a:spcBef>
                <a:spcPts val="0"/>
              </a:spcBef>
              <a:spcAft>
                <a:spcPts val="0"/>
              </a:spcAft>
              <a:buNone/>
            </a:pPr>
            <a:r>
              <a:rPr lang="en"/>
              <a:t>[7] Asghar, H. J., Zhao, B. Z. H., Ikram, M., Nguyen, G., Kaafar, D., Lamont, S., &amp; Coscia, D. (2022). SoK: Use of Cryptography in Malware Obfuscation. arXiv preprint arXiv:2212.04008.</a:t>
            </a:r>
            <a:endParaRPr/>
          </a:p>
          <a:p>
            <a:pPr indent="0" lvl="0" marL="0" rtl="0" algn="just">
              <a:spcBef>
                <a:spcPts val="0"/>
              </a:spcBef>
              <a:spcAft>
                <a:spcPts val="0"/>
              </a:spcAft>
              <a:buNone/>
            </a:pPr>
            <a:r>
              <a:rPr lang="en"/>
              <a:t>[8] Jan, M., Shahzad, Q., &amp; Afsar, S. (2022). Securing the Cloud Storage by Using Different Algorithms of Cryptography. International Journal of Scientific Research in Computer Science Engineering and Information Technology, 38-45.</a:t>
            </a:r>
            <a:endParaRPr/>
          </a:p>
          <a:p>
            <a:pPr indent="0" lvl="0" marL="0" rtl="0" algn="just">
              <a:spcBef>
                <a:spcPts val="0"/>
              </a:spcBef>
              <a:spcAft>
                <a:spcPts val="0"/>
              </a:spcAft>
              <a:buNone/>
            </a:pPr>
            <a:r>
              <a:t/>
            </a:r>
            <a:endParaRPr>
              <a:latin typeface="Poppins"/>
              <a:ea typeface="Poppins"/>
              <a:cs typeface="Poppins"/>
              <a:sym typeface="Poppins"/>
            </a:endParaRPr>
          </a:p>
          <a:p>
            <a:pPr indent="0" lvl="0" marL="0" rtl="0" algn="just">
              <a:spcBef>
                <a:spcPts val="0"/>
              </a:spcBef>
              <a:spcAft>
                <a:spcPts val="0"/>
              </a:spcAft>
              <a:buNone/>
            </a:pPr>
            <a:r>
              <a:t/>
            </a:r>
            <a:endParaRPr>
              <a:latin typeface="Poppins"/>
              <a:ea typeface="Poppins"/>
              <a:cs typeface="Poppins"/>
              <a:sym typeface="Poppins"/>
            </a:endParaRPr>
          </a:p>
        </p:txBody>
      </p:sp>
      <p:sp>
        <p:nvSpPr>
          <p:cNvPr id="552" name="Google Shape;552;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3"/>
          <p:cNvSpPr txBox="1"/>
          <p:nvPr>
            <p:ph type="title"/>
          </p:nvPr>
        </p:nvSpPr>
        <p:spPr>
          <a:xfrm>
            <a:off x="3091725" y="1412738"/>
            <a:ext cx="5339100" cy="1089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600"/>
              <a:buNone/>
            </a:pPr>
            <a:r>
              <a:rPr lang="en"/>
              <a:t>Thankyou!</a:t>
            </a:r>
            <a:endParaRPr/>
          </a:p>
        </p:txBody>
      </p:sp>
      <p:grpSp>
        <p:nvGrpSpPr>
          <p:cNvPr id="558" name="Google Shape;558;p63"/>
          <p:cNvGrpSpPr/>
          <p:nvPr/>
        </p:nvGrpSpPr>
        <p:grpSpPr>
          <a:xfrm>
            <a:off x="3372625" y="2806713"/>
            <a:ext cx="5902500" cy="0"/>
            <a:chOff x="2220050" y="1547100"/>
            <a:chExt cx="5902500" cy="0"/>
          </a:xfrm>
        </p:grpSpPr>
        <p:cxnSp>
          <p:nvCxnSpPr>
            <p:cNvPr id="559" name="Google Shape;559;p63"/>
            <p:cNvCxnSpPr/>
            <p:nvPr/>
          </p:nvCxnSpPr>
          <p:spPr>
            <a:xfrm>
              <a:off x="2220050" y="1547100"/>
              <a:ext cx="464400" cy="0"/>
            </a:xfrm>
            <a:prstGeom prst="straightConnector1">
              <a:avLst/>
            </a:prstGeom>
            <a:noFill/>
            <a:ln cap="flat" cmpd="sng" w="114300">
              <a:solidFill>
                <a:schemeClr val="dk1"/>
              </a:solidFill>
              <a:prstDash val="solid"/>
              <a:round/>
              <a:headEnd len="sm" w="sm" type="none"/>
              <a:tailEnd len="sm" w="sm" type="none"/>
            </a:ln>
          </p:spPr>
        </p:cxnSp>
        <p:cxnSp>
          <p:nvCxnSpPr>
            <p:cNvPr id="560" name="Google Shape;560;p63"/>
            <p:cNvCxnSpPr/>
            <p:nvPr/>
          </p:nvCxnSpPr>
          <p:spPr>
            <a:xfrm>
              <a:off x="2684450" y="1547100"/>
              <a:ext cx="5438100" cy="0"/>
            </a:xfrm>
            <a:prstGeom prst="straightConnector1">
              <a:avLst/>
            </a:prstGeom>
            <a:noFill/>
            <a:ln cap="flat" cmpd="sng" w="9525">
              <a:solidFill>
                <a:schemeClr val="dk1"/>
              </a:solidFill>
              <a:prstDash val="solid"/>
              <a:round/>
              <a:headEnd len="sm" w="sm" type="none"/>
              <a:tailEnd len="sm" w="sm" type="none"/>
            </a:ln>
          </p:spPr>
        </p:cxnSp>
      </p:grpSp>
      <p:sp>
        <p:nvSpPr>
          <p:cNvPr id="561" name="Google Shape;561;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ean and Neat Style Portfolio by Slidesgo">
  <a:themeElements>
    <a:clrScheme name="Simple Light">
      <a:dk1>
        <a:srgbClr val="191919"/>
      </a:dk1>
      <a:lt1>
        <a:srgbClr val="FFFFFF"/>
      </a:lt1>
      <a:dk2>
        <a:srgbClr val="45818E"/>
      </a:dk2>
      <a:lt2>
        <a:srgbClr val="D9D9D9"/>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