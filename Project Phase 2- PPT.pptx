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y="6858000" cx="12192000"/>
  <p:notesSz cx="6858000" cy="9144000"/>
  <p:embeddedFontLst>
    <p:embeddedFont>
      <p:font typeface="Roboto"/>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57" roundtripDataSignature="AMtx7mhd1TmhIuRVmDVjuexwSJpENzao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DFE54DB-058D-4026-B7AA-7EE0A3718599}">
  <a:tblStyle styleId="{1DFE54DB-058D-4026-B7AA-7EE0A3718599}"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AF38B7D9-180C-4F1C-AD40-861807BBC445}"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85D5467-2EF3-42B7-B66C-22E44046D3A5}"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Roboto-regular.fntdata"/><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Roboto-italic.fntdata"/><Relationship Id="rId10" Type="http://schemas.openxmlformats.org/officeDocument/2006/relationships/slide" Target="slides/slide4.xml"/><Relationship Id="rId54" Type="http://schemas.openxmlformats.org/officeDocument/2006/relationships/font" Target="fonts/Roboto-bold.fntdata"/><Relationship Id="rId13" Type="http://schemas.openxmlformats.org/officeDocument/2006/relationships/slide" Target="slides/slide7.xml"/><Relationship Id="rId57" Type="http://customschemas.google.com/relationships/presentationmetadata" Target="metadata"/><Relationship Id="rId12" Type="http://schemas.openxmlformats.org/officeDocument/2006/relationships/slide" Target="slides/slide6.xml"/><Relationship Id="rId56" Type="http://schemas.openxmlformats.org/officeDocument/2006/relationships/font" Target="fonts/Roboto-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 name="Google Shape;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931a74b021_0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g2931a74b021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 name="Google Shape;11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bac2965169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g2bac2965169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bac2965169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g2bac2965169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bac2965169_0_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g2bac2965169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bac2965169_0_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g2bac2965169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931a74b021_0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g2931a74b021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931a74b021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g2931a74b021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bab0ace036_2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8" name="Google Shape;198;g2bab0ace036_2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4e0d3862e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g14e0d3862e1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g14e0d3862e1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ba9afe18a4_2_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g2ba9afe18a4_2_1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g2ba9afe18a4_2_1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c9eccfda70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g2c9eccfda70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 name="Google Shape;228;g2c9eccfda70_0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c9eccfda70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g2c9eccfda70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g2c9eccfda70_0_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c9eccfda70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g2c9eccfda70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 name="Google Shape;249;g2c9eccfda70_0_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c9eccfda70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g2c9eccfda70_0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g2c9eccfda70_0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c9eccfda70_0_2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g2c9eccfda70_0_2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g2c9eccfda70_0_2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c9eccfda70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g2c9eccfda70_0_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8" name="Google Shape;278;g2c9eccfda70_0_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c9eccfda70_0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g2c9eccfda70_0_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8" name="Google Shape;288;g2c9eccfda70_0_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c9eccfda70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g2c9eccfda70_0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9" name="Google Shape;299;g2c9eccfda70_0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c9eccfda70_0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g2c9eccfda70_0_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9" name="Google Shape;309;g2c9eccfda70_0_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92720a74b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g192720a74b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8" name="Google Shape;318;g192720a74b7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bab0ace036_2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g2bab0ace036_2_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8" name="Google Shape;328;g2bab0ace036_2_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bab0ace036_2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g2bab0ace036_2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8" name="Google Shape;338;g2bab0ace036_2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ba9afe18a4_2_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g2ba9afe18a4_2_1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8" name="Google Shape;348;g2ba9afe18a4_2_1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c9eccfda70_0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g2c9eccfda70_0_1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9" name="Google Shape;379;g2c9eccfda70_0_1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c9eccfda70_0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g2c9eccfda70_0_1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9" name="Google Shape;389;g2c9eccfda70_0_1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2c9eccfda70_0_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g2c9eccfda70_0_1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0" name="Google Shape;400;g2c9eccfda70_0_1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2c9eccfda70_0_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9" name="Google Shape;409;g2c9eccfda70_0_1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0" name="Google Shape;410;g2c9eccfda70_0_1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2c9eccfda70_0_2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g2c9eccfda70_0_2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0" name="Google Shape;420;g2c9eccfda70_0_2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2c9eccfda70_0_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g2c9eccfda70_0_1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9" name="Google Shape;429;g2c9eccfda70_0_1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2c9eccfda70_0_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g2c9eccfda70_0_1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9" name="Google Shape;439;g2c9eccfda70_0_1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2c9eccfda70_0_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g2c9eccfda70_0_1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0" name="Google Shape;450;g2c9eccfda70_0_1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2c9eccfda70_0_1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g2c9eccfda70_0_1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0" name="Google Shape;460;g2c9eccfda70_0_1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2c9eccfda70_0_2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9" name="Google Shape;469;g2c9eccfda70_0_2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0" name="Google Shape;470;g2c9eccfda70_0_2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2bab0ace036_2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g2bab0ace036_2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9" name="Google Shape;479;g2bab0ace036_2_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2bab0ace036_1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 name="Google Shape;489;g2bab0ace036_1_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0" name="Google Shape;490;g2bab0ace036_1_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0" name="Google Shape;50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2ba9afe18a4_2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g2ba9afe18a4_2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2" name="Google Shape;512;g2ba9afe18a4_2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2c9eccfda70_0_1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2c9eccfda70_0_1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0" name="Google Shape;53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2bab0ace036_1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9" name="Google Shape;539;g2bab0ace036_1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2bab0ace036_2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8" name="Google Shape;548;g2bab0ace036_2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9" name="Google Shape;549;g2bab0ace036_2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p:nvPr>
            <p:ph idx="2" type="pic"/>
          </p:nvPr>
        </p:nvSpPr>
        <p:spPr>
          <a:xfrm>
            <a:off x="5183188" y="987425"/>
            <a:ext cx="6172200" cy="4873625"/>
          </a:xfrm>
          <a:prstGeom prst="rect">
            <a:avLst/>
          </a:prstGeom>
          <a:noFill/>
          <a:ln>
            <a:noFill/>
          </a:ln>
        </p:spPr>
      </p:sp>
      <p:sp>
        <p:nvSpPr>
          <p:cNvPr id="68" name="Google Shape;68;p1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4.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jp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jp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jp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jp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jp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jpg"/><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jpg"/><Relationship Id="rId4" Type="http://schemas.openxmlformats.org/officeDocument/2006/relationships/image" Target="../media/image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jpg"/><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600"/>
              <a:t>Bhilai Institute of Technology Raipur </a:t>
            </a:r>
            <a:endParaRPr b="1" sz="1600"/>
          </a:p>
        </p:txBody>
      </p:sp>
      <p:sp>
        <p:nvSpPr>
          <p:cNvPr id="89" name="Google Shape;89;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90" name="Google Shape;90;p1"/>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91" name="Google Shape;91;p1"/>
          <p:cNvSpPr txBox="1"/>
          <p:nvPr/>
        </p:nvSpPr>
        <p:spPr>
          <a:xfrm>
            <a:off x="2035625" y="200000"/>
            <a:ext cx="8335200" cy="1231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Calibri"/>
                <a:ea typeface="Calibri"/>
                <a:cs typeface="Calibri"/>
                <a:sym typeface="Calibri"/>
              </a:rPr>
              <a:t>Bhilai Institute of Technology, Raipur </a:t>
            </a:r>
            <a:br>
              <a:rPr b="1" i="0" lang="en-US" sz="3200" u="none" cap="none" strike="noStrike">
                <a:solidFill>
                  <a:schemeClr val="dk1"/>
                </a:solidFill>
                <a:latin typeface="Calibri"/>
                <a:ea typeface="Calibri"/>
                <a:cs typeface="Calibri"/>
                <a:sym typeface="Calibri"/>
              </a:rPr>
            </a:br>
            <a:r>
              <a:rPr b="1" i="0" lang="en-US" sz="2400" u="none" cap="none" strike="noStrike">
                <a:solidFill>
                  <a:schemeClr val="dk1"/>
                </a:solidFill>
                <a:latin typeface="Calibri"/>
                <a:ea typeface="Calibri"/>
                <a:cs typeface="Calibri"/>
                <a:sym typeface="Calibri"/>
              </a:rPr>
              <a:t>(</a:t>
            </a:r>
            <a:r>
              <a:rPr b="1" i="0" lang="en-US" sz="2000" u="none" cap="none" strike="noStrike">
                <a:solidFill>
                  <a:schemeClr val="dk1"/>
                </a:solidFill>
                <a:latin typeface="Calibri"/>
                <a:ea typeface="Calibri"/>
                <a:cs typeface="Calibri"/>
                <a:sym typeface="Calibri"/>
              </a:rPr>
              <a:t>MAJOR RESEARCH PROJECT PHASE-</a:t>
            </a:r>
            <a:r>
              <a:rPr b="1" lang="en-US" sz="2000">
                <a:solidFill>
                  <a:schemeClr val="dk1"/>
                </a:solidFill>
                <a:latin typeface="Calibri"/>
                <a:ea typeface="Calibri"/>
                <a:cs typeface="Calibri"/>
                <a:sym typeface="Calibri"/>
              </a:rPr>
              <a:t>2</a:t>
            </a:r>
            <a:r>
              <a:rPr b="1" i="0" lang="en-US" sz="2400" u="none" cap="none" strike="noStrike">
                <a:solidFill>
                  <a:schemeClr val="dk1"/>
                </a:solidFill>
                <a:latin typeface="Calibri"/>
                <a:ea typeface="Calibri"/>
                <a:cs typeface="Calibri"/>
                <a:sym typeface="Calibri"/>
              </a:rPr>
              <a:t>)</a:t>
            </a:r>
            <a:br>
              <a:rPr b="0" i="0" lang="en-US" sz="2000" u="none" cap="none" strike="noStrike">
                <a:solidFill>
                  <a:schemeClr val="dk1"/>
                </a:solidFill>
                <a:latin typeface="Calibri"/>
                <a:ea typeface="Calibri"/>
                <a:cs typeface="Calibri"/>
                <a:sym typeface="Calibri"/>
              </a:rPr>
            </a:br>
            <a:endParaRPr b="0" i="0" sz="1800" u="none" cap="none" strike="noStrike">
              <a:solidFill>
                <a:schemeClr val="dk1"/>
              </a:solidFill>
              <a:latin typeface="Calibri"/>
              <a:ea typeface="Calibri"/>
              <a:cs typeface="Calibri"/>
              <a:sym typeface="Calibri"/>
            </a:endParaRPr>
          </a:p>
        </p:txBody>
      </p:sp>
      <p:sp>
        <p:nvSpPr>
          <p:cNvPr id="92" name="Google Shape;92;p1"/>
          <p:cNvSpPr txBox="1"/>
          <p:nvPr/>
        </p:nvSpPr>
        <p:spPr>
          <a:xfrm>
            <a:off x="2525100" y="2112888"/>
            <a:ext cx="71418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lang="en-US" sz="2400">
                <a:solidFill>
                  <a:schemeClr val="dk1"/>
                </a:solidFill>
                <a:latin typeface="Calibri"/>
                <a:ea typeface="Calibri"/>
                <a:cs typeface="Calibri"/>
                <a:sym typeface="Calibri"/>
              </a:rPr>
              <a:t>Comparative Analysis of Hybrid Models of  AES-RSA and AES-Triple DES Algorithms for Encryption of Images and Videos</a:t>
            </a:r>
            <a:endParaRPr b="1" sz="2400">
              <a:solidFill>
                <a:schemeClr val="dk1"/>
              </a:solidFill>
              <a:latin typeface="Calibri"/>
              <a:ea typeface="Calibri"/>
              <a:cs typeface="Calibri"/>
              <a:sym typeface="Calibri"/>
            </a:endParaRPr>
          </a:p>
        </p:txBody>
      </p:sp>
      <p:sp>
        <p:nvSpPr>
          <p:cNvPr id="93" name="Google Shape;93;p1"/>
          <p:cNvSpPr txBox="1"/>
          <p:nvPr/>
        </p:nvSpPr>
        <p:spPr>
          <a:xfrm>
            <a:off x="6096000" y="4344775"/>
            <a:ext cx="5749200" cy="2006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chemeClr val="dk1"/>
                </a:solidFill>
                <a:latin typeface="Calibri"/>
                <a:ea typeface="Calibri"/>
                <a:cs typeface="Calibri"/>
                <a:sym typeface="Calibri"/>
              </a:rPr>
              <a:t>Members</a:t>
            </a:r>
            <a:r>
              <a:rPr b="0" i="0" lang="en-US" sz="1900" u="none" cap="none" strike="noStrike">
                <a:solidFill>
                  <a:schemeClr val="dk1"/>
                </a:solidFill>
                <a:latin typeface="Calibri"/>
                <a:ea typeface="Calibri"/>
                <a:cs typeface="Calibri"/>
                <a:sym typeface="Calibri"/>
              </a:rPr>
              <a:t>: 	Harsh Chandrakar 		(309302220027)</a:t>
            </a:r>
            <a:endParaRPr b="0" i="0" sz="1900" u="none" cap="none" strike="noStrike">
              <a:solidFill>
                <a:schemeClr val="dk1"/>
              </a:solidFill>
              <a:latin typeface="Calibri"/>
              <a:ea typeface="Calibri"/>
              <a:cs typeface="Calibri"/>
              <a:sym typeface="Calibri"/>
            </a:endParaRPr>
          </a:p>
          <a:p>
            <a:pPr indent="457200" lvl="0" marL="914400" marR="0" rtl="0" algn="l">
              <a:lnSpc>
                <a:spcPct val="100000"/>
              </a:lnSpc>
              <a:spcBef>
                <a:spcPts val="0"/>
              </a:spcBef>
              <a:spcAft>
                <a:spcPts val="0"/>
              </a:spcAft>
              <a:buClr>
                <a:schemeClr val="dk1"/>
              </a:buClr>
              <a:buSzPts val="1100"/>
              <a:buFont typeface="Arial"/>
              <a:buNone/>
            </a:pPr>
            <a:r>
              <a:rPr b="0" i="0" lang="en-US" sz="1900" u="none" cap="none" strike="noStrike">
                <a:solidFill>
                  <a:schemeClr val="dk1"/>
                </a:solidFill>
                <a:latin typeface="Calibri"/>
                <a:ea typeface="Calibri"/>
                <a:cs typeface="Calibri"/>
                <a:sym typeface="Calibri"/>
              </a:rPr>
              <a:t>J Kirti Rao 			(309302220040)</a:t>
            </a:r>
            <a:endParaRPr b="0" i="0" sz="1900" u="none" cap="none" strike="noStrike">
              <a:solidFill>
                <a:schemeClr val="dk1"/>
              </a:solidFill>
              <a:latin typeface="Calibri"/>
              <a:ea typeface="Calibri"/>
              <a:cs typeface="Calibri"/>
              <a:sym typeface="Calibri"/>
            </a:endParaRPr>
          </a:p>
          <a:p>
            <a:pPr indent="0" lvl="0" marL="1371600" marR="0" rtl="0" algn="l">
              <a:lnSpc>
                <a:spcPct val="100000"/>
              </a:lnSpc>
              <a:spcBef>
                <a:spcPts val="0"/>
              </a:spcBef>
              <a:spcAft>
                <a:spcPts val="0"/>
              </a:spcAft>
              <a:buClr>
                <a:schemeClr val="dk1"/>
              </a:buClr>
              <a:buSzPts val="1100"/>
              <a:buFont typeface="Arial"/>
              <a:buNone/>
            </a:pPr>
            <a:r>
              <a:rPr b="0" i="0" lang="en-US" sz="1900" u="none" cap="none" strike="noStrike">
                <a:solidFill>
                  <a:schemeClr val="dk1"/>
                </a:solidFill>
                <a:latin typeface="Calibri"/>
                <a:ea typeface="Calibri"/>
                <a:cs typeface="Calibri"/>
                <a:sym typeface="Calibri"/>
              </a:rPr>
              <a:t>Varun Maharana		(309302220094)</a:t>
            </a:r>
            <a:endParaRPr b="0" i="0" sz="1900" u="none" cap="none" strike="noStrike">
              <a:solidFill>
                <a:schemeClr val="dk1"/>
              </a:solidFill>
              <a:latin typeface="Calibri"/>
              <a:ea typeface="Calibri"/>
              <a:cs typeface="Calibri"/>
              <a:sym typeface="Calibri"/>
            </a:endParaRPr>
          </a:p>
          <a:p>
            <a:pPr indent="0" lvl="0" marL="1371600" marR="0" rtl="0" algn="l">
              <a:lnSpc>
                <a:spcPct val="100000"/>
              </a:lnSpc>
              <a:spcBef>
                <a:spcPts val="0"/>
              </a:spcBef>
              <a:spcAft>
                <a:spcPts val="0"/>
              </a:spcAft>
              <a:buClr>
                <a:schemeClr val="dk1"/>
              </a:buClr>
              <a:buSzPts val="1100"/>
              <a:buFont typeface="Arial"/>
              <a:buNone/>
            </a:pPr>
            <a:r>
              <a:rPr b="0" i="0" lang="en-US" sz="1900" u="none" cap="none" strike="noStrike">
                <a:solidFill>
                  <a:schemeClr val="dk1"/>
                </a:solidFill>
                <a:latin typeface="Calibri"/>
                <a:ea typeface="Calibri"/>
                <a:cs typeface="Calibri"/>
                <a:sym typeface="Calibri"/>
              </a:rPr>
              <a:t>Simran Dey Biswas		(309302220098)</a:t>
            </a:r>
            <a:endParaRPr b="0" i="0" sz="1900" u="none" cap="none" strike="noStrike">
              <a:solidFill>
                <a:schemeClr val="dk1"/>
              </a:solidFill>
              <a:latin typeface="Calibri"/>
              <a:ea typeface="Calibri"/>
              <a:cs typeface="Calibri"/>
              <a:sym typeface="Calibri"/>
            </a:endParaRPr>
          </a:p>
          <a:p>
            <a:pPr indent="457200" lvl="0" marL="914400" rtl="0" algn="l">
              <a:spcBef>
                <a:spcPts val="1000"/>
              </a:spcBef>
              <a:spcAft>
                <a:spcPts val="0"/>
              </a:spcAft>
              <a:buClr>
                <a:schemeClr val="dk1"/>
              </a:buClr>
              <a:buSzPts val="1100"/>
              <a:buFont typeface="Arial"/>
              <a:buNone/>
            </a:pPr>
            <a:r>
              <a:rPr lang="en-US" sz="2000">
                <a:solidFill>
                  <a:schemeClr val="dk1"/>
                </a:solidFill>
                <a:latin typeface="Calibri"/>
                <a:ea typeface="Calibri"/>
                <a:cs typeface="Calibri"/>
                <a:sym typeface="Calibri"/>
              </a:rPr>
              <a:t>8</a:t>
            </a:r>
            <a:r>
              <a:rPr baseline="30000" lang="en-US" sz="2000">
                <a:solidFill>
                  <a:schemeClr val="dk1"/>
                </a:solidFill>
                <a:latin typeface="Calibri"/>
                <a:ea typeface="Calibri"/>
                <a:cs typeface="Calibri"/>
                <a:sym typeface="Calibri"/>
              </a:rPr>
              <a:t>th</a:t>
            </a:r>
            <a:r>
              <a:rPr lang="en-US" sz="2000">
                <a:solidFill>
                  <a:schemeClr val="dk1"/>
                </a:solidFill>
                <a:latin typeface="Calibri"/>
                <a:ea typeface="Calibri"/>
                <a:cs typeface="Calibri"/>
                <a:sym typeface="Calibri"/>
              </a:rPr>
              <a:t> Semester, CSE Department</a:t>
            </a:r>
            <a:endParaRPr sz="2000">
              <a:solidFill>
                <a:schemeClr val="dk1"/>
              </a:solidFill>
              <a:latin typeface="Calibri"/>
              <a:ea typeface="Calibri"/>
              <a:cs typeface="Calibri"/>
              <a:sym typeface="Calibri"/>
            </a:endParaRPr>
          </a:p>
          <a:p>
            <a:pPr indent="457200" lvl="0" marL="91440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BIT Raipur</a:t>
            </a:r>
            <a:endParaRPr sz="2000">
              <a:solidFill>
                <a:schemeClr val="dk1"/>
              </a:solidFill>
              <a:latin typeface="Calibri"/>
              <a:ea typeface="Calibri"/>
              <a:cs typeface="Calibri"/>
              <a:sym typeface="Calibri"/>
            </a:endParaRPr>
          </a:p>
        </p:txBody>
      </p:sp>
      <p:sp>
        <p:nvSpPr>
          <p:cNvPr id="94" name="Google Shape;94;p1"/>
          <p:cNvSpPr txBox="1"/>
          <p:nvPr/>
        </p:nvSpPr>
        <p:spPr>
          <a:xfrm>
            <a:off x="604200" y="4344775"/>
            <a:ext cx="5565900" cy="969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1900" u="none" cap="none" strike="noStrike">
                <a:solidFill>
                  <a:schemeClr val="dk1"/>
                </a:solidFill>
                <a:latin typeface="Calibri"/>
                <a:ea typeface="Calibri"/>
                <a:cs typeface="Calibri"/>
                <a:sym typeface="Calibri"/>
              </a:rPr>
              <a:t>Guided by</a:t>
            </a:r>
            <a:r>
              <a:rPr b="0" i="0" lang="en-US" sz="1900" u="none" cap="none" strike="noStrike">
                <a:solidFill>
                  <a:schemeClr val="dk1"/>
                </a:solidFill>
                <a:latin typeface="Calibri"/>
                <a:ea typeface="Calibri"/>
                <a:cs typeface="Calibri"/>
                <a:sym typeface="Calibri"/>
              </a:rPr>
              <a:t>: </a:t>
            </a:r>
            <a:r>
              <a:rPr lang="en-US" sz="1900">
                <a:solidFill>
                  <a:schemeClr val="dk1"/>
                </a:solidFill>
                <a:latin typeface="Calibri"/>
                <a:ea typeface="Calibri"/>
                <a:cs typeface="Calibri"/>
                <a:sym typeface="Calibri"/>
              </a:rPr>
              <a:t>	Mrs. </a:t>
            </a:r>
            <a:r>
              <a:rPr b="0" i="0" lang="en-US" sz="1900" u="none" cap="none" strike="noStrike">
                <a:solidFill>
                  <a:schemeClr val="dk1"/>
                </a:solidFill>
                <a:latin typeface="Calibri"/>
                <a:ea typeface="Calibri"/>
                <a:cs typeface="Calibri"/>
                <a:sym typeface="Calibri"/>
              </a:rPr>
              <a:t>Lalita Panika </a:t>
            </a:r>
            <a:endParaRPr b="0" i="0" sz="1900" u="none" cap="none" strike="noStrike">
              <a:solidFill>
                <a:schemeClr val="dk1"/>
              </a:solidFill>
              <a:latin typeface="Calibri"/>
              <a:ea typeface="Calibri"/>
              <a:cs typeface="Calibri"/>
              <a:sym typeface="Calibri"/>
            </a:endParaRPr>
          </a:p>
          <a:p>
            <a:pPr indent="457200" lvl="0" marL="914400" marR="0" rtl="0" algn="l">
              <a:lnSpc>
                <a:spcPct val="100000"/>
              </a:lnSpc>
              <a:spcBef>
                <a:spcPts val="0"/>
              </a:spcBef>
              <a:spcAft>
                <a:spcPts val="0"/>
              </a:spcAft>
              <a:buClr>
                <a:srgbClr val="000000"/>
              </a:buClr>
              <a:buSzPts val="2000"/>
              <a:buFont typeface="Arial"/>
              <a:buNone/>
            </a:pPr>
            <a:r>
              <a:rPr b="0" i="0" lang="en-US" sz="1900" u="none" cap="none" strike="noStrike">
                <a:solidFill>
                  <a:schemeClr val="dk1"/>
                </a:solidFill>
                <a:latin typeface="Calibri"/>
                <a:ea typeface="Calibri"/>
                <a:cs typeface="Calibri"/>
                <a:sym typeface="Calibri"/>
              </a:rPr>
              <a:t>Assistant Professor, CSE D</a:t>
            </a:r>
            <a:r>
              <a:rPr lang="en-US" sz="1900">
                <a:solidFill>
                  <a:schemeClr val="dk1"/>
                </a:solidFill>
                <a:latin typeface="Calibri"/>
                <a:ea typeface="Calibri"/>
                <a:cs typeface="Calibri"/>
                <a:sym typeface="Calibri"/>
              </a:rPr>
              <a:t>epartment</a:t>
            </a:r>
            <a:endParaRPr sz="1900">
              <a:solidFill>
                <a:schemeClr val="dk1"/>
              </a:solidFill>
              <a:latin typeface="Calibri"/>
              <a:ea typeface="Calibri"/>
              <a:cs typeface="Calibri"/>
              <a:sym typeface="Calibri"/>
            </a:endParaRPr>
          </a:p>
          <a:p>
            <a:pPr indent="457200" lvl="0" marL="914400" marR="0" rtl="0" algn="l">
              <a:lnSpc>
                <a:spcPct val="100000"/>
              </a:lnSpc>
              <a:spcBef>
                <a:spcPts val="0"/>
              </a:spcBef>
              <a:spcAft>
                <a:spcPts val="0"/>
              </a:spcAft>
              <a:buClr>
                <a:srgbClr val="000000"/>
              </a:buClr>
              <a:buSzPts val="2000"/>
              <a:buFont typeface="Arial"/>
              <a:buNone/>
            </a:pPr>
            <a:r>
              <a:rPr b="0" i="0" lang="en-US" sz="1900" u="none" cap="none" strike="noStrike">
                <a:solidFill>
                  <a:schemeClr val="dk1"/>
                </a:solidFill>
                <a:latin typeface="Calibri"/>
                <a:ea typeface="Calibri"/>
                <a:cs typeface="Calibri"/>
                <a:sym typeface="Calibri"/>
              </a:rPr>
              <a:t>BIT Raipur</a:t>
            </a:r>
            <a:endParaRPr b="0" i="0" sz="1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100" name="Google Shape;10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01" name="Google Shape;101;p2"/>
          <p:cNvSpPr txBox="1"/>
          <p:nvPr/>
        </p:nvSpPr>
        <p:spPr>
          <a:xfrm>
            <a:off x="1347233" y="359674"/>
            <a:ext cx="58737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dk1"/>
                </a:solidFill>
                <a:latin typeface="Times New Roman"/>
                <a:ea typeface="Times New Roman"/>
                <a:cs typeface="Times New Roman"/>
                <a:sym typeface="Times New Roman"/>
              </a:rPr>
              <a:t>1. Introduction </a:t>
            </a:r>
            <a:endParaRPr b="0" i="0" sz="3000" u="none" cap="none" strike="noStrike">
              <a:solidFill>
                <a:schemeClr val="dk1"/>
              </a:solidFill>
              <a:latin typeface="Calibri"/>
              <a:ea typeface="Calibri"/>
              <a:cs typeface="Calibri"/>
              <a:sym typeface="Calibri"/>
            </a:endParaRPr>
          </a:p>
        </p:txBody>
      </p:sp>
      <p:pic>
        <p:nvPicPr>
          <p:cNvPr id="102" name="Google Shape;102;p2"/>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103" name="Google Shape;103;p2"/>
          <p:cNvSpPr txBox="1"/>
          <p:nvPr/>
        </p:nvSpPr>
        <p:spPr>
          <a:xfrm>
            <a:off x="1347225" y="1318463"/>
            <a:ext cx="6591300" cy="5254500"/>
          </a:xfrm>
          <a:prstGeom prst="rect">
            <a:avLst/>
          </a:prstGeom>
          <a:noFill/>
          <a:ln>
            <a:noFill/>
          </a:ln>
        </p:spPr>
        <p:txBody>
          <a:bodyPr anchorCtr="0" anchor="t" bIns="91425" lIns="91425" spcFirstLastPara="1" rIns="91425" wrap="square" tIns="91425">
            <a:spAutoFit/>
          </a:bodyPr>
          <a:lstStyle/>
          <a:p>
            <a:pPr indent="-374650" lvl="0" marL="457200" marR="0" rtl="0" algn="just">
              <a:lnSpc>
                <a:spcPct val="100000"/>
              </a:lnSpc>
              <a:spcBef>
                <a:spcPts val="0"/>
              </a:spcBef>
              <a:spcAft>
                <a:spcPts val="0"/>
              </a:spcAft>
              <a:buClr>
                <a:srgbClr val="000000"/>
              </a:buClr>
              <a:buSzPts val="2300"/>
              <a:buFont typeface="Times New Roman"/>
              <a:buChar char="●"/>
            </a:pPr>
            <a:r>
              <a:rPr b="1" i="0" lang="en-US" sz="2300" u="none" cap="none" strike="noStrike">
                <a:solidFill>
                  <a:srgbClr val="000000"/>
                </a:solidFill>
                <a:latin typeface="Times New Roman"/>
                <a:ea typeface="Times New Roman"/>
                <a:cs typeface="Times New Roman"/>
                <a:sym typeface="Times New Roman"/>
              </a:rPr>
              <a:t>Cryptography: </a:t>
            </a:r>
            <a:endParaRPr b="0" i="0" sz="23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The art and science of concealing the messages to introduce secrecy in information security is recognized as cryptography. The process of disguising a message in such a way as to hide its substance is encryption. An encrypted message is ciphertext.</a:t>
            </a:r>
            <a:endParaRPr b="0" i="0" sz="20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374650" lvl="0" marL="457200" marR="0" rtl="0" algn="just">
              <a:lnSpc>
                <a:spcPct val="100000"/>
              </a:lnSpc>
              <a:spcBef>
                <a:spcPts val="0"/>
              </a:spcBef>
              <a:spcAft>
                <a:spcPts val="0"/>
              </a:spcAft>
              <a:buClr>
                <a:srgbClr val="000000"/>
              </a:buClr>
              <a:buSzPts val="2300"/>
              <a:buFont typeface="Times New Roman"/>
              <a:buChar char="●"/>
            </a:pPr>
            <a:r>
              <a:rPr b="1" lang="en-US" sz="2300">
                <a:latin typeface="Times New Roman"/>
                <a:ea typeface="Times New Roman"/>
                <a:cs typeface="Times New Roman"/>
                <a:sym typeface="Times New Roman"/>
              </a:rPr>
              <a:t>Hybrid Encryption:</a:t>
            </a:r>
            <a:endParaRPr b="1" sz="2300">
              <a:latin typeface="Times New Roman"/>
              <a:ea typeface="Times New Roman"/>
              <a:cs typeface="Times New Roman"/>
              <a:sym typeface="Times New Roman"/>
            </a:endParaRPr>
          </a:p>
          <a:p>
            <a:pPr indent="0" lvl="0" marL="457200" marR="0" rtl="0" algn="just">
              <a:lnSpc>
                <a:spcPct val="100000"/>
              </a:lnSpc>
              <a:spcBef>
                <a:spcPts val="0"/>
              </a:spcBef>
              <a:spcAft>
                <a:spcPts val="0"/>
              </a:spcAft>
              <a:buNone/>
            </a:pPr>
            <a:r>
              <a:rPr lang="en-US" sz="2000">
                <a:latin typeface="Times New Roman"/>
                <a:ea typeface="Times New Roman"/>
                <a:cs typeface="Times New Roman"/>
                <a:sym typeface="Times New Roman"/>
              </a:rPr>
              <a:t>Hybrid encryption is a security approach that combines the strengths of both symmetric and asymmetric encryption. In this method, a symmetric key is used for efficient data encryption, while an asymmetric key is employed for secure key exchange.</a:t>
            </a:r>
            <a:endParaRPr sz="2000">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rgbClr val="000000"/>
              </a:buClr>
              <a:buSzPts val="2300"/>
              <a:buFont typeface="Arial"/>
              <a:buNone/>
            </a:pPr>
            <a:r>
              <a:t/>
            </a:r>
            <a:endParaRPr b="0" i="0" sz="2300" u="none" cap="none" strike="noStrike">
              <a:solidFill>
                <a:srgbClr val="000000"/>
              </a:solidFill>
              <a:latin typeface="Times New Roman"/>
              <a:ea typeface="Times New Roman"/>
              <a:cs typeface="Times New Roman"/>
              <a:sym typeface="Times New Roman"/>
            </a:endParaRPr>
          </a:p>
        </p:txBody>
      </p:sp>
      <p:pic>
        <p:nvPicPr>
          <p:cNvPr descr="preencoded.png" id="104" name="Google Shape;104;p2"/>
          <p:cNvPicPr preferRelativeResize="0"/>
          <p:nvPr/>
        </p:nvPicPr>
        <p:blipFill rotWithShape="1">
          <a:blip r:embed="rId4">
            <a:alphaModFix/>
          </a:blip>
          <a:srcRect b="0" l="0" r="0" t="0"/>
          <a:stretch/>
        </p:blipFill>
        <p:spPr>
          <a:xfrm>
            <a:off x="8610606" y="1389450"/>
            <a:ext cx="3300184" cy="2039550"/>
          </a:xfrm>
          <a:prstGeom prst="rect">
            <a:avLst/>
          </a:prstGeom>
          <a:noFill/>
          <a:ln>
            <a:noFill/>
          </a:ln>
        </p:spPr>
      </p:pic>
      <p:pic>
        <p:nvPicPr>
          <p:cNvPr id="105" name="Google Shape;105;p2"/>
          <p:cNvPicPr preferRelativeResize="0"/>
          <p:nvPr/>
        </p:nvPicPr>
        <p:blipFill>
          <a:blip r:embed="rId5">
            <a:alphaModFix/>
          </a:blip>
          <a:stretch>
            <a:fillRect/>
          </a:stretch>
        </p:blipFill>
        <p:spPr>
          <a:xfrm>
            <a:off x="8803375" y="3836750"/>
            <a:ext cx="2914650" cy="15716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2931a74b021_0_3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111" name="Google Shape;111;g2931a74b021_0_3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12" name="Google Shape;112;g2931a74b021_0_36"/>
          <p:cNvSpPr txBox="1"/>
          <p:nvPr/>
        </p:nvSpPr>
        <p:spPr>
          <a:xfrm>
            <a:off x="1347233" y="359674"/>
            <a:ext cx="58737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dk1"/>
                </a:solidFill>
                <a:latin typeface="Times New Roman"/>
                <a:ea typeface="Times New Roman"/>
                <a:cs typeface="Times New Roman"/>
                <a:sym typeface="Times New Roman"/>
              </a:rPr>
              <a:t>1. Introduction </a:t>
            </a:r>
            <a:endParaRPr b="0" i="0" sz="3000" u="none" cap="none" strike="noStrike">
              <a:solidFill>
                <a:schemeClr val="dk1"/>
              </a:solidFill>
              <a:latin typeface="Calibri"/>
              <a:ea typeface="Calibri"/>
              <a:cs typeface="Calibri"/>
              <a:sym typeface="Calibri"/>
            </a:endParaRPr>
          </a:p>
        </p:txBody>
      </p:sp>
      <p:pic>
        <p:nvPicPr>
          <p:cNvPr id="113" name="Google Shape;113;g2931a74b021_0_36"/>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graphicFrame>
        <p:nvGraphicFramePr>
          <p:cNvPr id="114" name="Google Shape;114;g2931a74b021_0_36"/>
          <p:cNvGraphicFramePr/>
          <p:nvPr/>
        </p:nvGraphicFramePr>
        <p:xfrm>
          <a:off x="1531550" y="1642000"/>
          <a:ext cx="3000000" cy="3000000"/>
        </p:xfrm>
        <a:graphic>
          <a:graphicData uri="http://schemas.openxmlformats.org/drawingml/2006/table">
            <a:tbl>
              <a:tblPr>
                <a:noFill/>
                <a:tableStyleId>{1DFE54DB-058D-4026-B7AA-7EE0A3718599}</a:tableStyleId>
              </a:tblPr>
              <a:tblGrid>
                <a:gridCol w="2549300"/>
                <a:gridCol w="6579575"/>
              </a:tblGrid>
              <a:tr h="1451800">
                <a:tc>
                  <a:txBody>
                    <a:bodyPr/>
                    <a:lstStyle/>
                    <a:p>
                      <a:pPr indent="0" lvl="0" marL="0" marR="0" rtl="0" algn="l">
                        <a:lnSpc>
                          <a:spcPct val="100000"/>
                        </a:lnSpc>
                        <a:spcBef>
                          <a:spcPts val="0"/>
                        </a:spcBef>
                        <a:spcAft>
                          <a:spcPts val="0"/>
                        </a:spcAft>
                        <a:buClr>
                          <a:srgbClr val="000000"/>
                        </a:buClr>
                        <a:buSzPts val="2100"/>
                        <a:buFont typeface="Arial"/>
                        <a:buNone/>
                      </a:pPr>
                      <a:r>
                        <a:rPr b="1" lang="en-US" sz="2100">
                          <a:solidFill>
                            <a:srgbClr val="191919"/>
                          </a:solidFill>
                          <a:latin typeface="Times New Roman"/>
                          <a:ea typeface="Times New Roman"/>
                          <a:cs typeface="Times New Roman"/>
                          <a:sym typeface="Times New Roman"/>
                        </a:rPr>
                        <a:t>RSA</a:t>
                      </a:r>
                      <a:endParaRPr sz="21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2000"/>
                        <a:buFont typeface="Arial"/>
                        <a:buNone/>
                      </a:pPr>
                      <a:r>
                        <a:rPr lang="en-US" sz="2000">
                          <a:solidFill>
                            <a:srgbClr val="191919"/>
                          </a:solidFill>
                          <a:latin typeface="Times New Roman"/>
                          <a:ea typeface="Times New Roman"/>
                          <a:cs typeface="Times New Roman"/>
                          <a:sym typeface="Times New Roman"/>
                        </a:rPr>
                        <a:t>RSA algorithm is an asymmetric cryptography algorithm which means that it works on two different keys i.e. Public Key and Private Key. </a:t>
                      </a:r>
                      <a:endParaRPr sz="1800" u="none" cap="none" strike="noStrike">
                        <a:latin typeface="Times New Roman"/>
                        <a:ea typeface="Times New Roman"/>
                        <a:cs typeface="Times New Roman"/>
                        <a:sym typeface="Times New Roman"/>
                      </a:endParaRPr>
                    </a:p>
                  </a:txBody>
                  <a:tcPr marT="91425" marB="91425" marR="91425" marL="91425"/>
                </a:tc>
              </a:tr>
              <a:tr h="1451800">
                <a:tc>
                  <a:txBody>
                    <a:bodyPr/>
                    <a:lstStyle/>
                    <a:p>
                      <a:pPr indent="0" lvl="0" marL="0" marR="0" rtl="0" algn="l">
                        <a:lnSpc>
                          <a:spcPct val="100000"/>
                        </a:lnSpc>
                        <a:spcBef>
                          <a:spcPts val="0"/>
                        </a:spcBef>
                        <a:spcAft>
                          <a:spcPts val="0"/>
                        </a:spcAft>
                        <a:buClr>
                          <a:srgbClr val="000000"/>
                        </a:buClr>
                        <a:buSzPts val="2100"/>
                        <a:buFont typeface="Arial"/>
                        <a:buNone/>
                      </a:pPr>
                      <a:r>
                        <a:rPr b="1" lang="en-US" sz="2100">
                          <a:solidFill>
                            <a:srgbClr val="191919"/>
                          </a:solidFill>
                          <a:latin typeface="Times New Roman"/>
                          <a:ea typeface="Times New Roman"/>
                          <a:cs typeface="Times New Roman"/>
                          <a:sym typeface="Times New Roman"/>
                        </a:rPr>
                        <a:t>AES</a:t>
                      </a:r>
                      <a:endParaRPr sz="17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US" sz="1900">
                          <a:solidFill>
                            <a:srgbClr val="191919"/>
                          </a:solidFill>
                          <a:latin typeface="Times New Roman"/>
                          <a:ea typeface="Times New Roman"/>
                          <a:cs typeface="Times New Roman"/>
                          <a:sym typeface="Times New Roman"/>
                        </a:rPr>
                        <a:t>AES (Advanced Encryption Standard) is a widely used technique for protecting data using encryption algorithms.</a:t>
                      </a:r>
                      <a:endParaRPr sz="1900">
                        <a:solidFill>
                          <a:srgbClr val="191919"/>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900"/>
                        <a:buFont typeface="Arial"/>
                        <a:buNone/>
                      </a:pPr>
                      <a:r>
                        <a:rPr lang="en-US" sz="1900">
                          <a:solidFill>
                            <a:srgbClr val="191919"/>
                          </a:solidFill>
                          <a:latin typeface="Times New Roman"/>
                          <a:ea typeface="Times New Roman"/>
                          <a:cs typeface="Times New Roman"/>
                          <a:sym typeface="Times New Roman"/>
                        </a:rPr>
                        <a:t>AES is a symmetric block cipher, meaning the same key is used for both encrypting and decrypting data.</a:t>
                      </a:r>
                      <a:endParaRPr sz="1900">
                        <a:solidFill>
                          <a:srgbClr val="191919"/>
                        </a:solidFill>
                        <a:latin typeface="Times New Roman"/>
                        <a:ea typeface="Times New Roman"/>
                        <a:cs typeface="Times New Roman"/>
                        <a:sym typeface="Times New Roman"/>
                      </a:endParaRPr>
                    </a:p>
                  </a:txBody>
                  <a:tcPr marT="91425" marB="91425" marR="91425" marL="91425"/>
                </a:tc>
              </a:tr>
              <a:tr h="1082500">
                <a:tc>
                  <a:txBody>
                    <a:bodyPr/>
                    <a:lstStyle/>
                    <a:p>
                      <a:pPr indent="0" lvl="0" marL="0" marR="0" rtl="0" algn="l">
                        <a:lnSpc>
                          <a:spcPct val="100000"/>
                        </a:lnSpc>
                        <a:spcBef>
                          <a:spcPts val="0"/>
                        </a:spcBef>
                        <a:spcAft>
                          <a:spcPts val="0"/>
                        </a:spcAft>
                        <a:buClr>
                          <a:srgbClr val="000000"/>
                        </a:buClr>
                        <a:buSzPts val="2100"/>
                        <a:buFont typeface="Arial"/>
                        <a:buNone/>
                      </a:pPr>
                      <a:r>
                        <a:rPr b="1" lang="en-US" sz="2100">
                          <a:solidFill>
                            <a:srgbClr val="191919"/>
                          </a:solidFill>
                          <a:latin typeface="Times New Roman"/>
                          <a:ea typeface="Times New Roman"/>
                          <a:cs typeface="Times New Roman"/>
                          <a:sym typeface="Times New Roman"/>
                        </a:rPr>
                        <a:t>DES</a:t>
                      </a:r>
                      <a:endParaRPr sz="21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US" sz="1900">
                          <a:solidFill>
                            <a:srgbClr val="191919"/>
                          </a:solidFill>
                          <a:latin typeface="Times New Roman"/>
                          <a:ea typeface="Times New Roman"/>
                          <a:cs typeface="Times New Roman"/>
                          <a:sym typeface="Times New Roman"/>
                        </a:rPr>
                        <a:t>Data Encryption Standard (DES) is a historic symmetric-key algorithm used for the encryption of digital data. DES has been highly influential in the advancement of cryptography</a:t>
                      </a:r>
                      <a:endParaRPr sz="1700" u="none" cap="none" strike="noStrike">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3"/>
          <p:cNvSpPr txBox="1"/>
          <p:nvPr>
            <p:ph idx="11" type="ftr"/>
          </p:nvPr>
        </p:nvSpPr>
        <p:spPr>
          <a:xfrm>
            <a:off x="4038600" y="6492875"/>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120" name="Google Shape;120;p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21" name="Google Shape;121;p3"/>
          <p:cNvSpPr txBox="1"/>
          <p:nvPr/>
        </p:nvSpPr>
        <p:spPr>
          <a:xfrm>
            <a:off x="1290918" y="247577"/>
            <a:ext cx="59130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900"/>
              <a:buFont typeface="Arial"/>
              <a:buNone/>
            </a:pPr>
            <a:r>
              <a:rPr b="1" i="0" lang="en-US" sz="3000" u="none" cap="none" strike="noStrike">
                <a:solidFill>
                  <a:schemeClr val="dk1"/>
                </a:solidFill>
                <a:latin typeface="Times New Roman"/>
                <a:ea typeface="Times New Roman"/>
                <a:cs typeface="Times New Roman"/>
                <a:sym typeface="Times New Roman"/>
              </a:rPr>
              <a:t>2. Review of literature </a:t>
            </a:r>
            <a:endParaRPr b="0" i="0" sz="3500" u="none" cap="none" strike="noStrike">
              <a:solidFill>
                <a:schemeClr val="dk1"/>
              </a:solidFill>
              <a:latin typeface="Calibri"/>
              <a:ea typeface="Calibri"/>
              <a:cs typeface="Calibri"/>
              <a:sym typeface="Calibri"/>
            </a:endParaRPr>
          </a:p>
        </p:txBody>
      </p:sp>
      <p:pic>
        <p:nvPicPr>
          <p:cNvPr id="122" name="Google Shape;122;p3"/>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graphicFrame>
        <p:nvGraphicFramePr>
          <p:cNvPr id="123" name="Google Shape;123;p3"/>
          <p:cNvGraphicFramePr/>
          <p:nvPr/>
        </p:nvGraphicFramePr>
        <p:xfrm>
          <a:off x="351267" y="1298128"/>
          <a:ext cx="3000000" cy="3000000"/>
        </p:xfrm>
        <a:graphic>
          <a:graphicData uri="http://schemas.openxmlformats.org/drawingml/2006/table">
            <a:tbl>
              <a:tblPr>
                <a:noFill/>
                <a:tableStyleId>{1DFE54DB-058D-4026-B7AA-7EE0A3718599}</a:tableStyleId>
              </a:tblPr>
              <a:tblGrid>
                <a:gridCol w="2592050"/>
                <a:gridCol w="1555275"/>
                <a:gridCol w="1555275"/>
                <a:gridCol w="2223550"/>
                <a:gridCol w="3806175"/>
              </a:tblGrid>
              <a:tr h="425825">
                <a:tc>
                  <a:txBody>
                    <a:bodyPr/>
                    <a:lstStyle/>
                    <a:p>
                      <a:pPr indent="0" lvl="0" marL="0" marR="0" rtl="0" algn="ctr">
                        <a:lnSpc>
                          <a:spcPct val="100000"/>
                        </a:lnSpc>
                        <a:spcBef>
                          <a:spcPts val="0"/>
                        </a:spcBef>
                        <a:spcAft>
                          <a:spcPts val="0"/>
                        </a:spcAft>
                        <a:buClr>
                          <a:srgbClr val="000000"/>
                        </a:buClr>
                        <a:buSzPts val="1400"/>
                        <a:buFont typeface="Arial"/>
                        <a:buNone/>
                      </a:pPr>
                      <a:r>
                        <a:rPr b="1" lang="en-US" sz="1600" u="none" cap="none" strike="noStrike">
                          <a:latin typeface="Times New Roman"/>
                          <a:ea typeface="Times New Roman"/>
                          <a:cs typeface="Times New Roman"/>
                          <a:sym typeface="Times New Roman"/>
                        </a:rPr>
                        <a:t>Name of the Paper</a:t>
                      </a:r>
                      <a:endParaRPr b="1"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1600" u="none" cap="none" strike="noStrike">
                          <a:latin typeface="Times New Roman"/>
                          <a:ea typeface="Times New Roman"/>
                          <a:cs typeface="Times New Roman"/>
                          <a:sym typeface="Times New Roman"/>
                        </a:rPr>
                        <a:t>Publishing Year </a:t>
                      </a:r>
                      <a:endParaRPr b="1"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None/>
                      </a:pPr>
                      <a:r>
                        <a:rPr b="1" lang="en-US" sz="1600">
                          <a:latin typeface="Times New Roman"/>
                          <a:ea typeface="Times New Roman"/>
                          <a:cs typeface="Times New Roman"/>
                          <a:sym typeface="Times New Roman"/>
                        </a:rPr>
                        <a:t>Publisher</a:t>
                      </a:r>
                      <a:endParaRPr b="1"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1600" u="none" cap="none" strike="noStrike">
                          <a:latin typeface="Times New Roman"/>
                          <a:ea typeface="Times New Roman"/>
                          <a:cs typeface="Times New Roman"/>
                          <a:sym typeface="Times New Roman"/>
                        </a:rPr>
                        <a:t>Author</a:t>
                      </a:r>
                      <a:endParaRPr b="1"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1600" u="none" cap="none" strike="noStrike">
                          <a:latin typeface="Times New Roman"/>
                          <a:ea typeface="Times New Roman"/>
                          <a:cs typeface="Times New Roman"/>
                          <a:sym typeface="Times New Roman"/>
                        </a:rPr>
                        <a:t>Result</a:t>
                      </a:r>
                      <a:endParaRPr b="1" sz="1600" u="none" cap="none" strike="noStrike">
                        <a:latin typeface="Times New Roman"/>
                        <a:ea typeface="Times New Roman"/>
                        <a:cs typeface="Times New Roman"/>
                        <a:sym typeface="Times New Roman"/>
                      </a:endParaRPr>
                    </a:p>
                  </a:txBody>
                  <a:tcPr marT="91425" marB="91425" marR="91425" marL="91425"/>
                </a:tc>
              </a:tr>
              <a:tr h="2253000">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Image Encryption Based on AES and RSA Algorithms</a:t>
                      </a:r>
                      <a:endParaRPr sz="16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300"/>
                        <a:buFont typeface="Arial"/>
                        <a:buNone/>
                      </a:pPr>
                      <a:r>
                        <a:t/>
                      </a:r>
                      <a:endParaRPr sz="16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2020</a:t>
                      </a:r>
                      <a:endParaRPr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IEEE </a:t>
                      </a:r>
                      <a:endParaRPr sz="16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Dalia Mubarak Alsaffar, Atheer Sultan Almutiri, Bashaier Alqahtani,</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Rahaf Mohammed Alamri, Hanan Fahhad Alqahtani, Nada Nasser Alqahtani,</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Ghadeer Mohammed alshammari, Azza. A. Ali</a:t>
                      </a:r>
                      <a:endParaRPr sz="16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The results showed that the AES algorithm</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correlation coefficient tends to be closer to the zero, thus</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a stronger correlation. Also, AES algorithm has a better</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image encryption quality since it has a more convergent</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columns in the histogram.</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600">
                        <a:latin typeface="Times New Roman"/>
                        <a:ea typeface="Times New Roman"/>
                        <a:cs typeface="Times New Roman"/>
                        <a:sym typeface="Times New Roman"/>
                      </a:endParaRPr>
                    </a:p>
                  </a:txBody>
                  <a:tcPr marT="91425" marB="91425" marR="91425" marL="91425"/>
                </a:tc>
              </a:tr>
              <a:tr h="2252975">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Speed Up Image Encryption by Using RSA</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Algorithm</a:t>
                      </a:r>
                      <a:endParaRPr sz="1600">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sz="1600">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2020 </a:t>
                      </a:r>
                      <a:endParaRPr sz="1600" u="none" cap="none" strike="noStrike">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IEEE </a:t>
                      </a:r>
                      <a:endParaRPr sz="1600">
                        <a:solidFill>
                          <a:schemeClr val="dk1"/>
                        </a:solidFill>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Faten H. Mohammed Sediq</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Al-Kadei, Huda Abdalkaream Mardan, Nevart A. Minas</a:t>
                      </a:r>
                      <a:endParaRPr sz="1600">
                        <a:solidFill>
                          <a:schemeClr val="dk1"/>
                        </a:solidFill>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The results indicate that the</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execution time of encryption process was improved by</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14% in experiment 3 by using some techniques to speed up</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the process, the decryption process was improved as well</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by 22%.</a:t>
                      </a:r>
                      <a:endParaRPr sz="1600">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2bac2965169_0_27"/>
          <p:cNvSpPr txBox="1"/>
          <p:nvPr>
            <p:ph idx="11" type="ftr"/>
          </p:nvPr>
        </p:nvSpPr>
        <p:spPr>
          <a:xfrm>
            <a:off x="4038600" y="6492875"/>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129" name="Google Shape;129;g2bac2965169_0_2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30" name="Google Shape;130;g2bac2965169_0_27"/>
          <p:cNvSpPr txBox="1"/>
          <p:nvPr/>
        </p:nvSpPr>
        <p:spPr>
          <a:xfrm>
            <a:off x="1290918" y="247577"/>
            <a:ext cx="59130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900"/>
              <a:buFont typeface="Arial"/>
              <a:buNone/>
            </a:pPr>
            <a:r>
              <a:rPr b="1" i="0" lang="en-US" sz="3000" u="none" cap="none" strike="noStrike">
                <a:solidFill>
                  <a:schemeClr val="dk1"/>
                </a:solidFill>
                <a:latin typeface="Times New Roman"/>
                <a:ea typeface="Times New Roman"/>
                <a:cs typeface="Times New Roman"/>
                <a:sym typeface="Times New Roman"/>
              </a:rPr>
              <a:t>2. Review of literature </a:t>
            </a:r>
            <a:endParaRPr b="0" i="0" sz="3500" u="none" cap="none" strike="noStrike">
              <a:solidFill>
                <a:schemeClr val="dk1"/>
              </a:solidFill>
              <a:latin typeface="Calibri"/>
              <a:ea typeface="Calibri"/>
              <a:cs typeface="Calibri"/>
              <a:sym typeface="Calibri"/>
            </a:endParaRPr>
          </a:p>
        </p:txBody>
      </p:sp>
      <p:pic>
        <p:nvPicPr>
          <p:cNvPr id="131" name="Google Shape;131;g2bac2965169_0_27"/>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graphicFrame>
        <p:nvGraphicFramePr>
          <p:cNvPr id="132" name="Google Shape;132;g2bac2965169_0_27"/>
          <p:cNvGraphicFramePr/>
          <p:nvPr/>
        </p:nvGraphicFramePr>
        <p:xfrm>
          <a:off x="351267" y="999553"/>
          <a:ext cx="3000000" cy="3000000"/>
        </p:xfrm>
        <a:graphic>
          <a:graphicData uri="http://schemas.openxmlformats.org/drawingml/2006/table">
            <a:tbl>
              <a:tblPr>
                <a:noFill/>
                <a:tableStyleId>{1DFE54DB-058D-4026-B7AA-7EE0A3718599}</a:tableStyleId>
              </a:tblPr>
              <a:tblGrid>
                <a:gridCol w="2592050"/>
                <a:gridCol w="1555275"/>
                <a:gridCol w="1555275"/>
                <a:gridCol w="2223550"/>
                <a:gridCol w="3806175"/>
              </a:tblGrid>
              <a:tr h="425825">
                <a:tc>
                  <a:txBody>
                    <a:bodyPr/>
                    <a:lstStyle/>
                    <a:p>
                      <a:pPr indent="0" lvl="0" marL="0" marR="0" rtl="0" algn="ctr">
                        <a:lnSpc>
                          <a:spcPct val="100000"/>
                        </a:lnSpc>
                        <a:spcBef>
                          <a:spcPts val="0"/>
                        </a:spcBef>
                        <a:spcAft>
                          <a:spcPts val="0"/>
                        </a:spcAft>
                        <a:buClr>
                          <a:srgbClr val="000000"/>
                        </a:buClr>
                        <a:buSzPts val="1400"/>
                        <a:buFont typeface="Arial"/>
                        <a:buNone/>
                      </a:pPr>
                      <a:r>
                        <a:rPr b="1" lang="en-US" sz="1600" u="none" cap="none" strike="noStrike">
                          <a:latin typeface="Times New Roman"/>
                          <a:ea typeface="Times New Roman"/>
                          <a:cs typeface="Times New Roman"/>
                          <a:sym typeface="Times New Roman"/>
                        </a:rPr>
                        <a:t>Name of the Paper</a:t>
                      </a:r>
                      <a:endParaRPr b="1"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1600" u="none" cap="none" strike="noStrike">
                          <a:latin typeface="Times New Roman"/>
                          <a:ea typeface="Times New Roman"/>
                          <a:cs typeface="Times New Roman"/>
                          <a:sym typeface="Times New Roman"/>
                        </a:rPr>
                        <a:t>Publishing Year </a:t>
                      </a:r>
                      <a:endParaRPr b="1"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None/>
                      </a:pPr>
                      <a:r>
                        <a:rPr b="1" lang="en-US" sz="1600">
                          <a:latin typeface="Times New Roman"/>
                          <a:ea typeface="Times New Roman"/>
                          <a:cs typeface="Times New Roman"/>
                          <a:sym typeface="Times New Roman"/>
                        </a:rPr>
                        <a:t>Publisher</a:t>
                      </a:r>
                      <a:endParaRPr b="1"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1600" u="none" cap="none" strike="noStrike">
                          <a:latin typeface="Times New Roman"/>
                          <a:ea typeface="Times New Roman"/>
                          <a:cs typeface="Times New Roman"/>
                          <a:sym typeface="Times New Roman"/>
                        </a:rPr>
                        <a:t>Author</a:t>
                      </a:r>
                      <a:endParaRPr b="1"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1600" u="none" cap="none" strike="noStrike">
                          <a:latin typeface="Times New Roman"/>
                          <a:ea typeface="Times New Roman"/>
                          <a:cs typeface="Times New Roman"/>
                          <a:sym typeface="Times New Roman"/>
                        </a:rPr>
                        <a:t>Result</a:t>
                      </a:r>
                      <a:endParaRPr b="1" sz="1600" u="none" cap="none" strike="noStrike">
                        <a:latin typeface="Times New Roman"/>
                        <a:ea typeface="Times New Roman"/>
                        <a:cs typeface="Times New Roman"/>
                        <a:sym typeface="Times New Roman"/>
                      </a:endParaRPr>
                    </a:p>
                  </a:txBody>
                  <a:tcPr marT="91425" marB="91425" marR="91425" marL="91425"/>
                </a:tc>
              </a:tr>
              <a:tr h="2253000">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Image Encryption using AES Algorithm: Study and</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Evaluation</a:t>
                      </a:r>
                      <a:endParaRPr sz="16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2022</a:t>
                      </a:r>
                      <a:endParaRPr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International Journal for Research in Applied Science &amp; Engineering</a:t>
                      </a:r>
                      <a:endParaRPr sz="16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Pratiksha Shete, Surekha Kohle</a:t>
                      </a:r>
                      <a:endParaRPr sz="16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300"/>
                        <a:buFont typeface="Arial"/>
                        <a:buNone/>
                      </a:pPr>
                      <a:r>
                        <a:t/>
                      </a:r>
                      <a:endParaRPr sz="16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In addition to basic solutions for the development of a</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modern algorithm, the mentioned research also includes some future recommendations for designers and academic specialists. The AES algorithm certainly has some weaknesses, but they are minimal compared to its strengths.</a:t>
                      </a:r>
                      <a:endParaRPr sz="1600">
                        <a:latin typeface="Times New Roman"/>
                        <a:ea typeface="Times New Roman"/>
                        <a:cs typeface="Times New Roman"/>
                        <a:sym typeface="Times New Roman"/>
                      </a:endParaRPr>
                    </a:p>
                  </a:txBody>
                  <a:tcPr marT="91425" marB="91425" marR="91425" marL="91425"/>
                </a:tc>
              </a:tr>
              <a:tr h="2252975">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A NEW HYBRID VIDEO ENCRYPTION TECHNIQUE BASED ON AES</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CRYPTOGRAPHY</a:t>
                      </a:r>
                      <a:endParaRPr sz="1600">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2023</a:t>
                      </a:r>
                      <a:endParaRPr sz="1600" u="none" cap="none" strike="noStrike">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International Journal of Progressive Research in Engineering and Science</a:t>
                      </a:r>
                      <a:endParaRPr sz="1600">
                        <a:solidFill>
                          <a:schemeClr val="dk1"/>
                        </a:solidFill>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Anjali Krishna, Sarika Jain, S Geetha</a:t>
                      </a:r>
                      <a:endParaRPr sz="1600" u="none" cap="none" strike="noStrike">
                        <a:solidFill>
                          <a:schemeClr val="dk1"/>
                        </a:solidFill>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The results reveal that the proposed stream cipher pleases the</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demand for safe and secure encryption principles. The encrypted photos or video clips are safe in perception. The</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encryption procedure does not transform the compression proportion, and the scheme enhances little computational</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expense compared with video file encryption</a:t>
                      </a:r>
                      <a:endParaRPr sz="1600">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2bac2965169_0_35"/>
          <p:cNvSpPr txBox="1"/>
          <p:nvPr>
            <p:ph idx="11" type="ftr"/>
          </p:nvPr>
        </p:nvSpPr>
        <p:spPr>
          <a:xfrm>
            <a:off x="4038600" y="6492875"/>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138" name="Google Shape;138;g2bac2965169_0_3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39" name="Google Shape;139;g2bac2965169_0_35"/>
          <p:cNvSpPr txBox="1"/>
          <p:nvPr/>
        </p:nvSpPr>
        <p:spPr>
          <a:xfrm>
            <a:off x="1290918" y="247577"/>
            <a:ext cx="59130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900"/>
              <a:buFont typeface="Arial"/>
              <a:buNone/>
            </a:pPr>
            <a:r>
              <a:rPr b="1" i="0" lang="en-US" sz="3000" u="none" cap="none" strike="noStrike">
                <a:solidFill>
                  <a:schemeClr val="dk1"/>
                </a:solidFill>
                <a:latin typeface="Times New Roman"/>
                <a:ea typeface="Times New Roman"/>
                <a:cs typeface="Times New Roman"/>
                <a:sym typeface="Times New Roman"/>
              </a:rPr>
              <a:t>2. Review of literature </a:t>
            </a:r>
            <a:endParaRPr b="0" i="0" sz="3500" u="none" cap="none" strike="noStrike">
              <a:solidFill>
                <a:schemeClr val="dk1"/>
              </a:solidFill>
              <a:latin typeface="Calibri"/>
              <a:ea typeface="Calibri"/>
              <a:cs typeface="Calibri"/>
              <a:sym typeface="Calibri"/>
            </a:endParaRPr>
          </a:p>
        </p:txBody>
      </p:sp>
      <p:pic>
        <p:nvPicPr>
          <p:cNvPr id="140" name="Google Shape;140;g2bac2965169_0_35"/>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graphicFrame>
        <p:nvGraphicFramePr>
          <p:cNvPr id="141" name="Google Shape;141;g2bac2965169_0_35"/>
          <p:cNvGraphicFramePr/>
          <p:nvPr/>
        </p:nvGraphicFramePr>
        <p:xfrm>
          <a:off x="351267" y="1298128"/>
          <a:ext cx="3000000" cy="3000000"/>
        </p:xfrm>
        <a:graphic>
          <a:graphicData uri="http://schemas.openxmlformats.org/drawingml/2006/table">
            <a:tbl>
              <a:tblPr>
                <a:noFill/>
                <a:tableStyleId>{1DFE54DB-058D-4026-B7AA-7EE0A3718599}</a:tableStyleId>
              </a:tblPr>
              <a:tblGrid>
                <a:gridCol w="2592050"/>
                <a:gridCol w="1555275"/>
                <a:gridCol w="1555275"/>
                <a:gridCol w="2223550"/>
                <a:gridCol w="3806175"/>
              </a:tblGrid>
              <a:tr h="652225">
                <a:tc>
                  <a:txBody>
                    <a:bodyPr/>
                    <a:lstStyle/>
                    <a:p>
                      <a:pPr indent="0" lvl="0" marL="0" marR="0" rtl="0" algn="ctr">
                        <a:lnSpc>
                          <a:spcPct val="100000"/>
                        </a:lnSpc>
                        <a:spcBef>
                          <a:spcPts val="0"/>
                        </a:spcBef>
                        <a:spcAft>
                          <a:spcPts val="0"/>
                        </a:spcAft>
                        <a:buClr>
                          <a:srgbClr val="000000"/>
                        </a:buClr>
                        <a:buSzPts val="1400"/>
                        <a:buFont typeface="Arial"/>
                        <a:buNone/>
                      </a:pPr>
                      <a:r>
                        <a:rPr b="1" lang="en-US" sz="1600" u="none" cap="none" strike="noStrike">
                          <a:latin typeface="Times New Roman"/>
                          <a:ea typeface="Times New Roman"/>
                          <a:cs typeface="Times New Roman"/>
                          <a:sym typeface="Times New Roman"/>
                        </a:rPr>
                        <a:t>Name of the Paper</a:t>
                      </a:r>
                      <a:endParaRPr b="1"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1600" u="none" cap="none" strike="noStrike">
                          <a:latin typeface="Times New Roman"/>
                          <a:ea typeface="Times New Roman"/>
                          <a:cs typeface="Times New Roman"/>
                          <a:sym typeface="Times New Roman"/>
                        </a:rPr>
                        <a:t>Publishing Year </a:t>
                      </a:r>
                      <a:endParaRPr b="1"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None/>
                      </a:pPr>
                      <a:r>
                        <a:rPr b="1" lang="en-US" sz="1600">
                          <a:latin typeface="Times New Roman"/>
                          <a:ea typeface="Times New Roman"/>
                          <a:cs typeface="Times New Roman"/>
                          <a:sym typeface="Times New Roman"/>
                        </a:rPr>
                        <a:t>Publisher</a:t>
                      </a:r>
                      <a:endParaRPr b="1"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1600" u="none" cap="none" strike="noStrike">
                          <a:latin typeface="Times New Roman"/>
                          <a:ea typeface="Times New Roman"/>
                          <a:cs typeface="Times New Roman"/>
                          <a:sym typeface="Times New Roman"/>
                        </a:rPr>
                        <a:t>Author</a:t>
                      </a:r>
                      <a:endParaRPr b="1"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1600" u="none" cap="none" strike="noStrike">
                          <a:latin typeface="Times New Roman"/>
                          <a:ea typeface="Times New Roman"/>
                          <a:cs typeface="Times New Roman"/>
                          <a:sym typeface="Times New Roman"/>
                        </a:rPr>
                        <a:t>Result</a:t>
                      </a:r>
                      <a:endParaRPr b="1" sz="1600" u="none" cap="none" strike="noStrike">
                        <a:latin typeface="Times New Roman"/>
                        <a:ea typeface="Times New Roman"/>
                        <a:cs typeface="Times New Roman"/>
                        <a:sym typeface="Times New Roman"/>
                      </a:endParaRPr>
                    </a:p>
                  </a:txBody>
                  <a:tcPr marT="91425" marB="91425" marR="91425" marL="91425"/>
                </a:tc>
              </a:tr>
              <a:tr h="2191525">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HYBRID RSA-AES ENCRYPTION FOR WEB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SERVICES</a:t>
                      </a:r>
                      <a:endParaRPr sz="16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2015</a:t>
                      </a:r>
                      <a:endParaRPr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International Journal of Technical Research and Application</a:t>
                      </a:r>
                      <a:endParaRPr sz="16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Kalyani Ganesh Kadam, Prof. Vaishali Khairnar</a:t>
                      </a:r>
                      <a:endParaRPr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The proposed solution can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be used for ensuring security and integrity while exchanging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data between client applications and web service.</a:t>
                      </a:r>
                      <a:endParaRPr sz="1600">
                        <a:latin typeface="Times New Roman"/>
                        <a:ea typeface="Times New Roman"/>
                        <a:cs typeface="Times New Roman"/>
                        <a:sym typeface="Times New Roman"/>
                      </a:endParaRPr>
                    </a:p>
                  </a:txBody>
                  <a:tcPr marT="91425" marB="91425" marR="91425" marL="91425"/>
                </a:tc>
              </a:tr>
              <a:tr h="2076450">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ENHANCING HYBRID SECURITY APPROACH USING AES AND RSA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ALGORITHMS</a:t>
                      </a:r>
                      <a:endParaRPr sz="1600">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2021</a:t>
                      </a:r>
                      <a:endParaRPr sz="1600" u="none" cap="none" strike="noStrike">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Journal of Engineering and Sustainable Development</a:t>
                      </a:r>
                      <a:endParaRPr sz="1600">
                        <a:solidFill>
                          <a:schemeClr val="dk1"/>
                        </a:solidFill>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Samir G. Chaloop, Mahmood Z. Abdullah</a:t>
                      </a:r>
                      <a:endParaRPr sz="1600" u="none" cap="none" strike="noStrike">
                        <a:solidFill>
                          <a:schemeClr val="dk1"/>
                        </a:solidFill>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The results showed that the hybrid encryption is 67.47% faster than the RSA algorithm and 32.39% slower than the AES algorithm.</a:t>
                      </a:r>
                      <a:endParaRPr sz="1600">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2bac2965169_0_43"/>
          <p:cNvSpPr txBox="1"/>
          <p:nvPr>
            <p:ph idx="11" type="ftr"/>
          </p:nvPr>
        </p:nvSpPr>
        <p:spPr>
          <a:xfrm>
            <a:off x="4038600" y="6492875"/>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147" name="Google Shape;147;g2bac2965169_0_4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48" name="Google Shape;148;g2bac2965169_0_43"/>
          <p:cNvSpPr txBox="1"/>
          <p:nvPr/>
        </p:nvSpPr>
        <p:spPr>
          <a:xfrm>
            <a:off x="1290918" y="247577"/>
            <a:ext cx="59130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900"/>
              <a:buFont typeface="Arial"/>
              <a:buNone/>
            </a:pPr>
            <a:r>
              <a:rPr b="1" i="0" lang="en-US" sz="3000" u="none" cap="none" strike="noStrike">
                <a:solidFill>
                  <a:schemeClr val="dk1"/>
                </a:solidFill>
                <a:latin typeface="Times New Roman"/>
                <a:ea typeface="Times New Roman"/>
                <a:cs typeface="Times New Roman"/>
                <a:sym typeface="Times New Roman"/>
              </a:rPr>
              <a:t>2. Review of literature </a:t>
            </a:r>
            <a:endParaRPr b="0" i="0" sz="3500" u="none" cap="none" strike="noStrike">
              <a:solidFill>
                <a:schemeClr val="dk1"/>
              </a:solidFill>
              <a:latin typeface="Calibri"/>
              <a:ea typeface="Calibri"/>
              <a:cs typeface="Calibri"/>
              <a:sym typeface="Calibri"/>
            </a:endParaRPr>
          </a:p>
        </p:txBody>
      </p:sp>
      <p:pic>
        <p:nvPicPr>
          <p:cNvPr id="149" name="Google Shape;149;g2bac2965169_0_43"/>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graphicFrame>
        <p:nvGraphicFramePr>
          <p:cNvPr id="150" name="Google Shape;150;g2bac2965169_0_43"/>
          <p:cNvGraphicFramePr/>
          <p:nvPr/>
        </p:nvGraphicFramePr>
        <p:xfrm>
          <a:off x="105167" y="1145728"/>
          <a:ext cx="3000000" cy="3000000"/>
        </p:xfrm>
        <a:graphic>
          <a:graphicData uri="http://schemas.openxmlformats.org/drawingml/2006/table">
            <a:tbl>
              <a:tblPr>
                <a:noFill/>
                <a:tableStyleId>{1DFE54DB-058D-4026-B7AA-7EE0A3718599}</a:tableStyleId>
              </a:tblPr>
              <a:tblGrid>
                <a:gridCol w="1970925"/>
                <a:gridCol w="1720850"/>
                <a:gridCol w="1377625"/>
                <a:gridCol w="2123475"/>
                <a:gridCol w="4785525"/>
              </a:tblGrid>
              <a:tr h="324350">
                <a:tc>
                  <a:txBody>
                    <a:bodyPr/>
                    <a:lstStyle/>
                    <a:p>
                      <a:pPr indent="0" lvl="0" marL="0" marR="0" rtl="0" algn="ctr">
                        <a:lnSpc>
                          <a:spcPct val="100000"/>
                        </a:lnSpc>
                        <a:spcBef>
                          <a:spcPts val="0"/>
                        </a:spcBef>
                        <a:spcAft>
                          <a:spcPts val="0"/>
                        </a:spcAft>
                        <a:buClr>
                          <a:srgbClr val="000000"/>
                        </a:buClr>
                        <a:buSzPts val="1400"/>
                        <a:buFont typeface="Arial"/>
                        <a:buNone/>
                      </a:pPr>
                      <a:r>
                        <a:rPr b="1" lang="en-US" sz="1600" u="none" cap="none" strike="noStrike">
                          <a:latin typeface="Times New Roman"/>
                          <a:ea typeface="Times New Roman"/>
                          <a:cs typeface="Times New Roman"/>
                          <a:sym typeface="Times New Roman"/>
                        </a:rPr>
                        <a:t>Name of the Paper</a:t>
                      </a:r>
                      <a:endParaRPr b="1"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1600" u="none" cap="none" strike="noStrike">
                          <a:latin typeface="Times New Roman"/>
                          <a:ea typeface="Times New Roman"/>
                          <a:cs typeface="Times New Roman"/>
                          <a:sym typeface="Times New Roman"/>
                        </a:rPr>
                        <a:t>Publishing Year </a:t>
                      </a:r>
                      <a:endParaRPr b="1"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None/>
                      </a:pPr>
                      <a:r>
                        <a:rPr b="1" lang="en-US" sz="1600">
                          <a:latin typeface="Times New Roman"/>
                          <a:ea typeface="Times New Roman"/>
                          <a:cs typeface="Times New Roman"/>
                          <a:sym typeface="Times New Roman"/>
                        </a:rPr>
                        <a:t>Publisher</a:t>
                      </a:r>
                      <a:endParaRPr b="1"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1600" u="none" cap="none" strike="noStrike">
                          <a:latin typeface="Times New Roman"/>
                          <a:ea typeface="Times New Roman"/>
                          <a:cs typeface="Times New Roman"/>
                          <a:sym typeface="Times New Roman"/>
                        </a:rPr>
                        <a:t>Author</a:t>
                      </a:r>
                      <a:endParaRPr b="1"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1600" u="none" cap="none" strike="noStrike">
                          <a:latin typeface="Times New Roman"/>
                          <a:ea typeface="Times New Roman"/>
                          <a:cs typeface="Times New Roman"/>
                          <a:sym typeface="Times New Roman"/>
                        </a:rPr>
                        <a:t>Result</a:t>
                      </a:r>
                      <a:endParaRPr b="1" sz="1600" u="none" cap="none" strike="noStrike">
                        <a:latin typeface="Times New Roman"/>
                        <a:ea typeface="Times New Roman"/>
                        <a:cs typeface="Times New Roman"/>
                        <a:sym typeface="Times New Roman"/>
                      </a:endParaRPr>
                    </a:p>
                  </a:txBody>
                  <a:tcPr marT="91425" marB="91425" marR="91425" marL="91425"/>
                </a:tc>
              </a:tr>
              <a:tr h="2363275">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A Literature Review on RSA, DES and</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AES Encryption Algorithms</a:t>
                      </a:r>
                      <a:endParaRPr sz="16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2023</a:t>
                      </a:r>
                      <a:endParaRPr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Emerging Trends in Engineering and Management</a:t>
                      </a:r>
                      <a:endParaRPr sz="16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Roopali Sood, Harpreet Kaur</a:t>
                      </a:r>
                      <a:endParaRPr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According to literature survey, it has been found that AES algorithm is most efficient in terms of speed, time, throughput and avalanche effect. The security</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provided by these algorithms can be enhanced further, if more than one algorithm is applied to data.</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Future work will explore this concepts and combination of algorithms will be applied either</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sequentially or parallel to set up a more secure environment for data storage and retrieval.</a:t>
                      </a:r>
                      <a:endParaRPr sz="1600">
                        <a:latin typeface="Times New Roman"/>
                        <a:ea typeface="Times New Roman"/>
                        <a:cs typeface="Times New Roman"/>
                        <a:sym typeface="Times New Roman"/>
                      </a:endParaRPr>
                    </a:p>
                  </a:txBody>
                  <a:tcPr marT="91425" marB="91425" marR="91425" marL="91425"/>
                </a:tc>
              </a:tr>
              <a:tr h="2112050">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Comparative Analysis of Encryption Algorithms</a:t>
                      </a:r>
                      <a:endParaRPr sz="1600" u="none" cap="none" strike="noStrike">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2023</a:t>
                      </a:r>
                      <a:endParaRPr sz="1600" u="none" cap="none" strike="noStrike">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European Journal of Technology</a:t>
                      </a:r>
                      <a:endParaRPr sz="1600">
                        <a:solidFill>
                          <a:schemeClr val="dk1"/>
                        </a:solidFill>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Agbelusi Olutola and Matthew Olumuyiwa</a:t>
                      </a:r>
                      <a:endParaRPr sz="1600" u="none" cap="none" strike="noStrike">
                        <a:solidFill>
                          <a:schemeClr val="dk1"/>
                        </a:solidFill>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The results obtained from the development revealed that AES is considered more</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efficient because it uses lesser time for encryption and decryption, reduces cipher and key length</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as compared with RSA which consumes longer encryption and decryption time, and increases</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cipher and key length. Excel package was also used to display the pictorial representation of the</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comparison between these algorithms.</a:t>
                      </a:r>
                      <a:endParaRPr sz="1600">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2bac2965169_0_51"/>
          <p:cNvSpPr txBox="1"/>
          <p:nvPr>
            <p:ph idx="11" type="ftr"/>
          </p:nvPr>
        </p:nvSpPr>
        <p:spPr>
          <a:xfrm>
            <a:off x="4038600" y="6492875"/>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156" name="Google Shape;156;g2bac2965169_0_5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57" name="Google Shape;157;g2bac2965169_0_51"/>
          <p:cNvSpPr txBox="1"/>
          <p:nvPr/>
        </p:nvSpPr>
        <p:spPr>
          <a:xfrm>
            <a:off x="1290918" y="247577"/>
            <a:ext cx="59130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900"/>
              <a:buFont typeface="Arial"/>
              <a:buNone/>
            </a:pPr>
            <a:r>
              <a:rPr b="1" i="0" lang="en-US" sz="3000" u="none" cap="none" strike="noStrike">
                <a:solidFill>
                  <a:schemeClr val="dk1"/>
                </a:solidFill>
                <a:latin typeface="Times New Roman"/>
                <a:ea typeface="Times New Roman"/>
                <a:cs typeface="Times New Roman"/>
                <a:sym typeface="Times New Roman"/>
              </a:rPr>
              <a:t>2. Review of literature </a:t>
            </a:r>
            <a:endParaRPr b="0" i="0" sz="3500" u="none" cap="none" strike="noStrike">
              <a:solidFill>
                <a:schemeClr val="dk1"/>
              </a:solidFill>
              <a:latin typeface="Calibri"/>
              <a:ea typeface="Calibri"/>
              <a:cs typeface="Calibri"/>
              <a:sym typeface="Calibri"/>
            </a:endParaRPr>
          </a:p>
        </p:txBody>
      </p:sp>
      <p:pic>
        <p:nvPicPr>
          <p:cNvPr id="158" name="Google Shape;158;g2bac2965169_0_51"/>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graphicFrame>
        <p:nvGraphicFramePr>
          <p:cNvPr id="159" name="Google Shape;159;g2bac2965169_0_51"/>
          <p:cNvGraphicFramePr/>
          <p:nvPr/>
        </p:nvGraphicFramePr>
        <p:xfrm>
          <a:off x="351267" y="917128"/>
          <a:ext cx="3000000" cy="3000000"/>
        </p:xfrm>
        <a:graphic>
          <a:graphicData uri="http://schemas.openxmlformats.org/drawingml/2006/table">
            <a:tbl>
              <a:tblPr>
                <a:noFill/>
                <a:tableStyleId>{1DFE54DB-058D-4026-B7AA-7EE0A3718599}</a:tableStyleId>
              </a:tblPr>
              <a:tblGrid>
                <a:gridCol w="2592050"/>
                <a:gridCol w="1003950"/>
                <a:gridCol w="1151850"/>
                <a:gridCol w="2855575"/>
                <a:gridCol w="4128900"/>
              </a:tblGrid>
              <a:tr h="649600">
                <a:tc>
                  <a:txBody>
                    <a:bodyPr/>
                    <a:lstStyle/>
                    <a:p>
                      <a:pPr indent="0" lvl="0" marL="0" marR="0" rtl="0" algn="ctr">
                        <a:lnSpc>
                          <a:spcPct val="100000"/>
                        </a:lnSpc>
                        <a:spcBef>
                          <a:spcPts val="0"/>
                        </a:spcBef>
                        <a:spcAft>
                          <a:spcPts val="0"/>
                        </a:spcAft>
                        <a:buClr>
                          <a:srgbClr val="000000"/>
                        </a:buClr>
                        <a:buSzPts val="1400"/>
                        <a:buFont typeface="Arial"/>
                        <a:buNone/>
                      </a:pPr>
                      <a:r>
                        <a:rPr b="1" lang="en-US" sz="1600" u="none" cap="none" strike="noStrike">
                          <a:latin typeface="Times New Roman"/>
                          <a:ea typeface="Times New Roman"/>
                          <a:cs typeface="Times New Roman"/>
                          <a:sym typeface="Times New Roman"/>
                        </a:rPr>
                        <a:t>Name of the Paper</a:t>
                      </a:r>
                      <a:endParaRPr b="1"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1600" u="none" cap="none" strike="noStrike">
                          <a:latin typeface="Times New Roman"/>
                          <a:ea typeface="Times New Roman"/>
                          <a:cs typeface="Times New Roman"/>
                          <a:sym typeface="Times New Roman"/>
                        </a:rPr>
                        <a:t>Publishing Year </a:t>
                      </a:r>
                      <a:endParaRPr b="1"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None/>
                      </a:pPr>
                      <a:r>
                        <a:rPr b="1" lang="en-US" sz="1600">
                          <a:latin typeface="Times New Roman"/>
                          <a:ea typeface="Times New Roman"/>
                          <a:cs typeface="Times New Roman"/>
                          <a:sym typeface="Times New Roman"/>
                        </a:rPr>
                        <a:t>Publisher</a:t>
                      </a:r>
                      <a:endParaRPr b="1"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1600" u="none" cap="none" strike="noStrike">
                          <a:latin typeface="Times New Roman"/>
                          <a:ea typeface="Times New Roman"/>
                          <a:cs typeface="Times New Roman"/>
                          <a:sym typeface="Times New Roman"/>
                        </a:rPr>
                        <a:t>Author</a:t>
                      </a:r>
                      <a:endParaRPr b="1"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1600" u="none" cap="none" strike="noStrike">
                          <a:latin typeface="Times New Roman"/>
                          <a:ea typeface="Times New Roman"/>
                          <a:cs typeface="Times New Roman"/>
                          <a:sym typeface="Times New Roman"/>
                        </a:rPr>
                        <a:t>Result</a:t>
                      </a:r>
                      <a:endParaRPr b="1" sz="1600" u="none" cap="none" strike="noStrike">
                        <a:latin typeface="Times New Roman"/>
                        <a:ea typeface="Times New Roman"/>
                        <a:cs typeface="Times New Roman"/>
                        <a:sym typeface="Times New Roman"/>
                      </a:endParaRPr>
                    </a:p>
                  </a:txBody>
                  <a:tcPr marT="91425" marB="91425" marR="91425" marL="91425"/>
                </a:tc>
              </a:tr>
              <a:tr h="2539425">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Comparative Analysis of Aes and Rsa Algorithms for Data</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Security in Cloud Computing</a:t>
                      </a:r>
                      <a:endParaRPr sz="16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2022</a:t>
                      </a:r>
                      <a:endParaRPr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MDPI</a:t>
                      </a:r>
                      <a:endParaRPr sz="16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Sana Fatima, Tanazzah Rehman, Muskan Fatima, Shahmeer Khan and Mir Arshan Ali</a:t>
                      </a:r>
                      <a:endParaRPr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The AES algorithm is the method of lesser time complexity and due to its flexible</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and scalable behaviour it is easily implemented, leaving the RSA algorithm behind in</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terms of memory requirements. The AES algorithm protects data with its high security</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level and can counterattack against a variety of attacks. Thus, a hybrid model of AES and RSA will increase the security of the</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cloud overall.</a:t>
                      </a:r>
                      <a:endParaRPr sz="1600">
                        <a:latin typeface="Times New Roman"/>
                        <a:ea typeface="Times New Roman"/>
                        <a:cs typeface="Times New Roman"/>
                        <a:sym typeface="Times New Roman"/>
                      </a:endParaRPr>
                    </a:p>
                  </a:txBody>
                  <a:tcPr marT="91425" marB="91425" marR="91425" marL="91425"/>
                </a:tc>
              </a:tr>
              <a:tr h="2303200">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Comparative Analysis of Encryption Algorithms</a:t>
                      </a:r>
                      <a:endParaRPr sz="1600" u="none" cap="none" strike="noStrike">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2018</a:t>
                      </a:r>
                      <a:endParaRPr sz="1600" u="none" cap="none" strike="noStrike">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Covenant Journal of Informatics &amp; Communication Technology</a:t>
                      </a:r>
                      <a:endParaRPr sz="1600">
                        <a:solidFill>
                          <a:schemeClr val="dk1"/>
                        </a:solidFill>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Nureni Ayofe Azeez  &amp; Sayyidina'Aliyy Bolaji Abubakar</a:t>
                      </a:r>
                      <a:endParaRPr sz="1600" u="none" cap="none" strike="noStrike">
                        <a:solidFill>
                          <a:schemeClr val="dk1"/>
                        </a:solidFill>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The results obtained from the experimentation revealed that AES uses the</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lowest time for encryption while RSA consumes longest encryption time.</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Also, AES algorithm is considered the most efficient of all the three</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algorithms based on the metrics used for the evaluation.</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600">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2931a74b021_0_4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165" name="Google Shape;165;g2931a74b021_0_4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6" name="Google Shape;166;g2931a74b021_0_46"/>
          <p:cNvSpPr txBox="1"/>
          <p:nvPr/>
        </p:nvSpPr>
        <p:spPr>
          <a:xfrm>
            <a:off x="1378033" y="359674"/>
            <a:ext cx="58737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dk1"/>
                </a:solidFill>
                <a:latin typeface="Times New Roman"/>
                <a:ea typeface="Times New Roman"/>
                <a:cs typeface="Times New Roman"/>
                <a:sym typeface="Times New Roman"/>
              </a:rPr>
              <a:t>3. Research Gap </a:t>
            </a:r>
            <a:endParaRPr b="0" i="0" sz="3000" u="none" cap="none" strike="noStrike">
              <a:solidFill>
                <a:schemeClr val="dk1"/>
              </a:solidFill>
              <a:latin typeface="Calibri"/>
              <a:ea typeface="Calibri"/>
              <a:cs typeface="Calibri"/>
              <a:sym typeface="Calibri"/>
            </a:endParaRPr>
          </a:p>
        </p:txBody>
      </p:sp>
      <p:pic>
        <p:nvPicPr>
          <p:cNvPr id="167" name="Google Shape;167;g2931a74b021_0_46"/>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168" name="Google Shape;168;g2931a74b021_0_46"/>
          <p:cNvSpPr txBox="1"/>
          <p:nvPr/>
        </p:nvSpPr>
        <p:spPr>
          <a:xfrm>
            <a:off x="1283200" y="1256450"/>
            <a:ext cx="9756900" cy="4433100"/>
          </a:xfrm>
          <a:prstGeom prst="rect">
            <a:avLst/>
          </a:prstGeom>
          <a:noFill/>
          <a:ln>
            <a:noFill/>
          </a:ln>
        </p:spPr>
        <p:txBody>
          <a:bodyPr anchorCtr="0" anchor="t" bIns="91425" lIns="91425" spcFirstLastPara="1" rIns="91425" wrap="square" tIns="91425">
            <a:spAutoFit/>
          </a:bodyPr>
          <a:lstStyle/>
          <a:p>
            <a:pPr indent="-355600" lvl="0" marL="457200" rtl="0" algn="just">
              <a:spcBef>
                <a:spcPts val="0"/>
              </a:spcBef>
              <a:spcAft>
                <a:spcPts val="0"/>
              </a:spcAft>
              <a:buSzPts val="2000"/>
              <a:buFont typeface="Times New Roman"/>
              <a:buChar char="●"/>
            </a:pPr>
            <a:r>
              <a:rPr lang="en-US" sz="2000">
                <a:latin typeface="Times New Roman"/>
                <a:ea typeface="Times New Roman"/>
                <a:cs typeface="Times New Roman"/>
                <a:sym typeface="Times New Roman"/>
              </a:rPr>
              <a:t>In our literature survey we have found that none of the past researches have made a study on the implementation of the hybrid model of AES and Triple DES algorithm for the encryption of images and videos but only made a stand alone implementation of AES or RSA or Triple DES algorithms.</a:t>
            </a:r>
            <a:endParaRPr sz="2000">
              <a:latin typeface="Times New Roman"/>
              <a:ea typeface="Times New Roman"/>
              <a:cs typeface="Times New Roman"/>
              <a:sym typeface="Times New Roman"/>
            </a:endParaRPr>
          </a:p>
          <a:p>
            <a:pPr indent="0" lvl="0" marL="457200" rtl="0" algn="just">
              <a:spcBef>
                <a:spcPts val="0"/>
              </a:spcBef>
              <a:spcAft>
                <a:spcPts val="0"/>
              </a:spcAft>
              <a:buClr>
                <a:schemeClr val="dk1"/>
              </a:buClr>
              <a:buSzPts val="1100"/>
              <a:buFont typeface="Arial"/>
              <a:buNone/>
            </a:pPr>
            <a:r>
              <a:t/>
            </a:r>
            <a:endParaRPr sz="2000">
              <a:latin typeface="Times New Roman"/>
              <a:ea typeface="Times New Roman"/>
              <a:cs typeface="Times New Roman"/>
              <a:sym typeface="Times New Roman"/>
            </a:endParaRPr>
          </a:p>
          <a:p>
            <a:pPr indent="-355600" lvl="0" marL="457200" rtl="0" algn="just">
              <a:spcBef>
                <a:spcPts val="0"/>
              </a:spcBef>
              <a:spcAft>
                <a:spcPts val="0"/>
              </a:spcAft>
              <a:buSzPts val="2000"/>
              <a:buFont typeface="Times New Roman"/>
              <a:buChar char="●"/>
            </a:pPr>
            <a:r>
              <a:rPr lang="en-US" sz="2000">
                <a:latin typeface="Times New Roman"/>
                <a:ea typeface="Times New Roman"/>
                <a:cs typeface="Times New Roman"/>
                <a:sym typeface="Times New Roman"/>
              </a:rPr>
              <a:t>Some works also have just implemented the hybrid model of AES and RSA algorithm which is working on the encryption of plain text and some amount of media files.</a:t>
            </a:r>
            <a:endParaRPr sz="2000">
              <a:latin typeface="Times New Roman"/>
              <a:ea typeface="Times New Roman"/>
              <a:cs typeface="Times New Roman"/>
              <a:sym typeface="Times New Roman"/>
            </a:endParaRPr>
          </a:p>
          <a:p>
            <a:pPr indent="0" lvl="0" marL="457200" rtl="0" algn="just">
              <a:spcBef>
                <a:spcPts val="0"/>
              </a:spcBef>
              <a:spcAft>
                <a:spcPts val="0"/>
              </a:spcAft>
              <a:buClr>
                <a:schemeClr val="dk1"/>
              </a:buClr>
              <a:buSzPts val="1100"/>
              <a:buFont typeface="Arial"/>
              <a:buNone/>
            </a:pPr>
            <a:r>
              <a:t/>
            </a:r>
            <a:endParaRPr sz="2000">
              <a:latin typeface="Times New Roman"/>
              <a:ea typeface="Times New Roman"/>
              <a:cs typeface="Times New Roman"/>
              <a:sym typeface="Times New Roman"/>
            </a:endParaRPr>
          </a:p>
          <a:p>
            <a:pPr indent="-355600" lvl="0" marL="457200" rtl="0" algn="just">
              <a:spcBef>
                <a:spcPts val="0"/>
              </a:spcBef>
              <a:spcAft>
                <a:spcPts val="0"/>
              </a:spcAft>
              <a:buSzPts val="2000"/>
              <a:buFont typeface="Times New Roman"/>
              <a:buChar char="●"/>
            </a:pPr>
            <a:r>
              <a:rPr lang="en-US" sz="2000">
                <a:latin typeface="Times New Roman"/>
                <a:ea typeface="Times New Roman"/>
                <a:cs typeface="Times New Roman"/>
                <a:sym typeface="Times New Roman"/>
              </a:rPr>
              <a:t>There is no work done that compares the two hybrid models of AES-RSA and AES-Triple DES algorithms that work on the encryption of media files like images and videos.</a:t>
            </a:r>
            <a:endParaRPr sz="2000">
              <a:latin typeface="Times New Roman"/>
              <a:ea typeface="Times New Roman"/>
              <a:cs typeface="Times New Roman"/>
              <a:sym typeface="Times New Roman"/>
            </a:endParaRPr>
          </a:p>
          <a:p>
            <a:pPr indent="0" lvl="0" marL="457200" rtl="0" algn="just">
              <a:spcBef>
                <a:spcPts val="0"/>
              </a:spcBef>
              <a:spcAft>
                <a:spcPts val="0"/>
              </a:spcAft>
              <a:buClr>
                <a:schemeClr val="dk1"/>
              </a:buClr>
              <a:buSzPts val="1100"/>
              <a:buFont typeface="Arial"/>
              <a:buNone/>
            </a:pPr>
            <a:r>
              <a:t/>
            </a:r>
            <a:endParaRPr sz="2000">
              <a:latin typeface="Times New Roman"/>
              <a:ea typeface="Times New Roman"/>
              <a:cs typeface="Times New Roman"/>
              <a:sym typeface="Times New Roman"/>
            </a:endParaRPr>
          </a:p>
          <a:p>
            <a:pPr indent="0" lvl="0" marL="457200" rtl="0" algn="just">
              <a:spcBef>
                <a:spcPts val="0"/>
              </a:spcBef>
              <a:spcAft>
                <a:spcPts val="0"/>
              </a:spcAft>
              <a:buNone/>
            </a:pPr>
            <a:r>
              <a:t/>
            </a:r>
            <a:endParaRPr sz="2000">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174" name="Google Shape;17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75" name="Google Shape;175;p4"/>
          <p:cNvSpPr txBox="1"/>
          <p:nvPr/>
        </p:nvSpPr>
        <p:spPr>
          <a:xfrm>
            <a:off x="1333948" y="313565"/>
            <a:ext cx="58092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dk1"/>
                </a:solidFill>
                <a:latin typeface="Times New Roman"/>
                <a:ea typeface="Times New Roman"/>
                <a:cs typeface="Times New Roman"/>
                <a:sym typeface="Times New Roman"/>
              </a:rPr>
              <a:t>4. Objective</a:t>
            </a:r>
            <a:endParaRPr b="0" i="0" sz="3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Calibri"/>
              <a:ea typeface="Calibri"/>
              <a:cs typeface="Calibri"/>
              <a:sym typeface="Calibri"/>
            </a:endParaRPr>
          </a:p>
        </p:txBody>
      </p:sp>
      <p:pic>
        <p:nvPicPr>
          <p:cNvPr id="176" name="Google Shape;176;p4"/>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177" name="Google Shape;177;p4"/>
          <p:cNvSpPr txBox="1"/>
          <p:nvPr/>
        </p:nvSpPr>
        <p:spPr>
          <a:xfrm>
            <a:off x="1183350" y="1572600"/>
            <a:ext cx="9641400" cy="19086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The project aims to implement the hybrid algorithm models of AES with RSA and AES with Triple DES algorithm for the encryption of images and videos. </a:t>
            </a:r>
            <a:endParaRPr sz="2000">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We will focus on the comparative analysis of both of these hybrid models on the basis of time complexity, space complexity, strength, use case and applicability.</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183" name="Google Shape;183;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84" name="Google Shape;184;p5"/>
          <p:cNvSpPr txBox="1"/>
          <p:nvPr/>
        </p:nvSpPr>
        <p:spPr>
          <a:xfrm>
            <a:off x="1243792" y="275465"/>
            <a:ext cx="53250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dk1"/>
                </a:solidFill>
                <a:latin typeface="Times New Roman"/>
                <a:ea typeface="Times New Roman"/>
                <a:cs typeface="Times New Roman"/>
                <a:sym typeface="Times New Roman"/>
              </a:rPr>
              <a:t>5. Methodology</a:t>
            </a:r>
            <a:endParaRPr b="0" i="0" sz="3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Calibri"/>
              <a:ea typeface="Calibri"/>
              <a:cs typeface="Calibri"/>
              <a:sym typeface="Calibri"/>
            </a:endParaRPr>
          </a:p>
        </p:txBody>
      </p:sp>
      <p:pic>
        <p:nvPicPr>
          <p:cNvPr id="185" name="Google Shape;185;p5"/>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186" name="Google Shape;186;p5"/>
          <p:cNvSpPr txBox="1"/>
          <p:nvPr/>
        </p:nvSpPr>
        <p:spPr>
          <a:xfrm>
            <a:off x="1243800" y="1098825"/>
            <a:ext cx="10253400" cy="47409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15000"/>
              </a:lnSpc>
              <a:spcBef>
                <a:spcPts val="0"/>
              </a:spcBef>
              <a:spcAft>
                <a:spcPts val="0"/>
              </a:spcAft>
              <a:buClr>
                <a:srgbClr val="000000"/>
              </a:buClr>
              <a:buSzPts val="2000"/>
              <a:buFont typeface="Times New Roman"/>
              <a:buChar char="●"/>
            </a:pPr>
            <a:r>
              <a:rPr lang="en-US" sz="2000">
                <a:latin typeface="Times New Roman"/>
                <a:ea typeface="Times New Roman"/>
                <a:cs typeface="Times New Roman"/>
                <a:sym typeface="Times New Roman"/>
              </a:rPr>
              <a:t>The approach or planning for the project is to create a program that implements the hybrid implementation of AES and RSA algorithms and AES and Triple DES algorithms respectively i.e. encrypts the data using both the algorithms and also decrypts in a suitable manner.</a:t>
            </a:r>
            <a:endParaRPr b="0" i="0" sz="2000" u="none" cap="none" strike="noStrike">
              <a:solidFill>
                <a:srgbClr val="000000"/>
              </a:solidFill>
              <a:latin typeface="Times New Roman"/>
              <a:ea typeface="Times New Roman"/>
              <a:cs typeface="Times New Roman"/>
              <a:sym typeface="Times New Roman"/>
            </a:endParaRPr>
          </a:p>
          <a:p>
            <a:pPr indent="0" lvl="0" marL="457200" marR="0" rtl="0" algn="just">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rgbClr val="000000"/>
              </a:buClr>
              <a:buSzPts val="2000"/>
              <a:buFont typeface="Times New Roman"/>
              <a:buChar char="●"/>
            </a:pPr>
            <a:r>
              <a:rPr lang="en-US" sz="2000">
                <a:latin typeface="Times New Roman"/>
                <a:ea typeface="Times New Roman"/>
                <a:cs typeface="Times New Roman"/>
                <a:sym typeface="Times New Roman"/>
              </a:rPr>
              <a:t>The implementation of the algorithms matters as it will decide the parameters that will make the process more or less efficient which includes time and space complexity, strength of cypher, speed of execution, size of the encrypted media, effectiveness, and their applicability in different scenarios.</a:t>
            </a:r>
            <a:endParaRPr b="0" i="0" sz="2000" u="none" cap="none" strike="noStrike">
              <a:solidFill>
                <a:srgbClr val="000000"/>
              </a:solidFill>
              <a:latin typeface="Times New Roman"/>
              <a:ea typeface="Times New Roman"/>
              <a:cs typeface="Times New Roman"/>
              <a:sym typeface="Times New Roman"/>
            </a:endParaRPr>
          </a:p>
          <a:p>
            <a:pPr indent="0" lvl="0" marL="457200" marR="0" rtl="0" algn="just">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rgbClr val="000000"/>
              </a:buClr>
              <a:buSzPts val="2000"/>
              <a:buFont typeface="Times New Roman"/>
              <a:buChar char="●"/>
            </a:pPr>
            <a:r>
              <a:rPr lang="en-US" sz="2000">
                <a:latin typeface="Times New Roman"/>
                <a:ea typeface="Times New Roman"/>
                <a:cs typeface="Times New Roman"/>
                <a:sym typeface="Times New Roman"/>
              </a:rPr>
              <a:t>Implementing the AES and RSA algorithms and AES and Triple DES algorithms respectively and then making a comparative analysis of their performance while they encrypt and decrypt multimedia files such as images and videos.</a:t>
            </a:r>
            <a:endParaRPr b="0" i="0" sz="2000" u="none" cap="none" strike="noStrike">
              <a:solidFill>
                <a:srgbClr val="000000"/>
              </a:solidFill>
              <a:latin typeface="Times New Roman"/>
              <a:ea typeface="Times New Roman"/>
              <a:cs typeface="Times New Roman"/>
              <a:sym typeface="Times New Roman"/>
            </a:endParaRPr>
          </a:p>
          <a:p>
            <a:pPr indent="0" lvl="0" marL="457200" marR="0" rtl="0" algn="just">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2931a74b021_0_2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192" name="Google Shape;192;g2931a74b021_0_2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93" name="Google Shape;193;g2931a74b021_0_22"/>
          <p:cNvSpPr txBox="1"/>
          <p:nvPr/>
        </p:nvSpPr>
        <p:spPr>
          <a:xfrm>
            <a:off x="1564817" y="404765"/>
            <a:ext cx="5325000" cy="554100"/>
          </a:xfrm>
          <a:prstGeom prst="rect">
            <a:avLst/>
          </a:prstGeom>
          <a:noFill/>
          <a:ln>
            <a:noFill/>
          </a:ln>
        </p:spPr>
        <p:txBody>
          <a:bodyPr anchorCtr="0" anchor="t" bIns="45700" lIns="91425" spcFirstLastPara="1" rIns="91425" wrap="square" tIns="45700">
            <a:spAutoFit/>
          </a:bodyPr>
          <a:lstStyle/>
          <a:p>
            <a:pPr indent="0" lvl="0" marL="0" marR="0" rtl="0" algn="just">
              <a:lnSpc>
                <a:spcPct val="115000"/>
              </a:lnSpc>
              <a:spcBef>
                <a:spcPts val="0"/>
              </a:spcBef>
              <a:spcAft>
                <a:spcPts val="0"/>
              </a:spcAft>
              <a:buClr>
                <a:schemeClr val="dk1"/>
              </a:buClr>
              <a:buSzPts val="1100"/>
              <a:buFont typeface="Arial"/>
              <a:buNone/>
            </a:pPr>
            <a:r>
              <a:rPr b="1" lang="en-US" sz="3000">
                <a:solidFill>
                  <a:schemeClr val="dk1"/>
                </a:solidFill>
                <a:latin typeface="Times New Roman"/>
                <a:ea typeface="Times New Roman"/>
                <a:cs typeface="Times New Roman"/>
                <a:sym typeface="Times New Roman"/>
              </a:rPr>
              <a:t>Encryption</a:t>
            </a:r>
            <a:r>
              <a:rPr lang="en-US" sz="3000">
                <a:solidFill>
                  <a:schemeClr val="dk1"/>
                </a:solidFill>
                <a:latin typeface="Times New Roman"/>
                <a:ea typeface="Times New Roman"/>
                <a:cs typeface="Times New Roman"/>
                <a:sym typeface="Times New Roman"/>
              </a:rPr>
              <a:t>:</a:t>
            </a:r>
            <a:endParaRPr sz="3000">
              <a:solidFill>
                <a:schemeClr val="dk1"/>
              </a:solidFill>
              <a:latin typeface="Times New Roman"/>
              <a:ea typeface="Times New Roman"/>
              <a:cs typeface="Times New Roman"/>
              <a:sym typeface="Times New Roman"/>
            </a:endParaRPr>
          </a:p>
        </p:txBody>
      </p:sp>
      <p:pic>
        <p:nvPicPr>
          <p:cNvPr id="194" name="Google Shape;194;g2931a74b021_0_22"/>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195" name="Google Shape;195;g2931a74b021_0_22"/>
          <p:cNvSpPr txBox="1"/>
          <p:nvPr/>
        </p:nvSpPr>
        <p:spPr>
          <a:xfrm>
            <a:off x="552175" y="1459050"/>
            <a:ext cx="10578900" cy="3768000"/>
          </a:xfrm>
          <a:prstGeom prst="rect">
            <a:avLst/>
          </a:prstGeom>
          <a:noFill/>
          <a:ln>
            <a:noFill/>
          </a:ln>
        </p:spPr>
        <p:txBody>
          <a:bodyPr anchorCtr="0" anchor="t" bIns="91425" lIns="91425" spcFirstLastPara="1" rIns="91425" wrap="square" tIns="91425">
            <a:noAutofit/>
          </a:bodyPr>
          <a:lstStyle/>
          <a:p>
            <a:pPr indent="0" lvl="0" marL="457200" marR="0" rtl="0" algn="just">
              <a:lnSpc>
                <a:spcPct val="115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355600" lvl="0" marL="1371600" marR="0" rtl="0" algn="just">
              <a:lnSpc>
                <a:spcPct val="115000"/>
              </a:lnSpc>
              <a:spcBef>
                <a:spcPts val="0"/>
              </a:spcBef>
              <a:spcAft>
                <a:spcPts val="0"/>
              </a:spcAft>
              <a:buClr>
                <a:schemeClr val="dk1"/>
              </a:buClr>
              <a:buSzPts val="2000"/>
              <a:buFont typeface="Times New Roman"/>
              <a:buAutoNum type="arabicPeriod"/>
            </a:pPr>
            <a:r>
              <a:rPr lang="en-US" sz="2000" u="sng">
                <a:solidFill>
                  <a:schemeClr val="dk1"/>
                </a:solidFill>
                <a:latin typeface="Times New Roman"/>
                <a:ea typeface="Times New Roman"/>
                <a:cs typeface="Times New Roman"/>
                <a:sym typeface="Times New Roman"/>
              </a:rPr>
              <a:t>Convert the Image/Video to a Byte Array:</a:t>
            </a:r>
            <a:r>
              <a:rPr lang="en-US" sz="2000">
                <a:solidFill>
                  <a:schemeClr val="dk1"/>
                </a:solidFill>
                <a:latin typeface="Times New Roman"/>
                <a:ea typeface="Times New Roman"/>
                <a:cs typeface="Times New Roman"/>
                <a:sym typeface="Times New Roman"/>
              </a:rPr>
              <a:t> Read the image or video file and convert it into a byte array. This array will represent the raw data of the file.</a:t>
            </a:r>
            <a:endParaRPr sz="2000">
              <a:solidFill>
                <a:schemeClr val="dk1"/>
              </a:solidFill>
              <a:latin typeface="Times New Roman"/>
              <a:ea typeface="Times New Roman"/>
              <a:cs typeface="Times New Roman"/>
              <a:sym typeface="Times New Roman"/>
            </a:endParaRPr>
          </a:p>
          <a:p>
            <a:pPr indent="0" lvl="0" marL="1371600" marR="0" rtl="0" algn="just">
              <a:lnSpc>
                <a:spcPct val="115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355600" lvl="0" marL="1371600" marR="0" rtl="0" algn="just">
              <a:lnSpc>
                <a:spcPct val="115000"/>
              </a:lnSpc>
              <a:spcBef>
                <a:spcPts val="0"/>
              </a:spcBef>
              <a:spcAft>
                <a:spcPts val="0"/>
              </a:spcAft>
              <a:buClr>
                <a:schemeClr val="dk1"/>
              </a:buClr>
              <a:buSzPts val="2000"/>
              <a:buFont typeface="Times New Roman"/>
              <a:buAutoNum type="arabicPeriod"/>
            </a:pPr>
            <a:r>
              <a:rPr lang="en-US" sz="2000" u="sng">
                <a:solidFill>
                  <a:schemeClr val="dk1"/>
                </a:solidFill>
                <a:latin typeface="Times New Roman"/>
                <a:ea typeface="Times New Roman"/>
                <a:cs typeface="Times New Roman"/>
                <a:sym typeface="Times New Roman"/>
              </a:rPr>
              <a:t>Segmentation (Optional):</a:t>
            </a:r>
            <a:r>
              <a:rPr lang="en-US" sz="2000">
                <a:solidFill>
                  <a:schemeClr val="dk1"/>
                </a:solidFill>
                <a:latin typeface="Times New Roman"/>
                <a:ea typeface="Times New Roman"/>
                <a:cs typeface="Times New Roman"/>
                <a:sym typeface="Times New Roman"/>
              </a:rPr>
              <a:t> If the file size exceeds the RSA key length (e.g., 2048 bits), segment the byte array into smaller blocks that fit within the key length.</a:t>
            </a:r>
            <a:endParaRPr sz="2000">
              <a:solidFill>
                <a:schemeClr val="dk1"/>
              </a:solidFill>
              <a:latin typeface="Times New Roman"/>
              <a:ea typeface="Times New Roman"/>
              <a:cs typeface="Times New Roman"/>
              <a:sym typeface="Times New Roman"/>
            </a:endParaRPr>
          </a:p>
          <a:p>
            <a:pPr indent="0" lvl="0" marL="1371600" marR="0" rtl="0" algn="just">
              <a:lnSpc>
                <a:spcPct val="115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355600" lvl="0" marL="1371600" marR="0" rtl="0" algn="just">
              <a:lnSpc>
                <a:spcPct val="115000"/>
              </a:lnSpc>
              <a:spcBef>
                <a:spcPts val="0"/>
              </a:spcBef>
              <a:spcAft>
                <a:spcPts val="0"/>
              </a:spcAft>
              <a:buClr>
                <a:schemeClr val="dk1"/>
              </a:buClr>
              <a:buSzPts val="2000"/>
              <a:buFont typeface="Times New Roman"/>
              <a:buAutoNum type="arabicPeriod"/>
            </a:pPr>
            <a:r>
              <a:rPr lang="en-US" sz="2000" u="sng">
                <a:solidFill>
                  <a:schemeClr val="dk1"/>
                </a:solidFill>
                <a:latin typeface="Times New Roman"/>
                <a:ea typeface="Times New Roman"/>
                <a:cs typeface="Times New Roman"/>
                <a:sym typeface="Times New Roman"/>
              </a:rPr>
              <a:t>Encryption:</a:t>
            </a:r>
            <a:r>
              <a:rPr lang="en-US" sz="2000">
                <a:solidFill>
                  <a:schemeClr val="dk1"/>
                </a:solidFill>
                <a:latin typeface="Times New Roman"/>
                <a:ea typeface="Times New Roman"/>
                <a:cs typeface="Times New Roman"/>
                <a:sym typeface="Times New Roman"/>
              </a:rPr>
              <a:t> For each segment, perform RSA encryption using the public key. This results in encrypted segments.</a:t>
            </a:r>
            <a:endParaRPr sz="2000">
              <a:solidFill>
                <a:schemeClr val="dk1"/>
              </a:solidFill>
              <a:latin typeface="Times New Roman"/>
              <a:ea typeface="Times New Roman"/>
              <a:cs typeface="Times New Roman"/>
              <a:sym typeface="Times New Roman"/>
            </a:endParaRPr>
          </a:p>
          <a:p>
            <a:pPr indent="0" lvl="0" marL="1371600" marR="0" rtl="0" algn="just">
              <a:lnSpc>
                <a:spcPct val="115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355600" lvl="0" marL="1371600" marR="0" rtl="0" algn="just">
              <a:lnSpc>
                <a:spcPct val="115000"/>
              </a:lnSpc>
              <a:spcBef>
                <a:spcPts val="0"/>
              </a:spcBef>
              <a:spcAft>
                <a:spcPts val="0"/>
              </a:spcAft>
              <a:buClr>
                <a:schemeClr val="dk1"/>
              </a:buClr>
              <a:buSzPts val="2000"/>
              <a:buFont typeface="Times New Roman"/>
              <a:buAutoNum type="arabicPeriod"/>
            </a:pPr>
            <a:r>
              <a:rPr lang="en-US" sz="2000" u="sng">
                <a:solidFill>
                  <a:schemeClr val="dk1"/>
                </a:solidFill>
                <a:latin typeface="Times New Roman"/>
                <a:ea typeface="Times New Roman"/>
                <a:cs typeface="Times New Roman"/>
                <a:sym typeface="Times New Roman"/>
              </a:rPr>
              <a:t>Output:</a:t>
            </a:r>
            <a:r>
              <a:rPr lang="en-US" sz="2000">
                <a:solidFill>
                  <a:schemeClr val="dk1"/>
                </a:solidFill>
                <a:latin typeface="Times New Roman"/>
                <a:ea typeface="Times New Roman"/>
                <a:cs typeface="Times New Roman"/>
                <a:sym typeface="Times New Roman"/>
              </a:rPr>
              <a:t> Save the encrypted segments as a file or transmit them securely over a network.</a:t>
            </a:r>
            <a:endParaRPr sz="2000">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2bab0ace036_2_1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201" name="Google Shape;201;g2bab0ace036_2_1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02" name="Google Shape;202;g2bab0ace036_2_14"/>
          <p:cNvSpPr txBox="1"/>
          <p:nvPr/>
        </p:nvSpPr>
        <p:spPr>
          <a:xfrm>
            <a:off x="1564817" y="404765"/>
            <a:ext cx="53250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Calibri"/>
              <a:ea typeface="Calibri"/>
              <a:cs typeface="Calibri"/>
              <a:sym typeface="Calibri"/>
            </a:endParaRPr>
          </a:p>
        </p:txBody>
      </p:sp>
      <p:pic>
        <p:nvPicPr>
          <p:cNvPr id="203" name="Google Shape;203;g2bab0ace036_2_14"/>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204" name="Google Shape;204;g2bab0ace036_2_14"/>
          <p:cNvSpPr txBox="1"/>
          <p:nvPr/>
        </p:nvSpPr>
        <p:spPr>
          <a:xfrm>
            <a:off x="570375" y="310075"/>
            <a:ext cx="10432800" cy="4917900"/>
          </a:xfrm>
          <a:prstGeom prst="rect">
            <a:avLst/>
          </a:prstGeom>
          <a:noFill/>
          <a:ln>
            <a:noFill/>
          </a:ln>
        </p:spPr>
        <p:txBody>
          <a:bodyPr anchorCtr="0" anchor="t" bIns="91425" lIns="91425" spcFirstLastPara="1" rIns="91425" wrap="square" tIns="91425">
            <a:spAutoFit/>
          </a:bodyPr>
          <a:lstStyle/>
          <a:p>
            <a:pPr indent="457200" lvl="0" marL="457200" marR="0" rtl="0" algn="just">
              <a:lnSpc>
                <a:spcPct val="115000"/>
              </a:lnSpc>
              <a:spcBef>
                <a:spcPts val="0"/>
              </a:spcBef>
              <a:spcAft>
                <a:spcPts val="0"/>
              </a:spcAft>
              <a:buNone/>
            </a:pPr>
            <a:r>
              <a:rPr b="1" lang="en-US" sz="3000">
                <a:solidFill>
                  <a:schemeClr val="dk1"/>
                </a:solidFill>
                <a:latin typeface="Times New Roman"/>
                <a:ea typeface="Times New Roman"/>
                <a:cs typeface="Times New Roman"/>
                <a:sym typeface="Times New Roman"/>
              </a:rPr>
              <a:t>Decryption:</a:t>
            </a:r>
            <a:endParaRPr b="1" sz="3000">
              <a:solidFill>
                <a:schemeClr val="dk1"/>
              </a:solidFill>
              <a:latin typeface="Times New Roman"/>
              <a:ea typeface="Times New Roman"/>
              <a:cs typeface="Times New Roman"/>
              <a:sym typeface="Times New Roman"/>
            </a:endParaRPr>
          </a:p>
          <a:p>
            <a:pPr indent="0" lvl="0" marL="457200" marR="0" rtl="0" algn="just">
              <a:lnSpc>
                <a:spcPct val="115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457200" marR="0" rtl="0" algn="just">
              <a:lnSpc>
                <a:spcPct val="115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355600" lvl="0" marL="1371600" marR="0" rtl="0" algn="just">
              <a:lnSpc>
                <a:spcPct val="115000"/>
              </a:lnSpc>
              <a:spcBef>
                <a:spcPts val="0"/>
              </a:spcBef>
              <a:spcAft>
                <a:spcPts val="0"/>
              </a:spcAft>
              <a:buClr>
                <a:schemeClr val="dk1"/>
              </a:buClr>
              <a:buSzPts val="2000"/>
              <a:buFont typeface="Times New Roman"/>
              <a:buAutoNum type="arabicPeriod"/>
            </a:pPr>
            <a:r>
              <a:rPr lang="en-US" sz="2000" u="sng">
                <a:solidFill>
                  <a:schemeClr val="dk1"/>
                </a:solidFill>
                <a:latin typeface="Times New Roman"/>
                <a:ea typeface="Times New Roman"/>
                <a:cs typeface="Times New Roman"/>
                <a:sym typeface="Times New Roman"/>
              </a:rPr>
              <a:t>Decryption:</a:t>
            </a:r>
            <a:r>
              <a:rPr lang="en-US" sz="2000">
                <a:solidFill>
                  <a:schemeClr val="dk1"/>
                </a:solidFill>
                <a:latin typeface="Times New Roman"/>
                <a:ea typeface="Times New Roman"/>
                <a:cs typeface="Times New Roman"/>
                <a:sym typeface="Times New Roman"/>
              </a:rPr>
              <a:t> For each encrypted segment, perform RSA decryption using the private key to obtain the original byte array segments.</a:t>
            </a:r>
            <a:endParaRPr sz="2000">
              <a:solidFill>
                <a:schemeClr val="dk1"/>
              </a:solidFill>
              <a:latin typeface="Times New Roman"/>
              <a:ea typeface="Times New Roman"/>
              <a:cs typeface="Times New Roman"/>
              <a:sym typeface="Times New Roman"/>
            </a:endParaRPr>
          </a:p>
          <a:p>
            <a:pPr indent="0" lvl="0" marL="1371600" marR="0" rtl="0" algn="just">
              <a:lnSpc>
                <a:spcPct val="115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355600" lvl="0" marL="1371600" marR="0" rtl="0" algn="just">
              <a:lnSpc>
                <a:spcPct val="115000"/>
              </a:lnSpc>
              <a:spcBef>
                <a:spcPts val="0"/>
              </a:spcBef>
              <a:spcAft>
                <a:spcPts val="0"/>
              </a:spcAft>
              <a:buClr>
                <a:schemeClr val="dk1"/>
              </a:buClr>
              <a:buSzPts val="2000"/>
              <a:buFont typeface="Times New Roman"/>
              <a:buAutoNum type="arabicPeriod"/>
            </a:pPr>
            <a:r>
              <a:rPr lang="en-US" sz="2000" u="sng">
                <a:solidFill>
                  <a:schemeClr val="dk1"/>
                </a:solidFill>
                <a:latin typeface="Times New Roman"/>
                <a:ea typeface="Times New Roman"/>
                <a:cs typeface="Times New Roman"/>
                <a:sym typeface="Times New Roman"/>
              </a:rPr>
              <a:t>Reassembly (Optional):</a:t>
            </a:r>
            <a:r>
              <a:rPr lang="en-US" sz="2000">
                <a:solidFill>
                  <a:schemeClr val="dk1"/>
                </a:solidFill>
                <a:latin typeface="Times New Roman"/>
                <a:ea typeface="Times New Roman"/>
                <a:cs typeface="Times New Roman"/>
                <a:sym typeface="Times New Roman"/>
              </a:rPr>
              <a:t> If the file was segmented during encryption, reassemble the byte array segments into a single byte array.</a:t>
            </a:r>
            <a:endParaRPr sz="2000">
              <a:solidFill>
                <a:schemeClr val="dk1"/>
              </a:solidFill>
              <a:latin typeface="Times New Roman"/>
              <a:ea typeface="Times New Roman"/>
              <a:cs typeface="Times New Roman"/>
              <a:sym typeface="Times New Roman"/>
            </a:endParaRPr>
          </a:p>
          <a:p>
            <a:pPr indent="0" lvl="0" marL="1371600" marR="0" rtl="0" algn="just">
              <a:lnSpc>
                <a:spcPct val="115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355600" lvl="0" marL="1371600" marR="0" rtl="0" algn="just">
              <a:lnSpc>
                <a:spcPct val="115000"/>
              </a:lnSpc>
              <a:spcBef>
                <a:spcPts val="0"/>
              </a:spcBef>
              <a:spcAft>
                <a:spcPts val="0"/>
              </a:spcAft>
              <a:buClr>
                <a:schemeClr val="dk1"/>
              </a:buClr>
              <a:buSzPts val="2000"/>
              <a:buFont typeface="Times New Roman"/>
              <a:buAutoNum type="arabicPeriod"/>
            </a:pPr>
            <a:r>
              <a:rPr lang="en-US" sz="2000" u="sng">
                <a:solidFill>
                  <a:schemeClr val="dk1"/>
                </a:solidFill>
                <a:latin typeface="Times New Roman"/>
                <a:ea typeface="Times New Roman"/>
                <a:cs typeface="Times New Roman"/>
                <a:sym typeface="Times New Roman"/>
              </a:rPr>
              <a:t>Conversion to Image/Video:</a:t>
            </a:r>
            <a:r>
              <a:rPr lang="en-US" sz="2000">
                <a:solidFill>
                  <a:schemeClr val="dk1"/>
                </a:solidFill>
                <a:latin typeface="Times New Roman"/>
                <a:ea typeface="Times New Roman"/>
                <a:cs typeface="Times New Roman"/>
                <a:sym typeface="Times New Roman"/>
              </a:rPr>
              <a:t> Convert the byte array back to its original image or video format.</a:t>
            </a:r>
            <a:endParaRPr sz="2000">
              <a:solidFill>
                <a:schemeClr val="dk1"/>
              </a:solidFill>
              <a:latin typeface="Times New Roman"/>
              <a:ea typeface="Times New Roman"/>
              <a:cs typeface="Times New Roman"/>
              <a:sym typeface="Times New Roman"/>
            </a:endParaRPr>
          </a:p>
          <a:p>
            <a:pPr indent="0" lvl="0" marL="1371600" marR="0" rtl="0" algn="just">
              <a:lnSpc>
                <a:spcPct val="115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355600" lvl="0" marL="1371600" marR="0" rtl="0" algn="just">
              <a:lnSpc>
                <a:spcPct val="115000"/>
              </a:lnSpc>
              <a:spcBef>
                <a:spcPts val="0"/>
              </a:spcBef>
              <a:spcAft>
                <a:spcPts val="0"/>
              </a:spcAft>
              <a:buClr>
                <a:schemeClr val="dk1"/>
              </a:buClr>
              <a:buSzPts val="2000"/>
              <a:buFont typeface="Times New Roman"/>
              <a:buAutoNum type="arabicPeriod"/>
            </a:pPr>
            <a:r>
              <a:rPr lang="en-US" sz="2000" u="sng">
                <a:solidFill>
                  <a:schemeClr val="dk1"/>
                </a:solidFill>
                <a:latin typeface="Times New Roman"/>
                <a:ea typeface="Times New Roman"/>
                <a:cs typeface="Times New Roman"/>
                <a:sym typeface="Times New Roman"/>
              </a:rPr>
              <a:t>Output:</a:t>
            </a:r>
            <a:r>
              <a:rPr lang="en-US" sz="2000">
                <a:solidFill>
                  <a:schemeClr val="dk1"/>
                </a:solidFill>
                <a:latin typeface="Times New Roman"/>
                <a:ea typeface="Times New Roman"/>
                <a:cs typeface="Times New Roman"/>
                <a:sym typeface="Times New Roman"/>
              </a:rPr>
              <a:t> Save the decrypted image or video file</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14e0d3862e1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211" name="Google Shape;211;g14e0d3862e1_0_0"/>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212" name="Google Shape;212;g14e0d3862e1_0_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213" name="Google Shape;213;g14e0d3862e1_0_0"/>
          <p:cNvSpPr txBox="1"/>
          <p:nvPr/>
        </p:nvSpPr>
        <p:spPr>
          <a:xfrm>
            <a:off x="1243800" y="1050925"/>
            <a:ext cx="9613500" cy="56799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lang="en-US" sz="2000">
                <a:solidFill>
                  <a:schemeClr val="dk1"/>
                </a:solidFill>
                <a:latin typeface="Times New Roman"/>
                <a:ea typeface="Times New Roman"/>
                <a:cs typeface="Times New Roman"/>
                <a:sym typeface="Times New Roman"/>
              </a:rPr>
              <a:t>AES </a:t>
            </a:r>
            <a:r>
              <a:rPr lang="en-US" sz="2000">
                <a:solidFill>
                  <a:schemeClr val="dk1"/>
                </a:solidFill>
                <a:latin typeface="Times New Roman"/>
                <a:ea typeface="Times New Roman"/>
                <a:cs typeface="Times New Roman"/>
                <a:sym typeface="Times New Roman"/>
              </a:rPr>
              <a:t>and RSA algorithms together for encrypting and decrypting image and video files involves using AES for symmetric encryption of the actual file data and RSA for asymmetric encryption of the symmetric key used by AES</a:t>
            </a:r>
            <a:endParaRPr sz="2000">
              <a:solidFill>
                <a:schemeClr val="dk1"/>
              </a:solidFill>
              <a:latin typeface="Times New Roman"/>
              <a:ea typeface="Times New Roman"/>
              <a:cs typeface="Times New Roman"/>
              <a:sym typeface="Times New Roman"/>
            </a:endParaRPr>
          </a:p>
          <a:p>
            <a:pPr indent="0" lvl="0" marL="1828800" marR="0" rtl="0" algn="just">
              <a:lnSpc>
                <a:spcPct val="115000"/>
              </a:lnSpc>
              <a:spcBef>
                <a:spcPts val="0"/>
              </a:spcBef>
              <a:spcAft>
                <a:spcPts val="0"/>
              </a:spcAft>
              <a:buNone/>
            </a:pPr>
            <a:r>
              <a:t/>
            </a:r>
            <a:endParaRPr b="1" sz="2000">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None/>
            </a:pPr>
            <a:r>
              <a:rPr b="1" lang="en-US" sz="2000">
                <a:solidFill>
                  <a:schemeClr val="dk1"/>
                </a:solidFill>
                <a:latin typeface="Times New Roman"/>
                <a:ea typeface="Times New Roman"/>
                <a:cs typeface="Times New Roman"/>
                <a:sym typeface="Times New Roman"/>
              </a:rPr>
              <a:t>Encryption:</a:t>
            </a:r>
            <a:endParaRPr b="1" sz="2000">
              <a:solidFill>
                <a:schemeClr val="dk1"/>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chemeClr val="dk1"/>
              </a:buClr>
              <a:buSzPts val="2000"/>
              <a:buFont typeface="Times New Roman"/>
              <a:buAutoNum type="arabicPeriod"/>
            </a:pPr>
            <a:r>
              <a:rPr lang="en-US" sz="2000">
                <a:solidFill>
                  <a:schemeClr val="dk1"/>
                </a:solidFill>
                <a:latin typeface="Times New Roman"/>
                <a:ea typeface="Times New Roman"/>
                <a:cs typeface="Times New Roman"/>
                <a:sym typeface="Times New Roman"/>
              </a:rPr>
              <a:t>Generate Keys</a:t>
            </a:r>
            <a:endParaRPr sz="2000">
              <a:solidFill>
                <a:schemeClr val="dk1"/>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chemeClr val="dk1"/>
              </a:buClr>
              <a:buSzPts val="2000"/>
              <a:buFont typeface="Times New Roman"/>
              <a:buAutoNum type="arabicPeriod"/>
            </a:pPr>
            <a:r>
              <a:rPr lang="en-US" sz="2000">
                <a:solidFill>
                  <a:schemeClr val="dk1"/>
                </a:solidFill>
                <a:latin typeface="Times New Roman"/>
                <a:ea typeface="Times New Roman"/>
                <a:cs typeface="Times New Roman"/>
                <a:sym typeface="Times New Roman"/>
              </a:rPr>
              <a:t>Encrypting the Image/Video File with AES</a:t>
            </a:r>
            <a:endParaRPr sz="2000">
              <a:solidFill>
                <a:schemeClr val="dk1"/>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chemeClr val="dk1"/>
              </a:buClr>
              <a:buSzPts val="2000"/>
              <a:buFont typeface="Times New Roman"/>
              <a:buAutoNum type="arabicPeriod"/>
            </a:pPr>
            <a:r>
              <a:rPr lang="en-US" sz="2000">
                <a:solidFill>
                  <a:schemeClr val="dk1"/>
                </a:solidFill>
                <a:latin typeface="Times New Roman"/>
                <a:ea typeface="Times New Roman"/>
                <a:cs typeface="Times New Roman"/>
                <a:sym typeface="Times New Roman"/>
              </a:rPr>
              <a:t>Encrypting the AES Key with RSA</a:t>
            </a:r>
            <a:endParaRPr sz="2000">
              <a:solidFill>
                <a:schemeClr val="dk1"/>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chemeClr val="dk1"/>
              </a:buClr>
              <a:buSzPts val="2000"/>
              <a:buFont typeface="Times New Roman"/>
              <a:buAutoNum type="arabicPeriod"/>
            </a:pPr>
            <a:r>
              <a:rPr lang="en-US" sz="2000">
                <a:solidFill>
                  <a:schemeClr val="dk1"/>
                </a:solidFill>
                <a:latin typeface="Times New Roman"/>
                <a:ea typeface="Times New Roman"/>
                <a:cs typeface="Times New Roman"/>
                <a:sym typeface="Times New Roman"/>
              </a:rPr>
              <a:t>Output</a:t>
            </a:r>
            <a:endParaRPr sz="2000">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None/>
            </a:pPr>
            <a:r>
              <a:t/>
            </a:r>
            <a:endParaRPr b="1" sz="2000">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None/>
            </a:pPr>
            <a:r>
              <a:rPr b="1" lang="en-US" sz="2000">
                <a:solidFill>
                  <a:schemeClr val="dk1"/>
                </a:solidFill>
                <a:latin typeface="Times New Roman"/>
                <a:ea typeface="Times New Roman"/>
                <a:cs typeface="Times New Roman"/>
                <a:sym typeface="Times New Roman"/>
              </a:rPr>
              <a:t>Decryption:</a:t>
            </a:r>
            <a:endParaRPr sz="2000">
              <a:solidFill>
                <a:schemeClr val="dk1"/>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chemeClr val="dk1"/>
              </a:buClr>
              <a:buSzPts val="2000"/>
              <a:buFont typeface="Times New Roman"/>
              <a:buAutoNum type="arabicPeriod"/>
            </a:pPr>
            <a:r>
              <a:rPr lang="en-US" sz="2000">
                <a:solidFill>
                  <a:schemeClr val="dk1"/>
                </a:solidFill>
                <a:latin typeface="Times New Roman"/>
                <a:ea typeface="Times New Roman"/>
                <a:cs typeface="Times New Roman"/>
                <a:sym typeface="Times New Roman"/>
              </a:rPr>
              <a:t>Retrieve Files</a:t>
            </a:r>
            <a:endParaRPr sz="2000">
              <a:solidFill>
                <a:schemeClr val="dk1"/>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chemeClr val="dk1"/>
              </a:buClr>
              <a:buSzPts val="2000"/>
              <a:buFont typeface="Times New Roman"/>
              <a:buAutoNum type="arabicPeriod"/>
            </a:pPr>
            <a:r>
              <a:rPr lang="en-US" sz="2000">
                <a:solidFill>
                  <a:schemeClr val="dk1"/>
                </a:solidFill>
                <a:latin typeface="Times New Roman"/>
                <a:ea typeface="Times New Roman"/>
                <a:cs typeface="Times New Roman"/>
                <a:sym typeface="Times New Roman"/>
              </a:rPr>
              <a:t>Decrypting the AES Key with RSA</a:t>
            </a:r>
            <a:endParaRPr sz="2000">
              <a:solidFill>
                <a:schemeClr val="dk1"/>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chemeClr val="dk1"/>
              </a:buClr>
              <a:buSzPts val="2000"/>
              <a:buFont typeface="Times New Roman"/>
              <a:buAutoNum type="arabicPeriod"/>
            </a:pPr>
            <a:r>
              <a:rPr lang="en-US" sz="2000">
                <a:solidFill>
                  <a:schemeClr val="dk1"/>
                </a:solidFill>
                <a:latin typeface="Times New Roman"/>
                <a:ea typeface="Times New Roman"/>
                <a:cs typeface="Times New Roman"/>
                <a:sym typeface="Times New Roman"/>
              </a:rPr>
              <a:t>Decrypting the Image/Video File with AES</a:t>
            </a:r>
            <a:endParaRPr sz="2000">
              <a:solidFill>
                <a:schemeClr val="dk1"/>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chemeClr val="dk1"/>
              </a:buClr>
              <a:buSzPts val="2000"/>
              <a:buFont typeface="Times New Roman"/>
              <a:buAutoNum type="arabicPeriod"/>
            </a:pPr>
            <a:r>
              <a:rPr lang="en-US" sz="2000">
                <a:solidFill>
                  <a:schemeClr val="dk1"/>
                </a:solidFill>
                <a:latin typeface="Times New Roman"/>
                <a:ea typeface="Times New Roman"/>
                <a:cs typeface="Times New Roman"/>
                <a:sym typeface="Times New Roman"/>
              </a:rPr>
              <a:t>Output</a:t>
            </a:r>
            <a:endParaRPr sz="2000">
              <a:solidFill>
                <a:schemeClr val="dk1"/>
              </a:solidFill>
              <a:latin typeface="Times New Roman"/>
              <a:ea typeface="Times New Roman"/>
              <a:cs typeface="Times New Roman"/>
              <a:sym typeface="Times New Roman"/>
            </a:endParaRPr>
          </a:p>
          <a:p>
            <a:pPr indent="0" lvl="0" marL="914400" marR="0" rtl="0" algn="just">
              <a:lnSpc>
                <a:spcPct val="115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
        <p:nvSpPr>
          <p:cNvPr id="214" name="Google Shape;214;g14e0d3862e1_0_0"/>
          <p:cNvSpPr txBox="1"/>
          <p:nvPr/>
        </p:nvSpPr>
        <p:spPr>
          <a:xfrm>
            <a:off x="1243807" y="275475"/>
            <a:ext cx="9785400" cy="1085100"/>
          </a:xfrm>
          <a:prstGeom prst="rect">
            <a:avLst/>
          </a:prstGeom>
          <a:noFill/>
          <a:ln>
            <a:noFill/>
          </a:ln>
        </p:spPr>
        <p:txBody>
          <a:bodyPr anchorCtr="0" anchor="t" bIns="45700" lIns="91425" spcFirstLastPara="1" rIns="91425" wrap="square" tIns="45700">
            <a:spAutoFit/>
          </a:bodyPr>
          <a:lstStyle/>
          <a:p>
            <a:pPr indent="0" lvl="0" marL="0" marR="0" rtl="0" algn="just">
              <a:lnSpc>
                <a:spcPct val="115000"/>
              </a:lnSpc>
              <a:spcBef>
                <a:spcPts val="0"/>
              </a:spcBef>
              <a:spcAft>
                <a:spcPts val="0"/>
              </a:spcAft>
              <a:buClr>
                <a:schemeClr val="dk1"/>
              </a:buClr>
              <a:buSzPts val="1100"/>
              <a:buFont typeface="Arial"/>
              <a:buNone/>
            </a:pPr>
            <a:r>
              <a:rPr b="1" lang="en-US" sz="3000" u="sng">
                <a:solidFill>
                  <a:schemeClr val="dk1"/>
                </a:solidFill>
                <a:latin typeface="Times New Roman"/>
                <a:ea typeface="Times New Roman"/>
                <a:cs typeface="Times New Roman"/>
                <a:sym typeface="Times New Roman"/>
              </a:rPr>
              <a:t>Implementing AES and RSA in a hybrid manner</a:t>
            </a:r>
            <a:endParaRPr b="0" i="0" sz="29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id="220" name="Google Shape;220;g2ba9afe18a4_2_167"/>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221" name="Google Shape;221;g2ba9afe18a4_2_167"/>
          <p:cNvSpPr txBox="1"/>
          <p:nvPr/>
        </p:nvSpPr>
        <p:spPr>
          <a:xfrm>
            <a:off x="1305000" y="350375"/>
            <a:ext cx="89868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i="0" lang="en-US" sz="3000" u="sng" cap="none" strike="noStrike">
                <a:solidFill>
                  <a:srgbClr val="191919"/>
                </a:solidFill>
                <a:latin typeface="Times New Roman"/>
                <a:ea typeface="Times New Roman"/>
                <a:cs typeface="Times New Roman"/>
                <a:sym typeface="Times New Roman"/>
              </a:rPr>
              <a:t>HYBRID Implementation - Flowchart</a:t>
            </a:r>
            <a:endParaRPr b="1" i="0" sz="2300" u="sng" cap="none" strike="noStrike">
              <a:solidFill>
                <a:srgbClr val="191919"/>
              </a:solidFill>
              <a:latin typeface="Times New Roman"/>
              <a:ea typeface="Times New Roman"/>
              <a:cs typeface="Times New Roman"/>
              <a:sym typeface="Times New Roman"/>
            </a:endParaRPr>
          </a:p>
        </p:txBody>
      </p:sp>
      <p:pic>
        <p:nvPicPr>
          <p:cNvPr id="222" name="Google Shape;222;g2ba9afe18a4_2_167"/>
          <p:cNvPicPr preferRelativeResize="0"/>
          <p:nvPr/>
        </p:nvPicPr>
        <p:blipFill rotWithShape="1">
          <a:blip r:embed="rId4">
            <a:alphaModFix/>
          </a:blip>
          <a:srcRect b="-7109" l="-1329" r="1329" t="7109"/>
          <a:stretch/>
        </p:blipFill>
        <p:spPr>
          <a:xfrm>
            <a:off x="3191375" y="1273675"/>
            <a:ext cx="5214049" cy="5082675"/>
          </a:xfrm>
          <a:prstGeom prst="rect">
            <a:avLst/>
          </a:prstGeom>
          <a:noFill/>
          <a:ln>
            <a:noFill/>
          </a:ln>
        </p:spPr>
      </p:pic>
      <p:sp>
        <p:nvSpPr>
          <p:cNvPr id="223" name="Google Shape;223;g2ba9afe18a4_2_16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224" name="Google Shape;224;g2ba9afe18a4_2_167"/>
          <p:cNvSpPr txBox="1"/>
          <p:nvPr/>
        </p:nvSpPr>
        <p:spPr>
          <a:xfrm>
            <a:off x="2991325" y="5991250"/>
            <a:ext cx="6806100" cy="365100"/>
          </a:xfrm>
          <a:prstGeom prst="rect">
            <a:avLst/>
          </a:prstGeom>
          <a:noFill/>
          <a:ln>
            <a:noFill/>
          </a:ln>
        </p:spPr>
        <p:txBody>
          <a:bodyPr anchorCtr="0" anchor="t" bIns="91425" lIns="91425" spcFirstLastPara="1" rIns="91425" wrap="square" tIns="91425">
            <a:noAutofit/>
          </a:bodyPr>
          <a:lstStyle/>
          <a:p>
            <a:pPr indent="0" lvl="0" marL="457200" marR="0" rtl="0" algn="just">
              <a:lnSpc>
                <a:spcPct val="115000"/>
              </a:lnSpc>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Fig. 5.1: Hybrid implementation of AES &amp; RSA </a:t>
            </a:r>
            <a:endParaRPr sz="20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g2c9eccfda70_0_11"/>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231" name="Google Shape;231;g2c9eccfda70_0_1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232" name="Google Shape;232;g2c9eccfda70_0_11"/>
          <p:cNvSpPr txBox="1"/>
          <p:nvPr/>
        </p:nvSpPr>
        <p:spPr>
          <a:xfrm>
            <a:off x="1305000" y="350375"/>
            <a:ext cx="89868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lang="en-US" sz="3000" u="sng">
                <a:solidFill>
                  <a:srgbClr val="191919"/>
                </a:solidFill>
                <a:latin typeface="Times New Roman"/>
                <a:ea typeface="Times New Roman"/>
                <a:cs typeface="Times New Roman"/>
                <a:sym typeface="Times New Roman"/>
              </a:rPr>
              <a:t>AES and RSA Hybrid for the Encryption of Images</a:t>
            </a:r>
            <a:endParaRPr b="1" i="0" sz="2300" u="sng" cap="none" strike="noStrike">
              <a:solidFill>
                <a:srgbClr val="191919"/>
              </a:solidFill>
              <a:latin typeface="Times New Roman"/>
              <a:ea typeface="Times New Roman"/>
              <a:cs typeface="Times New Roman"/>
              <a:sym typeface="Times New Roman"/>
            </a:endParaRPr>
          </a:p>
        </p:txBody>
      </p:sp>
      <p:graphicFrame>
        <p:nvGraphicFramePr>
          <p:cNvPr id="233" name="Google Shape;233;g2c9eccfda70_0_11"/>
          <p:cNvGraphicFramePr/>
          <p:nvPr/>
        </p:nvGraphicFramePr>
        <p:xfrm>
          <a:off x="5144525" y="1066775"/>
          <a:ext cx="3000000" cy="3000000"/>
        </p:xfrm>
        <a:graphic>
          <a:graphicData uri="http://schemas.openxmlformats.org/drawingml/2006/table">
            <a:tbl>
              <a:tblPr>
                <a:noFill/>
                <a:tableStyleId>{AF38B7D9-180C-4F1C-AD40-861807BBC445}</a:tableStyleId>
              </a:tblPr>
              <a:tblGrid>
                <a:gridCol w="3055900"/>
                <a:gridCol w="2952750"/>
              </a:tblGrid>
              <a:tr h="385350">
                <a:tc>
                  <a:txBody>
                    <a:bodyPr/>
                    <a:lstStyle/>
                    <a:p>
                      <a:pPr indent="0" lvl="0" marL="0" rtl="0" algn="l">
                        <a:spcBef>
                          <a:spcPts val="0"/>
                        </a:spcBef>
                        <a:spcAft>
                          <a:spcPts val="0"/>
                        </a:spcAft>
                        <a:buNone/>
                      </a:pPr>
                      <a:r>
                        <a:rPr b="1" lang="en-US" sz="1300">
                          <a:latin typeface="Times New Roman"/>
                          <a:ea typeface="Times New Roman"/>
                          <a:cs typeface="Times New Roman"/>
                          <a:sym typeface="Times New Roman"/>
                        </a:rPr>
                        <a:t>Lines of Code (LOC)</a:t>
                      </a:r>
                      <a:endParaRPr b="1" sz="13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300">
                          <a:latin typeface="Times New Roman"/>
                          <a:ea typeface="Times New Roman"/>
                          <a:cs typeface="Times New Roman"/>
                          <a:sym typeface="Times New Roman"/>
                        </a:rPr>
                        <a:t> 58 lines</a:t>
                      </a:r>
                      <a:endParaRPr sz="1300">
                        <a:latin typeface="Times New Roman"/>
                        <a:ea typeface="Times New Roman"/>
                        <a:cs typeface="Times New Roman"/>
                        <a:sym typeface="Times New Roman"/>
                      </a:endParaRPr>
                    </a:p>
                  </a:txBody>
                  <a:tcPr marT="63500" marB="63500" marR="63500" marL="63500"/>
                </a:tc>
              </a:tr>
              <a:tr h="279400">
                <a:tc gridSpan="2">
                  <a:txBody>
                    <a:bodyPr/>
                    <a:lstStyle/>
                    <a:p>
                      <a:pPr indent="0" lvl="0" marL="0" rtl="0" algn="ctr">
                        <a:lnSpc>
                          <a:spcPct val="115000"/>
                        </a:lnSpc>
                        <a:spcBef>
                          <a:spcPts val="0"/>
                        </a:spcBef>
                        <a:spcAft>
                          <a:spcPts val="0"/>
                        </a:spcAft>
                        <a:buNone/>
                      </a:pPr>
                      <a:r>
                        <a:rPr b="1" lang="en-US" sz="1300">
                          <a:latin typeface="Times New Roman"/>
                          <a:ea typeface="Times New Roman"/>
                          <a:cs typeface="Times New Roman"/>
                          <a:sym typeface="Times New Roman"/>
                        </a:rPr>
                        <a:t>Time Complexity</a:t>
                      </a:r>
                      <a:endParaRPr b="1" sz="1300">
                        <a:latin typeface="Times New Roman"/>
                        <a:ea typeface="Times New Roman"/>
                        <a:cs typeface="Times New Roman"/>
                        <a:sym typeface="Times New Roman"/>
                      </a:endParaRPr>
                    </a:p>
                  </a:txBody>
                  <a:tcPr marT="63500" marB="63500" marR="63500" marL="63500"/>
                </a:tc>
                <a:tc hMerge="1"/>
              </a:tr>
              <a:tr h="12700">
                <a:tc>
                  <a:txBody>
                    <a:bodyPr/>
                    <a:lstStyle/>
                    <a:p>
                      <a:pPr indent="0" lvl="0" marL="0" rtl="0" algn="l">
                        <a:spcBef>
                          <a:spcPts val="0"/>
                        </a:spcBef>
                        <a:spcAft>
                          <a:spcPts val="0"/>
                        </a:spcAft>
                        <a:buNone/>
                      </a:pPr>
                      <a:r>
                        <a:rPr b="1" lang="en-US" sz="1300">
                          <a:latin typeface="Times New Roman"/>
                          <a:ea typeface="Times New Roman"/>
                          <a:cs typeface="Times New Roman"/>
                          <a:sym typeface="Times New Roman"/>
                        </a:rPr>
                        <a:t>Key Pair Generation (RSA)</a:t>
                      </a:r>
                      <a:endParaRPr b="1" sz="13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300">
                          <a:latin typeface="Times New Roman"/>
                          <a:ea typeface="Times New Roman"/>
                          <a:cs typeface="Times New Roman"/>
                          <a:sym typeface="Times New Roman"/>
                        </a:rPr>
                        <a:t>O(n^2) or O(n^3)</a:t>
                      </a:r>
                      <a:endParaRPr sz="13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US" sz="1300">
                          <a:latin typeface="Times New Roman"/>
                          <a:ea typeface="Times New Roman"/>
                          <a:cs typeface="Times New Roman"/>
                          <a:sym typeface="Times New Roman"/>
                        </a:rPr>
                        <a:t>AES Key Generation</a:t>
                      </a:r>
                      <a:endParaRPr b="1" sz="13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300">
                          <a:latin typeface="Times New Roman"/>
                          <a:ea typeface="Times New Roman"/>
                          <a:cs typeface="Times New Roman"/>
                          <a:sym typeface="Times New Roman"/>
                        </a:rPr>
                        <a:t>O(1)</a:t>
                      </a:r>
                      <a:endParaRPr sz="13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US" sz="1300">
                          <a:latin typeface="Times New Roman"/>
                          <a:ea typeface="Times New Roman"/>
                          <a:cs typeface="Times New Roman"/>
                          <a:sym typeface="Times New Roman"/>
                        </a:rPr>
                        <a:t>Image Encryption (AES)</a:t>
                      </a:r>
                      <a:endParaRPr b="1" sz="13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300">
                          <a:latin typeface="Times New Roman"/>
                          <a:ea typeface="Times New Roman"/>
                          <a:cs typeface="Times New Roman"/>
                          <a:sym typeface="Times New Roman"/>
                        </a:rPr>
                        <a:t>O(m)</a:t>
                      </a:r>
                      <a:endParaRPr sz="13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US" sz="1300">
                          <a:latin typeface="Times New Roman"/>
                          <a:ea typeface="Times New Roman"/>
                          <a:cs typeface="Times New Roman"/>
                          <a:sym typeface="Times New Roman"/>
                        </a:rPr>
                        <a:t>AES Key Encryption (RSA)</a:t>
                      </a:r>
                      <a:endParaRPr b="1" sz="13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300">
                          <a:latin typeface="Times New Roman"/>
                          <a:ea typeface="Times New Roman"/>
                          <a:cs typeface="Times New Roman"/>
                          <a:sym typeface="Times New Roman"/>
                        </a:rPr>
                        <a:t>O(k^3)</a:t>
                      </a:r>
                      <a:endParaRPr sz="13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US" sz="1300">
                          <a:latin typeface="Times New Roman"/>
                          <a:ea typeface="Times New Roman"/>
                          <a:cs typeface="Times New Roman"/>
                          <a:sym typeface="Times New Roman"/>
                        </a:rPr>
                        <a:t>AES Key Decryption (RSA)</a:t>
                      </a:r>
                      <a:endParaRPr b="1" sz="13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300">
                          <a:latin typeface="Times New Roman"/>
                          <a:ea typeface="Times New Roman"/>
                          <a:cs typeface="Times New Roman"/>
                          <a:sym typeface="Times New Roman"/>
                        </a:rPr>
                        <a:t>O(k^3)</a:t>
                      </a:r>
                      <a:endParaRPr sz="13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US" sz="1300">
                          <a:latin typeface="Times New Roman"/>
                          <a:ea typeface="Times New Roman"/>
                          <a:cs typeface="Times New Roman"/>
                          <a:sym typeface="Times New Roman"/>
                        </a:rPr>
                        <a:t>Image Decryption (AES)</a:t>
                      </a:r>
                      <a:endParaRPr b="1" sz="13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300">
                          <a:latin typeface="Times New Roman"/>
                          <a:ea typeface="Times New Roman"/>
                          <a:cs typeface="Times New Roman"/>
                          <a:sym typeface="Times New Roman"/>
                        </a:rPr>
                        <a:t>O(m)</a:t>
                      </a:r>
                      <a:endParaRPr sz="1300">
                        <a:latin typeface="Times New Roman"/>
                        <a:ea typeface="Times New Roman"/>
                        <a:cs typeface="Times New Roman"/>
                        <a:sym typeface="Times New Roman"/>
                      </a:endParaRPr>
                    </a:p>
                  </a:txBody>
                  <a:tcPr marT="63500" marB="63500" marR="63500" marL="63500"/>
                </a:tc>
              </a:tr>
              <a:tr h="12700">
                <a:tc gridSpan="2">
                  <a:txBody>
                    <a:bodyPr/>
                    <a:lstStyle/>
                    <a:p>
                      <a:pPr indent="0" lvl="0" marL="0" rtl="0" algn="ctr">
                        <a:lnSpc>
                          <a:spcPct val="115000"/>
                        </a:lnSpc>
                        <a:spcBef>
                          <a:spcPts val="0"/>
                        </a:spcBef>
                        <a:spcAft>
                          <a:spcPts val="0"/>
                        </a:spcAft>
                        <a:buNone/>
                      </a:pPr>
                      <a:r>
                        <a:rPr b="1" lang="en-US" sz="1300">
                          <a:latin typeface="Times New Roman"/>
                          <a:ea typeface="Times New Roman"/>
                          <a:cs typeface="Times New Roman"/>
                          <a:sym typeface="Times New Roman"/>
                        </a:rPr>
                        <a:t>Space Complexity</a:t>
                      </a:r>
                      <a:endParaRPr b="1" sz="1300">
                        <a:latin typeface="Times New Roman"/>
                        <a:ea typeface="Times New Roman"/>
                        <a:cs typeface="Times New Roman"/>
                        <a:sym typeface="Times New Roman"/>
                      </a:endParaRPr>
                    </a:p>
                  </a:txBody>
                  <a:tcPr marT="63500" marB="63500" marR="63500" marL="63500"/>
                </a:tc>
                <a:tc hMerge="1"/>
              </a:tr>
              <a:tr h="12700">
                <a:tc>
                  <a:txBody>
                    <a:bodyPr/>
                    <a:lstStyle/>
                    <a:p>
                      <a:pPr indent="0" lvl="0" marL="0" rtl="0" algn="l">
                        <a:spcBef>
                          <a:spcPts val="0"/>
                        </a:spcBef>
                        <a:spcAft>
                          <a:spcPts val="0"/>
                        </a:spcAft>
                        <a:buNone/>
                      </a:pPr>
                      <a:r>
                        <a:rPr b="1" lang="en-US" sz="1300">
                          <a:latin typeface="Times New Roman"/>
                          <a:ea typeface="Times New Roman"/>
                          <a:cs typeface="Times New Roman"/>
                          <a:sym typeface="Times New Roman"/>
                        </a:rPr>
                        <a:t>Key Pair Generation (RSA)</a:t>
                      </a:r>
                      <a:endParaRPr b="1" sz="13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300">
                          <a:latin typeface="Times New Roman"/>
                          <a:ea typeface="Times New Roman"/>
                          <a:cs typeface="Times New Roman"/>
                          <a:sym typeface="Times New Roman"/>
                        </a:rPr>
                        <a:t>O(1)</a:t>
                      </a:r>
                      <a:endParaRPr sz="13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US" sz="1300">
                          <a:latin typeface="Times New Roman"/>
                          <a:ea typeface="Times New Roman"/>
                          <a:cs typeface="Times New Roman"/>
                          <a:sym typeface="Times New Roman"/>
                        </a:rPr>
                        <a:t>AES Key Generation</a:t>
                      </a:r>
                      <a:endParaRPr b="1" sz="13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300">
                          <a:latin typeface="Times New Roman"/>
                          <a:ea typeface="Times New Roman"/>
                          <a:cs typeface="Times New Roman"/>
                          <a:sym typeface="Times New Roman"/>
                        </a:rPr>
                        <a:t>O(1)</a:t>
                      </a:r>
                      <a:endParaRPr sz="13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US" sz="1300">
                          <a:latin typeface="Times New Roman"/>
                          <a:ea typeface="Times New Roman"/>
                          <a:cs typeface="Times New Roman"/>
                          <a:sym typeface="Times New Roman"/>
                        </a:rPr>
                        <a:t>Image Encryption (AES)</a:t>
                      </a:r>
                      <a:endParaRPr b="1" sz="13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300">
                          <a:latin typeface="Times New Roman"/>
                          <a:ea typeface="Times New Roman"/>
                          <a:cs typeface="Times New Roman"/>
                          <a:sym typeface="Times New Roman"/>
                        </a:rPr>
                        <a:t>O(m)</a:t>
                      </a:r>
                      <a:endParaRPr sz="13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US" sz="1300">
                          <a:latin typeface="Times New Roman"/>
                          <a:ea typeface="Times New Roman"/>
                          <a:cs typeface="Times New Roman"/>
                          <a:sym typeface="Times New Roman"/>
                        </a:rPr>
                        <a:t>AES Key Encryption (RSA)</a:t>
                      </a:r>
                      <a:endParaRPr b="1" sz="13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300">
                          <a:latin typeface="Times New Roman"/>
                          <a:ea typeface="Times New Roman"/>
                          <a:cs typeface="Times New Roman"/>
                          <a:sym typeface="Times New Roman"/>
                        </a:rPr>
                        <a:t>O(k)</a:t>
                      </a:r>
                      <a:endParaRPr sz="1300">
                        <a:latin typeface="Times New Roman"/>
                        <a:ea typeface="Times New Roman"/>
                        <a:cs typeface="Times New Roman"/>
                        <a:sym typeface="Times New Roman"/>
                      </a:endParaRPr>
                    </a:p>
                  </a:txBody>
                  <a:tcPr marT="63500" marB="63500" marR="63500" marL="63500"/>
                </a:tc>
              </a:tr>
              <a:tr h="358950">
                <a:tc>
                  <a:txBody>
                    <a:bodyPr/>
                    <a:lstStyle/>
                    <a:p>
                      <a:pPr indent="0" lvl="0" marL="0" rtl="0" algn="l">
                        <a:spcBef>
                          <a:spcPts val="0"/>
                        </a:spcBef>
                        <a:spcAft>
                          <a:spcPts val="0"/>
                        </a:spcAft>
                        <a:buNone/>
                      </a:pPr>
                      <a:r>
                        <a:rPr b="1" lang="en-US" sz="1300">
                          <a:latin typeface="Times New Roman"/>
                          <a:ea typeface="Times New Roman"/>
                          <a:cs typeface="Times New Roman"/>
                          <a:sym typeface="Times New Roman"/>
                        </a:rPr>
                        <a:t>AES Key Decryption (RSA)</a:t>
                      </a:r>
                      <a:endParaRPr b="1" sz="1300">
                        <a:latin typeface="Times New Roman"/>
                        <a:ea typeface="Times New Roman"/>
                        <a:cs typeface="Times New Roman"/>
                        <a:sym typeface="Times New Roman"/>
                      </a:endParaRPr>
                    </a:p>
                  </a:txBody>
                  <a:tcPr marT="63500" marB="63500" marR="63500" marL="63500"/>
                </a:tc>
                <a:tc>
                  <a:txBody>
                    <a:bodyPr/>
                    <a:lstStyle/>
                    <a:p>
                      <a:pPr indent="0" lvl="0" marL="0" rtl="0" algn="ctr">
                        <a:lnSpc>
                          <a:spcPct val="115000"/>
                        </a:lnSpc>
                        <a:spcBef>
                          <a:spcPts val="0"/>
                        </a:spcBef>
                        <a:spcAft>
                          <a:spcPts val="0"/>
                        </a:spcAft>
                        <a:buNone/>
                      </a:pPr>
                      <a:r>
                        <a:rPr lang="en-US" sz="1500">
                          <a:latin typeface="Times New Roman"/>
                          <a:ea typeface="Times New Roman"/>
                          <a:cs typeface="Times New Roman"/>
                          <a:sym typeface="Times New Roman"/>
                        </a:rPr>
                        <a:t>O(k)</a:t>
                      </a:r>
                      <a:endParaRPr sz="13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US" sz="1300">
                          <a:latin typeface="Times New Roman"/>
                          <a:ea typeface="Times New Roman"/>
                          <a:cs typeface="Times New Roman"/>
                          <a:sym typeface="Times New Roman"/>
                        </a:rPr>
                        <a:t>Image Decryption (AES)</a:t>
                      </a:r>
                      <a:endParaRPr b="1" sz="13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300">
                          <a:latin typeface="Times New Roman"/>
                          <a:ea typeface="Times New Roman"/>
                          <a:cs typeface="Times New Roman"/>
                          <a:sym typeface="Times New Roman"/>
                        </a:rPr>
                        <a:t>O(m)</a:t>
                      </a:r>
                      <a:endParaRPr sz="1300">
                        <a:latin typeface="Times New Roman"/>
                        <a:ea typeface="Times New Roman"/>
                        <a:cs typeface="Times New Roman"/>
                        <a:sym typeface="Times New Roman"/>
                      </a:endParaRPr>
                    </a:p>
                  </a:txBody>
                  <a:tcPr marT="63500" marB="63500" marR="63500" marL="63500"/>
                </a:tc>
              </a:tr>
            </a:tbl>
          </a:graphicData>
        </a:graphic>
      </p:graphicFrame>
      <p:graphicFrame>
        <p:nvGraphicFramePr>
          <p:cNvPr id="234" name="Google Shape;234;g2c9eccfda70_0_11"/>
          <p:cNvGraphicFramePr/>
          <p:nvPr/>
        </p:nvGraphicFramePr>
        <p:xfrm>
          <a:off x="1270500" y="3032800"/>
          <a:ext cx="3000000" cy="3000000"/>
        </p:xfrm>
        <a:graphic>
          <a:graphicData uri="http://schemas.openxmlformats.org/drawingml/2006/table">
            <a:tbl>
              <a:tblPr>
                <a:noFill/>
                <a:tableStyleId>{E85D5467-2EF3-42B7-B66C-22E44046D3A5}</a:tableStyleId>
              </a:tblPr>
              <a:tblGrid>
                <a:gridCol w="1048250"/>
                <a:gridCol w="1048250"/>
                <a:gridCol w="1048250"/>
              </a:tblGrid>
              <a:tr h="381000">
                <a:tc>
                  <a:txBody>
                    <a:bodyPr/>
                    <a:lstStyle/>
                    <a:p>
                      <a:pPr indent="0" lvl="0" marL="0" rtl="0" algn="l">
                        <a:spcBef>
                          <a:spcPts val="0"/>
                        </a:spcBef>
                        <a:spcAft>
                          <a:spcPts val="0"/>
                        </a:spcAft>
                        <a:buNone/>
                      </a:pPr>
                      <a:r>
                        <a:rPr b="1" lang="en-US" sz="1500">
                          <a:latin typeface="Times New Roman"/>
                          <a:ea typeface="Times New Roman"/>
                          <a:cs typeface="Times New Roman"/>
                          <a:sym typeface="Times New Roman"/>
                        </a:rPr>
                        <a:t>Image</a:t>
                      </a:r>
                      <a:endParaRPr b="1" sz="1500">
                        <a:latin typeface="Times New Roman"/>
                        <a:ea typeface="Times New Roman"/>
                        <a:cs typeface="Times New Roman"/>
                        <a:sym typeface="Times New Roman"/>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sz="1500">
                          <a:latin typeface="Times New Roman"/>
                          <a:ea typeface="Times New Roman"/>
                          <a:cs typeface="Times New Roman"/>
                          <a:sym typeface="Times New Roman"/>
                        </a:rPr>
                        <a:t>.png</a:t>
                      </a:r>
                      <a:endParaRPr sz="1500">
                        <a:latin typeface="Times New Roman"/>
                        <a:ea typeface="Times New Roman"/>
                        <a:cs typeface="Times New Roman"/>
                        <a:sym typeface="Times New Roman"/>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sz="1500">
                          <a:latin typeface="Times New Roman"/>
                          <a:ea typeface="Times New Roman"/>
                          <a:cs typeface="Times New Roman"/>
                          <a:sym typeface="Times New Roman"/>
                        </a:rPr>
                        <a:t>520 KB</a:t>
                      </a:r>
                      <a:endParaRPr sz="1500">
                        <a:latin typeface="Times New Roman"/>
                        <a:ea typeface="Times New Roman"/>
                        <a:cs typeface="Times New Roman"/>
                        <a:sym typeface="Times New Roman"/>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g2c9eccfda70_0_22"/>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241" name="Google Shape;241;g2c9eccfda70_0_2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242" name="Google Shape;242;g2c9eccfda70_0_22"/>
          <p:cNvSpPr txBox="1"/>
          <p:nvPr/>
        </p:nvSpPr>
        <p:spPr>
          <a:xfrm>
            <a:off x="1305000" y="350375"/>
            <a:ext cx="89868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lang="en-US" sz="3000" u="sng">
                <a:solidFill>
                  <a:srgbClr val="191919"/>
                </a:solidFill>
                <a:latin typeface="Times New Roman"/>
                <a:ea typeface="Times New Roman"/>
                <a:cs typeface="Times New Roman"/>
                <a:sym typeface="Times New Roman"/>
              </a:rPr>
              <a:t>AES and RSA Hybrid for the Encryption of Images</a:t>
            </a:r>
            <a:endParaRPr b="1" i="0" sz="2300" u="sng" cap="none" strike="noStrike">
              <a:solidFill>
                <a:srgbClr val="191919"/>
              </a:solidFill>
              <a:latin typeface="Times New Roman"/>
              <a:ea typeface="Times New Roman"/>
              <a:cs typeface="Times New Roman"/>
              <a:sym typeface="Times New Roman"/>
            </a:endParaRPr>
          </a:p>
        </p:txBody>
      </p:sp>
      <p:sp>
        <p:nvSpPr>
          <p:cNvPr id="243" name="Google Shape;243;g2c9eccfda70_0_22"/>
          <p:cNvSpPr txBox="1"/>
          <p:nvPr/>
        </p:nvSpPr>
        <p:spPr>
          <a:xfrm>
            <a:off x="1183350" y="1529125"/>
            <a:ext cx="9613500" cy="4926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lang="en-US" sz="2000">
                <a:solidFill>
                  <a:schemeClr val="dk1"/>
                </a:solidFill>
                <a:latin typeface="Times New Roman"/>
                <a:ea typeface="Times New Roman"/>
                <a:cs typeface="Times New Roman"/>
                <a:sym typeface="Times New Roman"/>
              </a:rPr>
              <a:t>Overall, time and space complexity.</a:t>
            </a:r>
            <a:endParaRPr sz="2000">
              <a:solidFill>
                <a:schemeClr val="dk1"/>
              </a:solidFill>
              <a:latin typeface="Times New Roman"/>
              <a:ea typeface="Times New Roman"/>
              <a:cs typeface="Times New Roman"/>
              <a:sym typeface="Times New Roman"/>
            </a:endParaRPr>
          </a:p>
        </p:txBody>
      </p:sp>
      <p:graphicFrame>
        <p:nvGraphicFramePr>
          <p:cNvPr id="244" name="Google Shape;244;g2c9eccfda70_0_22"/>
          <p:cNvGraphicFramePr/>
          <p:nvPr/>
        </p:nvGraphicFramePr>
        <p:xfrm>
          <a:off x="1305000" y="2450850"/>
          <a:ext cx="3000000" cy="3000000"/>
        </p:xfrm>
        <a:graphic>
          <a:graphicData uri="http://schemas.openxmlformats.org/drawingml/2006/table">
            <a:tbl>
              <a:tblPr>
                <a:noFill/>
                <a:tableStyleId>{AF38B7D9-180C-4F1C-AD40-861807BBC445}</a:tableStyleId>
              </a:tblPr>
              <a:tblGrid>
                <a:gridCol w="4493400"/>
                <a:gridCol w="4493400"/>
              </a:tblGrid>
              <a:tr h="500200">
                <a:tc>
                  <a:txBody>
                    <a:bodyPr/>
                    <a:lstStyle/>
                    <a:p>
                      <a:pPr indent="0" lvl="0" marL="0" rtl="0" algn="just">
                        <a:spcBef>
                          <a:spcPts val="0"/>
                        </a:spcBef>
                        <a:spcAft>
                          <a:spcPts val="0"/>
                        </a:spcAft>
                        <a:buNone/>
                      </a:pPr>
                      <a:r>
                        <a:rPr b="1" lang="en-US" sz="2000">
                          <a:latin typeface="Times New Roman"/>
                          <a:ea typeface="Times New Roman"/>
                          <a:cs typeface="Times New Roman"/>
                          <a:sym typeface="Times New Roman"/>
                        </a:rPr>
                        <a:t>Time Complexity</a:t>
                      </a:r>
                      <a:endParaRPr b="1" sz="2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2000">
                          <a:latin typeface="Times New Roman"/>
                          <a:ea typeface="Times New Roman"/>
                          <a:cs typeface="Times New Roman"/>
                          <a:sym typeface="Times New Roman"/>
                        </a:rPr>
                        <a:t>O(m + k^3 + n^3)</a:t>
                      </a:r>
                      <a:endParaRPr sz="2000">
                        <a:latin typeface="Times New Roman"/>
                        <a:ea typeface="Times New Roman"/>
                        <a:cs typeface="Times New Roman"/>
                        <a:sym typeface="Times New Roman"/>
                      </a:endParaRPr>
                    </a:p>
                  </a:txBody>
                  <a:tcPr marT="63500" marB="63500" marR="63500" marL="63500"/>
                </a:tc>
              </a:tr>
              <a:tr h="500200">
                <a:tc>
                  <a:txBody>
                    <a:bodyPr/>
                    <a:lstStyle/>
                    <a:p>
                      <a:pPr indent="0" lvl="0" marL="0" rtl="0" algn="just">
                        <a:spcBef>
                          <a:spcPts val="0"/>
                        </a:spcBef>
                        <a:spcAft>
                          <a:spcPts val="0"/>
                        </a:spcAft>
                        <a:buNone/>
                      </a:pPr>
                      <a:r>
                        <a:rPr b="1" lang="en-US" sz="2000">
                          <a:latin typeface="Times New Roman"/>
                          <a:ea typeface="Times New Roman"/>
                          <a:cs typeface="Times New Roman"/>
                          <a:sym typeface="Times New Roman"/>
                        </a:rPr>
                        <a:t>Space Complexity</a:t>
                      </a:r>
                      <a:endParaRPr b="1" sz="2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2000">
                          <a:latin typeface="Times New Roman"/>
                          <a:ea typeface="Times New Roman"/>
                          <a:cs typeface="Times New Roman"/>
                          <a:sym typeface="Times New Roman"/>
                        </a:rPr>
                        <a:t>O(m + k + n)</a:t>
                      </a:r>
                      <a:endParaRPr sz="2000">
                        <a:latin typeface="Times New Roman"/>
                        <a:ea typeface="Times New Roman"/>
                        <a:cs typeface="Times New Roman"/>
                        <a:sym typeface="Times New Roman"/>
                      </a:endParaRPr>
                    </a:p>
                  </a:txBody>
                  <a:tcPr marT="63500" marB="63500" marR="63500" marL="63500"/>
                </a:tc>
              </a:tr>
            </a:tbl>
          </a:graphicData>
        </a:graphic>
      </p:graphicFrame>
      <p:sp>
        <p:nvSpPr>
          <p:cNvPr id="245" name="Google Shape;245;g2c9eccfda70_0_22"/>
          <p:cNvSpPr txBox="1"/>
          <p:nvPr/>
        </p:nvSpPr>
        <p:spPr>
          <a:xfrm>
            <a:off x="1183350" y="4154125"/>
            <a:ext cx="9613500" cy="9543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Here, n represents the key size in RSA (2048 bits), m represents the size of the image, and k represents the key size in AES (128 bits).</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g2c9eccfda70_0_33"/>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252" name="Google Shape;252;g2c9eccfda70_0_3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253" name="Google Shape;253;g2c9eccfda70_0_33"/>
          <p:cNvSpPr txBox="1"/>
          <p:nvPr/>
        </p:nvSpPr>
        <p:spPr>
          <a:xfrm>
            <a:off x="1305000" y="350375"/>
            <a:ext cx="89868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lang="en-US" sz="3000" u="sng">
                <a:solidFill>
                  <a:srgbClr val="191919"/>
                </a:solidFill>
                <a:latin typeface="Times New Roman"/>
                <a:ea typeface="Times New Roman"/>
                <a:cs typeface="Times New Roman"/>
                <a:sym typeface="Times New Roman"/>
              </a:rPr>
              <a:t>AES and RSA Hybrid for the Encryption of Images</a:t>
            </a:r>
            <a:endParaRPr b="1" i="0" sz="2300" u="sng" cap="none" strike="noStrike">
              <a:solidFill>
                <a:srgbClr val="191919"/>
              </a:solidFill>
              <a:latin typeface="Times New Roman"/>
              <a:ea typeface="Times New Roman"/>
              <a:cs typeface="Times New Roman"/>
              <a:sym typeface="Times New Roman"/>
            </a:endParaRPr>
          </a:p>
        </p:txBody>
      </p:sp>
      <p:pic>
        <p:nvPicPr>
          <p:cNvPr id="254" name="Google Shape;254;g2c9eccfda70_0_33"/>
          <p:cNvPicPr preferRelativeResize="0"/>
          <p:nvPr/>
        </p:nvPicPr>
        <p:blipFill>
          <a:blip r:embed="rId4">
            <a:alphaModFix/>
          </a:blip>
          <a:stretch>
            <a:fillRect/>
          </a:stretch>
        </p:blipFill>
        <p:spPr>
          <a:xfrm>
            <a:off x="2438425" y="1204450"/>
            <a:ext cx="7196724" cy="4449100"/>
          </a:xfrm>
          <a:prstGeom prst="rect">
            <a:avLst/>
          </a:prstGeom>
          <a:noFill/>
          <a:ln>
            <a:noFill/>
          </a:ln>
        </p:spPr>
      </p:pic>
      <p:sp>
        <p:nvSpPr>
          <p:cNvPr id="255" name="Google Shape;255;g2c9eccfda70_0_33"/>
          <p:cNvSpPr txBox="1"/>
          <p:nvPr/>
        </p:nvSpPr>
        <p:spPr>
          <a:xfrm>
            <a:off x="3002975" y="5822400"/>
            <a:ext cx="6806100" cy="3651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Fig. 5.1: </a:t>
            </a:r>
            <a:r>
              <a:rPr lang="en-US" sz="2000">
                <a:solidFill>
                  <a:schemeClr val="dk1"/>
                </a:solidFill>
                <a:latin typeface="Times New Roman"/>
                <a:ea typeface="Times New Roman"/>
                <a:cs typeface="Times New Roman"/>
                <a:sym typeface="Times New Roman"/>
              </a:rPr>
              <a:t>Time Complexity Graph of AES and RSA for Images</a:t>
            </a:r>
            <a:endParaRPr sz="20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id="261" name="Google Shape;261;g2c9eccfda70_0_46"/>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262" name="Google Shape;262;g2c9eccfda70_0_4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263" name="Google Shape;263;g2c9eccfda70_0_46"/>
          <p:cNvSpPr txBox="1"/>
          <p:nvPr/>
        </p:nvSpPr>
        <p:spPr>
          <a:xfrm>
            <a:off x="1305000" y="350375"/>
            <a:ext cx="89868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lang="en-US" sz="3000" u="sng">
                <a:solidFill>
                  <a:srgbClr val="191919"/>
                </a:solidFill>
                <a:latin typeface="Times New Roman"/>
                <a:ea typeface="Times New Roman"/>
                <a:cs typeface="Times New Roman"/>
                <a:sym typeface="Times New Roman"/>
              </a:rPr>
              <a:t>AES and RSA Hybrid for the Encryption of Images</a:t>
            </a:r>
            <a:endParaRPr b="1" i="0" sz="2300" u="sng" cap="none" strike="noStrike">
              <a:solidFill>
                <a:srgbClr val="191919"/>
              </a:solidFill>
              <a:latin typeface="Times New Roman"/>
              <a:ea typeface="Times New Roman"/>
              <a:cs typeface="Times New Roman"/>
              <a:sym typeface="Times New Roman"/>
            </a:endParaRPr>
          </a:p>
        </p:txBody>
      </p:sp>
      <p:sp>
        <p:nvSpPr>
          <p:cNvPr id="264" name="Google Shape;264;g2c9eccfda70_0_46"/>
          <p:cNvSpPr txBox="1"/>
          <p:nvPr/>
        </p:nvSpPr>
        <p:spPr>
          <a:xfrm>
            <a:off x="3002975" y="5822400"/>
            <a:ext cx="6806100" cy="3651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Fig. 5.1: Space Complexity Graph of AES and RSA for Images</a:t>
            </a:r>
            <a:endParaRPr sz="20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000">
              <a:solidFill>
                <a:schemeClr val="dk1"/>
              </a:solidFill>
              <a:latin typeface="Calibri"/>
              <a:ea typeface="Calibri"/>
              <a:cs typeface="Calibri"/>
              <a:sym typeface="Calibri"/>
            </a:endParaRPr>
          </a:p>
        </p:txBody>
      </p:sp>
      <p:pic>
        <p:nvPicPr>
          <p:cNvPr id="265" name="Google Shape;265;g2c9eccfda70_0_46"/>
          <p:cNvPicPr preferRelativeResize="0"/>
          <p:nvPr/>
        </p:nvPicPr>
        <p:blipFill>
          <a:blip r:embed="rId4">
            <a:alphaModFix/>
          </a:blip>
          <a:stretch>
            <a:fillRect/>
          </a:stretch>
        </p:blipFill>
        <p:spPr>
          <a:xfrm>
            <a:off x="3088152" y="1331887"/>
            <a:ext cx="5660575" cy="41942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id="271" name="Google Shape;271;g2c9eccfda70_0_215"/>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272" name="Google Shape;272;g2c9eccfda70_0_21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273" name="Google Shape;273;g2c9eccfda70_0_215"/>
          <p:cNvSpPr txBox="1"/>
          <p:nvPr/>
        </p:nvSpPr>
        <p:spPr>
          <a:xfrm>
            <a:off x="1305000" y="350375"/>
            <a:ext cx="89868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lang="en-US" sz="3000" u="sng">
                <a:solidFill>
                  <a:srgbClr val="191919"/>
                </a:solidFill>
                <a:latin typeface="Times New Roman"/>
                <a:ea typeface="Times New Roman"/>
                <a:cs typeface="Times New Roman"/>
                <a:sym typeface="Times New Roman"/>
              </a:rPr>
              <a:t>AES and RSA Hybrid for the Encryption of Images</a:t>
            </a:r>
            <a:endParaRPr b="1" i="0" sz="2300" u="sng" cap="none" strike="noStrike">
              <a:solidFill>
                <a:srgbClr val="191919"/>
              </a:solidFill>
              <a:latin typeface="Times New Roman"/>
              <a:ea typeface="Times New Roman"/>
              <a:cs typeface="Times New Roman"/>
              <a:sym typeface="Times New Roman"/>
            </a:endParaRPr>
          </a:p>
        </p:txBody>
      </p:sp>
      <p:sp>
        <p:nvSpPr>
          <p:cNvPr id="274" name="Google Shape;274;g2c9eccfda70_0_215"/>
          <p:cNvSpPr txBox="1"/>
          <p:nvPr/>
        </p:nvSpPr>
        <p:spPr>
          <a:xfrm>
            <a:off x="362850" y="1422388"/>
            <a:ext cx="11466300" cy="46485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Strength Analysis:</a:t>
            </a:r>
            <a:endParaRPr b="1" sz="20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355600" lvl="0" marL="457200" rtl="0" algn="just">
              <a:lnSpc>
                <a:spcPct val="150000"/>
              </a:lnSpc>
              <a:spcBef>
                <a:spcPts val="0"/>
              </a:spcBef>
              <a:spcAft>
                <a:spcPts val="0"/>
              </a:spcAft>
              <a:buClr>
                <a:schemeClr val="dk1"/>
              </a:buClr>
              <a:buSzPts val="2000"/>
              <a:buFont typeface="Times New Roman"/>
              <a:buChar char="●"/>
            </a:pPr>
            <a:r>
              <a:rPr b="1" lang="en-US" sz="2000">
                <a:solidFill>
                  <a:schemeClr val="dk1"/>
                </a:solidFill>
                <a:latin typeface="Times New Roman"/>
                <a:ea typeface="Times New Roman"/>
                <a:cs typeface="Times New Roman"/>
                <a:sym typeface="Times New Roman"/>
              </a:rPr>
              <a:t>RSA Encryption:</a:t>
            </a:r>
            <a:r>
              <a:rPr lang="en-US" sz="2000">
                <a:solidFill>
                  <a:schemeClr val="dk1"/>
                </a:solidFill>
                <a:latin typeface="Times New Roman"/>
                <a:ea typeface="Times New Roman"/>
                <a:cs typeface="Times New Roman"/>
                <a:sym typeface="Times New Roman"/>
              </a:rPr>
              <a:t> The code employs RSA with a key size of 2048 bits, which is considered secure for the foreseeable future against classical and quantum attacks.</a:t>
            </a:r>
            <a:endParaRPr sz="2000">
              <a:solidFill>
                <a:schemeClr val="dk1"/>
              </a:solidFill>
              <a:latin typeface="Times New Roman"/>
              <a:ea typeface="Times New Roman"/>
              <a:cs typeface="Times New Roman"/>
              <a:sym typeface="Times New Roman"/>
            </a:endParaRPr>
          </a:p>
          <a:p>
            <a:pPr indent="-355600" lvl="0" marL="457200" rtl="0" algn="just">
              <a:lnSpc>
                <a:spcPct val="150000"/>
              </a:lnSpc>
              <a:spcBef>
                <a:spcPts val="0"/>
              </a:spcBef>
              <a:spcAft>
                <a:spcPts val="0"/>
              </a:spcAft>
              <a:buClr>
                <a:schemeClr val="dk1"/>
              </a:buClr>
              <a:buSzPts val="2000"/>
              <a:buFont typeface="Times New Roman"/>
              <a:buChar char="●"/>
            </a:pPr>
            <a:r>
              <a:rPr b="1" lang="en-US" sz="2000">
                <a:solidFill>
                  <a:schemeClr val="dk1"/>
                </a:solidFill>
                <a:latin typeface="Times New Roman"/>
                <a:ea typeface="Times New Roman"/>
                <a:cs typeface="Times New Roman"/>
                <a:sym typeface="Times New Roman"/>
              </a:rPr>
              <a:t>AES Encryption:</a:t>
            </a:r>
            <a:r>
              <a:rPr lang="en-US" sz="2000">
                <a:solidFill>
                  <a:schemeClr val="dk1"/>
                </a:solidFill>
                <a:latin typeface="Times New Roman"/>
                <a:ea typeface="Times New Roman"/>
                <a:cs typeface="Times New Roman"/>
                <a:sym typeface="Times New Roman"/>
              </a:rPr>
              <a:t> AES with a 128-bit key is used for encrypting image data. While AES with a 128-bit key is still widely used and considered secure, using a larger key size like 256 bits might provide an extra layer of security against future advancements in cryptanalysis.</a:t>
            </a:r>
            <a:endParaRPr sz="2000">
              <a:solidFill>
                <a:schemeClr val="dk1"/>
              </a:solidFill>
              <a:latin typeface="Times New Roman"/>
              <a:ea typeface="Times New Roman"/>
              <a:cs typeface="Times New Roman"/>
              <a:sym typeface="Times New Roman"/>
            </a:endParaRPr>
          </a:p>
          <a:p>
            <a:pPr indent="-355600" lvl="0" marL="457200" rtl="0" algn="just">
              <a:lnSpc>
                <a:spcPct val="150000"/>
              </a:lnSpc>
              <a:spcBef>
                <a:spcPts val="0"/>
              </a:spcBef>
              <a:spcAft>
                <a:spcPts val="0"/>
              </a:spcAft>
              <a:buClr>
                <a:schemeClr val="dk1"/>
              </a:buClr>
              <a:buSzPts val="2000"/>
              <a:buFont typeface="Times New Roman"/>
              <a:buChar char="●"/>
            </a:pPr>
            <a:r>
              <a:rPr b="1" lang="en-US" sz="2000">
                <a:solidFill>
                  <a:schemeClr val="dk1"/>
                </a:solidFill>
                <a:latin typeface="Times New Roman"/>
                <a:ea typeface="Times New Roman"/>
                <a:cs typeface="Times New Roman"/>
                <a:sym typeface="Times New Roman"/>
              </a:rPr>
              <a:t>Hybrid Encryption:</a:t>
            </a:r>
            <a:r>
              <a:rPr lang="en-US" sz="2000">
                <a:solidFill>
                  <a:schemeClr val="dk1"/>
                </a:solidFill>
                <a:latin typeface="Times New Roman"/>
                <a:ea typeface="Times New Roman"/>
                <a:cs typeface="Times New Roman"/>
                <a:sym typeface="Times New Roman"/>
              </a:rPr>
              <a:t> The code utilizes a hybrid encryption scheme combining RSA and AES. This approach leverages the strengths of both algorithms: RSA for key exchange and AES for efficient bulk encryption. It ensures confidentiality and integrity of the data while minimizing computational overhead.</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pic>
        <p:nvPicPr>
          <p:cNvPr id="280" name="Google Shape;280;g2c9eccfda70_0_57"/>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281" name="Google Shape;281;g2c9eccfda70_0_5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282" name="Google Shape;282;g2c9eccfda70_0_57"/>
          <p:cNvSpPr txBox="1"/>
          <p:nvPr/>
        </p:nvSpPr>
        <p:spPr>
          <a:xfrm>
            <a:off x="1305000" y="350375"/>
            <a:ext cx="89868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lang="en-US" sz="3000" u="sng">
                <a:solidFill>
                  <a:srgbClr val="191919"/>
                </a:solidFill>
                <a:latin typeface="Times New Roman"/>
                <a:ea typeface="Times New Roman"/>
                <a:cs typeface="Times New Roman"/>
                <a:sym typeface="Times New Roman"/>
              </a:rPr>
              <a:t>AES and RSA Hybrid for the Encryption of Videos</a:t>
            </a:r>
            <a:endParaRPr b="1" i="0" sz="2300" u="sng" cap="none" strike="noStrike">
              <a:solidFill>
                <a:srgbClr val="191919"/>
              </a:solidFill>
              <a:latin typeface="Times New Roman"/>
              <a:ea typeface="Times New Roman"/>
              <a:cs typeface="Times New Roman"/>
              <a:sym typeface="Times New Roman"/>
            </a:endParaRPr>
          </a:p>
        </p:txBody>
      </p:sp>
      <p:graphicFrame>
        <p:nvGraphicFramePr>
          <p:cNvPr id="283" name="Google Shape;283;g2c9eccfda70_0_57"/>
          <p:cNvGraphicFramePr/>
          <p:nvPr/>
        </p:nvGraphicFramePr>
        <p:xfrm>
          <a:off x="5250713" y="1301325"/>
          <a:ext cx="3000000" cy="3000000"/>
        </p:xfrm>
        <a:graphic>
          <a:graphicData uri="http://schemas.openxmlformats.org/drawingml/2006/table">
            <a:tbl>
              <a:tblPr>
                <a:noFill/>
                <a:tableStyleId>{AF38B7D9-180C-4F1C-AD40-861807BBC445}</a:tableStyleId>
              </a:tblPr>
              <a:tblGrid>
                <a:gridCol w="3019425"/>
                <a:gridCol w="2952750"/>
              </a:tblGrid>
              <a:tr h="12700">
                <a:tc>
                  <a:txBody>
                    <a:bodyPr/>
                    <a:lstStyle/>
                    <a:p>
                      <a:pPr indent="0" lvl="0" marL="0" rtl="0" algn="l">
                        <a:spcBef>
                          <a:spcPts val="0"/>
                        </a:spcBef>
                        <a:spcAft>
                          <a:spcPts val="0"/>
                        </a:spcAft>
                        <a:buNone/>
                      </a:pPr>
                      <a:r>
                        <a:rPr b="1" lang="en-US">
                          <a:latin typeface="Times New Roman"/>
                          <a:ea typeface="Times New Roman"/>
                          <a:cs typeface="Times New Roman"/>
                          <a:sym typeface="Times New Roman"/>
                        </a:rPr>
                        <a:t>Lines of Code (LOC)</a:t>
                      </a:r>
                      <a:endParaRPr b="1">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a:latin typeface="Times New Roman"/>
                          <a:ea typeface="Times New Roman"/>
                          <a:cs typeface="Times New Roman"/>
                          <a:sym typeface="Times New Roman"/>
                        </a:rPr>
                        <a:t> 74 lines</a:t>
                      </a:r>
                      <a:endParaRPr>
                        <a:latin typeface="Times New Roman"/>
                        <a:ea typeface="Times New Roman"/>
                        <a:cs typeface="Times New Roman"/>
                        <a:sym typeface="Times New Roman"/>
                      </a:endParaRPr>
                    </a:p>
                  </a:txBody>
                  <a:tcPr marT="63500" marB="63500" marR="63500" marL="63500"/>
                </a:tc>
              </a:tr>
              <a:tr h="279400">
                <a:tc gridSpan="2">
                  <a:txBody>
                    <a:bodyPr/>
                    <a:lstStyle/>
                    <a:p>
                      <a:pPr indent="0" lvl="0" marL="0" rtl="0" algn="ctr">
                        <a:lnSpc>
                          <a:spcPct val="115000"/>
                        </a:lnSpc>
                        <a:spcBef>
                          <a:spcPts val="0"/>
                        </a:spcBef>
                        <a:spcAft>
                          <a:spcPts val="0"/>
                        </a:spcAft>
                        <a:buNone/>
                      </a:pPr>
                      <a:r>
                        <a:rPr b="1" lang="en-US">
                          <a:latin typeface="Times New Roman"/>
                          <a:ea typeface="Times New Roman"/>
                          <a:cs typeface="Times New Roman"/>
                          <a:sym typeface="Times New Roman"/>
                        </a:rPr>
                        <a:t>Time Complexity</a:t>
                      </a:r>
                      <a:endParaRPr b="1">
                        <a:latin typeface="Times New Roman"/>
                        <a:ea typeface="Times New Roman"/>
                        <a:cs typeface="Times New Roman"/>
                        <a:sym typeface="Times New Roman"/>
                      </a:endParaRPr>
                    </a:p>
                  </a:txBody>
                  <a:tcPr marT="63500" marB="63500" marR="63500" marL="63500"/>
                </a:tc>
                <a:tc hMerge="1"/>
              </a:tr>
              <a:tr h="12700">
                <a:tc>
                  <a:txBody>
                    <a:bodyPr/>
                    <a:lstStyle/>
                    <a:p>
                      <a:pPr indent="0" lvl="0" marL="0" rtl="0" algn="l">
                        <a:spcBef>
                          <a:spcPts val="0"/>
                        </a:spcBef>
                        <a:spcAft>
                          <a:spcPts val="0"/>
                        </a:spcAft>
                        <a:buNone/>
                      </a:pPr>
                      <a:r>
                        <a:rPr b="1" lang="en-US">
                          <a:latin typeface="Times New Roman"/>
                          <a:ea typeface="Times New Roman"/>
                          <a:cs typeface="Times New Roman"/>
                          <a:sym typeface="Times New Roman"/>
                        </a:rPr>
                        <a:t>Key Pair Generation (RSA)</a:t>
                      </a:r>
                      <a:endParaRPr b="1">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a:latin typeface="Times New Roman"/>
                          <a:ea typeface="Times New Roman"/>
                          <a:cs typeface="Times New Roman"/>
                          <a:sym typeface="Times New Roman"/>
                        </a:rPr>
                        <a:t>O(n^3)</a:t>
                      </a:r>
                      <a:endParaRPr>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US">
                          <a:latin typeface="Times New Roman"/>
                          <a:ea typeface="Times New Roman"/>
                          <a:cs typeface="Times New Roman"/>
                          <a:sym typeface="Times New Roman"/>
                        </a:rPr>
                        <a:t>AES Key Generation</a:t>
                      </a:r>
                      <a:endParaRPr b="1">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a:latin typeface="Times New Roman"/>
                          <a:ea typeface="Times New Roman"/>
                          <a:cs typeface="Times New Roman"/>
                          <a:sym typeface="Times New Roman"/>
                        </a:rPr>
                        <a:t>O(1) </a:t>
                      </a:r>
                      <a:endParaRPr>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US">
                          <a:latin typeface="Times New Roman"/>
                          <a:ea typeface="Times New Roman"/>
                          <a:cs typeface="Times New Roman"/>
                          <a:sym typeface="Times New Roman"/>
                        </a:rPr>
                        <a:t>Video Encryption (AES)</a:t>
                      </a:r>
                      <a:endParaRPr b="1">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a:latin typeface="Times New Roman"/>
                          <a:ea typeface="Times New Roman"/>
                          <a:cs typeface="Times New Roman"/>
                          <a:sym typeface="Times New Roman"/>
                        </a:rPr>
                        <a:t>O(m)</a:t>
                      </a:r>
                      <a:endParaRPr>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US">
                          <a:latin typeface="Times New Roman"/>
                          <a:ea typeface="Times New Roman"/>
                          <a:cs typeface="Times New Roman"/>
                          <a:sym typeface="Times New Roman"/>
                        </a:rPr>
                        <a:t>AES Key Encryption (RSA)</a:t>
                      </a:r>
                      <a:endParaRPr b="1">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a:latin typeface="Times New Roman"/>
                          <a:ea typeface="Times New Roman"/>
                          <a:cs typeface="Times New Roman"/>
                          <a:sym typeface="Times New Roman"/>
                        </a:rPr>
                        <a:t>O(k^3)</a:t>
                      </a:r>
                      <a:endParaRPr>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US">
                          <a:latin typeface="Times New Roman"/>
                          <a:ea typeface="Times New Roman"/>
                          <a:cs typeface="Times New Roman"/>
                          <a:sym typeface="Times New Roman"/>
                        </a:rPr>
                        <a:t>AES Key Decryption (RSA)</a:t>
                      </a:r>
                      <a:endParaRPr b="1">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a:latin typeface="Times New Roman"/>
                          <a:ea typeface="Times New Roman"/>
                          <a:cs typeface="Times New Roman"/>
                          <a:sym typeface="Times New Roman"/>
                        </a:rPr>
                        <a:t> O(k^3)</a:t>
                      </a:r>
                      <a:endParaRPr>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US">
                          <a:latin typeface="Times New Roman"/>
                          <a:ea typeface="Times New Roman"/>
                          <a:cs typeface="Times New Roman"/>
                          <a:sym typeface="Times New Roman"/>
                        </a:rPr>
                        <a:t>Video Decryption (AES)</a:t>
                      </a:r>
                      <a:endParaRPr b="1">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a:latin typeface="Times New Roman"/>
                          <a:ea typeface="Times New Roman"/>
                          <a:cs typeface="Times New Roman"/>
                          <a:sym typeface="Times New Roman"/>
                        </a:rPr>
                        <a:t>O(m)</a:t>
                      </a:r>
                      <a:endParaRPr>
                        <a:latin typeface="Times New Roman"/>
                        <a:ea typeface="Times New Roman"/>
                        <a:cs typeface="Times New Roman"/>
                        <a:sym typeface="Times New Roman"/>
                      </a:endParaRPr>
                    </a:p>
                  </a:txBody>
                  <a:tcPr marT="63500" marB="63500" marR="63500" marL="63500"/>
                </a:tc>
              </a:tr>
              <a:tr h="12700">
                <a:tc gridSpan="2">
                  <a:txBody>
                    <a:bodyPr/>
                    <a:lstStyle/>
                    <a:p>
                      <a:pPr indent="0" lvl="0" marL="0" rtl="0" algn="ctr">
                        <a:lnSpc>
                          <a:spcPct val="115000"/>
                        </a:lnSpc>
                        <a:spcBef>
                          <a:spcPts val="0"/>
                        </a:spcBef>
                        <a:spcAft>
                          <a:spcPts val="0"/>
                        </a:spcAft>
                        <a:buNone/>
                      </a:pPr>
                      <a:r>
                        <a:rPr b="1" lang="en-US">
                          <a:latin typeface="Times New Roman"/>
                          <a:ea typeface="Times New Roman"/>
                          <a:cs typeface="Times New Roman"/>
                          <a:sym typeface="Times New Roman"/>
                        </a:rPr>
                        <a:t>Space Complexity</a:t>
                      </a:r>
                      <a:endParaRPr b="1">
                        <a:latin typeface="Times New Roman"/>
                        <a:ea typeface="Times New Roman"/>
                        <a:cs typeface="Times New Roman"/>
                        <a:sym typeface="Times New Roman"/>
                      </a:endParaRPr>
                    </a:p>
                  </a:txBody>
                  <a:tcPr marT="63500" marB="63500" marR="63500" marL="63500"/>
                </a:tc>
                <a:tc hMerge="1"/>
              </a:tr>
              <a:tr h="12700">
                <a:tc>
                  <a:txBody>
                    <a:bodyPr/>
                    <a:lstStyle/>
                    <a:p>
                      <a:pPr indent="0" lvl="0" marL="0" rtl="0" algn="l">
                        <a:spcBef>
                          <a:spcPts val="0"/>
                        </a:spcBef>
                        <a:spcAft>
                          <a:spcPts val="0"/>
                        </a:spcAft>
                        <a:buNone/>
                      </a:pPr>
                      <a:r>
                        <a:rPr b="1" lang="en-US">
                          <a:latin typeface="Times New Roman"/>
                          <a:ea typeface="Times New Roman"/>
                          <a:cs typeface="Times New Roman"/>
                          <a:sym typeface="Times New Roman"/>
                        </a:rPr>
                        <a:t>Key Pair Generation (RSA)</a:t>
                      </a:r>
                      <a:endParaRPr b="1">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a:latin typeface="Times New Roman"/>
                          <a:ea typeface="Times New Roman"/>
                          <a:cs typeface="Times New Roman"/>
                          <a:sym typeface="Times New Roman"/>
                        </a:rPr>
                        <a:t>O(1)</a:t>
                      </a:r>
                      <a:endParaRPr>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US">
                          <a:latin typeface="Times New Roman"/>
                          <a:ea typeface="Times New Roman"/>
                          <a:cs typeface="Times New Roman"/>
                          <a:sym typeface="Times New Roman"/>
                        </a:rPr>
                        <a:t>AES Key Generation</a:t>
                      </a:r>
                      <a:endParaRPr b="1">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a:latin typeface="Times New Roman"/>
                          <a:ea typeface="Times New Roman"/>
                          <a:cs typeface="Times New Roman"/>
                          <a:sym typeface="Times New Roman"/>
                        </a:rPr>
                        <a:t>O(1) </a:t>
                      </a:r>
                      <a:endParaRPr>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US">
                          <a:latin typeface="Times New Roman"/>
                          <a:ea typeface="Times New Roman"/>
                          <a:cs typeface="Times New Roman"/>
                          <a:sym typeface="Times New Roman"/>
                        </a:rPr>
                        <a:t>Video Encryption (AES)</a:t>
                      </a:r>
                      <a:endParaRPr b="1">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a:latin typeface="Times New Roman"/>
                          <a:ea typeface="Times New Roman"/>
                          <a:cs typeface="Times New Roman"/>
                          <a:sym typeface="Times New Roman"/>
                        </a:rPr>
                        <a:t>O(m)</a:t>
                      </a:r>
                      <a:endParaRPr>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US">
                          <a:latin typeface="Times New Roman"/>
                          <a:ea typeface="Times New Roman"/>
                          <a:cs typeface="Times New Roman"/>
                          <a:sym typeface="Times New Roman"/>
                        </a:rPr>
                        <a:t>AES Key Encryption (RSA)</a:t>
                      </a:r>
                      <a:endParaRPr b="1">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a:latin typeface="Times New Roman"/>
                          <a:ea typeface="Times New Roman"/>
                          <a:cs typeface="Times New Roman"/>
                          <a:sym typeface="Times New Roman"/>
                        </a:rPr>
                        <a:t>O(k)</a:t>
                      </a:r>
                      <a:endParaRPr>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US">
                          <a:latin typeface="Times New Roman"/>
                          <a:ea typeface="Times New Roman"/>
                          <a:cs typeface="Times New Roman"/>
                          <a:sym typeface="Times New Roman"/>
                        </a:rPr>
                        <a:t>AES Key Decryption (RSA)</a:t>
                      </a:r>
                      <a:endParaRPr b="1">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a:latin typeface="Times New Roman"/>
                          <a:ea typeface="Times New Roman"/>
                          <a:cs typeface="Times New Roman"/>
                          <a:sym typeface="Times New Roman"/>
                        </a:rPr>
                        <a:t>O(k)</a:t>
                      </a:r>
                      <a:endParaRPr>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US">
                          <a:latin typeface="Times New Roman"/>
                          <a:ea typeface="Times New Roman"/>
                          <a:cs typeface="Times New Roman"/>
                          <a:sym typeface="Times New Roman"/>
                        </a:rPr>
                        <a:t>Video Decryption (AES)</a:t>
                      </a:r>
                      <a:endParaRPr b="1">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a:latin typeface="Times New Roman"/>
                          <a:ea typeface="Times New Roman"/>
                          <a:cs typeface="Times New Roman"/>
                          <a:sym typeface="Times New Roman"/>
                        </a:rPr>
                        <a:t>O(m)</a:t>
                      </a:r>
                      <a:endParaRPr>
                        <a:latin typeface="Times New Roman"/>
                        <a:ea typeface="Times New Roman"/>
                        <a:cs typeface="Times New Roman"/>
                        <a:sym typeface="Times New Roman"/>
                      </a:endParaRPr>
                    </a:p>
                  </a:txBody>
                  <a:tcPr marT="63500" marB="63500" marR="63500" marL="63500"/>
                </a:tc>
              </a:tr>
            </a:tbl>
          </a:graphicData>
        </a:graphic>
      </p:graphicFrame>
      <p:graphicFrame>
        <p:nvGraphicFramePr>
          <p:cNvPr id="284" name="Google Shape;284;g2c9eccfda70_0_57"/>
          <p:cNvGraphicFramePr/>
          <p:nvPr/>
        </p:nvGraphicFramePr>
        <p:xfrm>
          <a:off x="660900" y="3032800"/>
          <a:ext cx="3000000" cy="3000000"/>
        </p:xfrm>
        <a:graphic>
          <a:graphicData uri="http://schemas.openxmlformats.org/drawingml/2006/table">
            <a:tbl>
              <a:tblPr>
                <a:noFill/>
                <a:tableStyleId>{E85D5467-2EF3-42B7-B66C-22E44046D3A5}</a:tableStyleId>
              </a:tblPr>
              <a:tblGrid>
                <a:gridCol w="1048250"/>
                <a:gridCol w="1048250"/>
                <a:gridCol w="1048250"/>
                <a:gridCol w="1048250"/>
              </a:tblGrid>
              <a:tr h="381000">
                <a:tc>
                  <a:txBody>
                    <a:bodyPr/>
                    <a:lstStyle/>
                    <a:p>
                      <a:pPr indent="0" lvl="0" marL="0" rtl="0" algn="l">
                        <a:spcBef>
                          <a:spcPts val="0"/>
                        </a:spcBef>
                        <a:spcAft>
                          <a:spcPts val="0"/>
                        </a:spcAft>
                        <a:buNone/>
                      </a:pPr>
                      <a:r>
                        <a:rPr b="1" lang="en-US" sz="1500">
                          <a:latin typeface="Times New Roman"/>
                          <a:ea typeface="Times New Roman"/>
                          <a:cs typeface="Times New Roman"/>
                          <a:sym typeface="Times New Roman"/>
                        </a:rPr>
                        <a:t>Video</a:t>
                      </a:r>
                      <a:endParaRPr b="1" sz="1500">
                        <a:latin typeface="Times New Roman"/>
                        <a:ea typeface="Times New Roman"/>
                        <a:cs typeface="Times New Roman"/>
                        <a:sym typeface="Times New Roman"/>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sz="1500">
                          <a:latin typeface="Times New Roman"/>
                          <a:ea typeface="Times New Roman"/>
                          <a:cs typeface="Times New Roman"/>
                          <a:sym typeface="Times New Roman"/>
                        </a:rPr>
                        <a:t>.mp4</a:t>
                      </a:r>
                      <a:endParaRPr sz="1500">
                        <a:latin typeface="Times New Roman"/>
                        <a:ea typeface="Times New Roman"/>
                        <a:cs typeface="Times New Roman"/>
                        <a:sym typeface="Times New Roman"/>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sz="1500">
                          <a:latin typeface="Times New Roman"/>
                          <a:ea typeface="Times New Roman"/>
                          <a:cs typeface="Times New Roman"/>
                          <a:sym typeface="Times New Roman"/>
                        </a:rPr>
                        <a:t>2642 KB</a:t>
                      </a:r>
                      <a:endParaRPr sz="1500">
                        <a:latin typeface="Times New Roman"/>
                        <a:ea typeface="Times New Roman"/>
                        <a:cs typeface="Times New Roman"/>
                        <a:sym typeface="Times New Roman"/>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sz="1500">
                          <a:latin typeface="Times New Roman"/>
                          <a:ea typeface="Times New Roman"/>
                          <a:cs typeface="Times New Roman"/>
                          <a:sym typeface="Times New Roman"/>
                        </a:rPr>
                        <a:t>10 Sec</a:t>
                      </a:r>
                      <a:endParaRPr sz="1500">
                        <a:latin typeface="Times New Roman"/>
                        <a:ea typeface="Times New Roman"/>
                        <a:cs typeface="Times New Roman"/>
                        <a:sym typeface="Times New Roman"/>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id="290" name="Google Shape;290;g2c9eccfda70_0_65"/>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291" name="Google Shape;291;g2c9eccfda70_0_6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292" name="Google Shape;292;g2c9eccfda70_0_65"/>
          <p:cNvSpPr txBox="1"/>
          <p:nvPr/>
        </p:nvSpPr>
        <p:spPr>
          <a:xfrm>
            <a:off x="1305000" y="350375"/>
            <a:ext cx="89868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lang="en-US" sz="3000" u="sng">
                <a:solidFill>
                  <a:srgbClr val="191919"/>
                </a:solidFill>
                <a:latin typeface="Times New Roman"/>
                <a:ea typeface="Times New Roman"/>
                <a:cs typeface="Times New Roman"/>
                <a:sym typeface="Times New Roman"/>
              </a:rPr>
              <a:t>AES and RSA Hybrid for the Encryption of </a:t>
            </a:r>
            <a:r>
              <a:rPr b="1" lang="en-US" sz="3000" u="sng">
                <a:solidFill>
                  <a:srgbClr val="191919"/>
                </a:solidFill>
                <a:latin typeface="Times New Roman"/>
                <a:ea typeface="Times New Roman"/>
                <a:cs typeface="Times New Roman"/>
                <a:sym typeface="Times New Roman"/>
              </a:rPr>
              <a:t>Videos</a:t>
            </a:r>
            <a:endParaRPr b="1" i="0" sz="2300" u="sng" cap="none" strike="noStrike">
              <a:solidFill>
                <a:srgbClr val="191919"/>
              </a:solidFill>
              <a:latin typeface="Times New Roman"/>
              <a:ea typeface="Times New Roman"/>
              <a:cs typeface="Times New Roman"/>
              <a:sym typeface="Times New Roman"/>
            </a:endParaRPr>
          </a:p>
        </p:txBody>
      </p:sp>
      <p:sp>
        <p:nvSpPr>
          <p:cNvPr id="293" name="Google Shape;293;g2c9eccfda70_0_65"/>
          <p:cNvSpPr txBox="1"/>
          <p:nvPr/>
        </p:nvSpPr>
        <p:spPr>
          <a:xfrm>
            <a:off x="1183350" y="1529125"/>
            <a:ext cx="9613500" cy="4926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lang="en-US" sz="2000">
                <a:solidFill>
                  <a:schemeClr val="dk1"/>
                </a:solidFill>
                <a:latin typeface="Times New Roman"/>
                <a:ea typeface="Times New Roman"/>
                <a:cs typeface="Times New Roman"/>
                <a:sym typeface="Times New Roman"/>
              </a:rPr>
              <a:t>Overall, time and space complexity.</a:t>
            </a:r>
            <a:endParaRPr sz="2000">
              <a:solidFill>
                <a:schemeClr val="dk1"/>
              </a:solidFill>
              <a:latin typeface="Times New Roman"/>
              <a:ea typeface="Times New Roman"/>
              <a:cs typeface="Times New Roman"/>
              <a:sym typeface="Times New Roman"/>
            </a:endParaRPr>
          </a:p>
        </p:txBody>
      </p:sp>
      <p:graphicFrame>
        <p:nvGraphicFramePr>
          <p:cNvPr id="294" name="Google Shape;294;g2c9eccfda70_0_65"/>
          <p:cNvGraphicFramePr/>
          <p:nvPr/>
        </p:nvGraphicFramePr>
        <p:xfrm>
          <a:off x="1305000" y="2450850"/>
          <a:ext cx="3000000" cy="3000000"/>
        </p:xfrm>
        <a:graphic>
          <a:graphicData uri="http://schemas.openxmlformats.org/drawingml/2006/table">
            <a:tbl>
              <a:tblPr>
                <a:noFill/>
                <a:tableStyleId>{AF38B7D9-180C-4F1C-AD40-861807BBC445}</a:tableStyleId>
              </a:tblPr>
              <a:tblGrid>
                <a:gridCol w="4493400"/>
                <a:gridCol w="4493400"/>
              </a:tblGrid>
              <a:tr h="500200">
                <a:tc>
                  <a:txBody>
                    <a:bodyPr/>
                    <a:lstStyle/>
                    <a:p>
                      <a:pPr indent="0" lvl="0" marL="0" rtl="0" algn="just">
                        <a:spcBef>
                          <a:spcPts val="0"/>
                        </a:spcBef>
                        <a:spcAft>
                          <a:spcPts val="0"/>
                        </a:spcAft>
                        <a:buNone/>
                      </a:pPr>
                      <a:r>
                        <a:rPr b="1" lang="en-US" sz="2000">
                          <a:latin typeface="Times New Roman"/>
                          <a:ea typeface="Times New Roman"/>
                          <a:cs typeface="Times New Roman"/>
                          <a:sym typeface="Times New Roman"/>
                        </a:rPr>
                        <a:t>Time Complexity</a:t>
                      </a:r>
                      <a:endParaRPr b="1" sz="2000">
                        <a:latin typeface="Times New Roman"/>
                        <a:ea typeface="Times New Roman"/>
                        <a:cs typeface="Times New Roman"/>
                        <a:sym typeface="Times New Roman"/>
                      </a:endParaRPr>
                    </a:p>
                  </a:txBody>
                  <a:tcPr marT="63500" marB="63500" marR="63500" marL="63500">
                    <a:lnR cap="flat" cmpd="sng" w="12700">
                      <a:solidFill>
                        <a:srgbClr val="000000"/>
                      </a:solidFill>
                      <a:prstDash val="solid"/>
                      <a:round/>
                      <a:headEnd len="sm" w="sm" type="none"/>
                      <a:tailEnd len="sm" w="sm" type="none"/>
                    </a:lnR>
                  </a:tcPr>
                </a:tc>
                <a:tc>
                  <a:txBody>
                    <a:bodyPr/>
                    <a:lstStyle/>
                    <a:p>
                      <a:pPr indent="0" lvl="0" marL="0" rtl="0" algn="ctr">
                        <a:spcBef>
                          <a:spcPts val="0"/>
                        </a:spcBef>
                        <a:spcAft>
                          <a:spcPts val="0"/>
                        </a:spcAft>
                        <a:buNone/>
                      </a:pPr>
                      <a:r>
                        <a:rPr lang="en-US" sz="2000">
                          <a:latin typeface="Times New Roman"/>
                          <a:ea typeface="Times New Roman"/>
                          <a:cs typeface="Times New Roman"/>
                          <a:sym typeface="Times New Roman"/>
                        </a:rPr>
                        <a:t>O(n^3 + m + k^3)</a:t>
                      </a:r>
                      <a:endParaRPr sz="2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00200">
                <a:tc>
                  <a:txBody>
                    <a:bodyPr/>
                    <a:lstStyle/>
                    <a:p>
                      <a:pPr indent="0" lvl="0" marL="0" rtl="0" algn="just">
                        <a:spcBef>
                          <a:spcPts val="0"/>
                        </a:spcBef>
                        <a:spcAft>
                          <a:spcPts val="0"/>
                        </a:spcAft>
                        <a:buNone/>
                      </a:pPr>
                      <a:r>
                        <a:rPr b="1" lang="en-US" sz="2000">
                          <a:latin typeface="Times New Roman"/>
                          <a:ea typeface="Times New Roman"/>
                          <a:cs typeface="Times New Roman"/>
                          <a:sym typeface="Times New Roman"/>
                        </a:rPr>
                        <a:t>Space Complexity</a:t>
                      </a:r>
                      <a:endParaRPr b="1" sz="2000">
                        <a:latin typeface="Times New Roman"/>
                        <a:ea typeface="Times New Roman"/>
                        <a:cs typeface="Times New Roman"/>
                        <a:sym typeface="Times New Roman"/>
                      </a:endParaRPr>
                    </a:p>
                  </a:txBody>
                  <a:tcPr marT="63500" marB="63500" marR="63500" marL="63500">
                    <a:lnR cap="flat" cmpd="sng" w="12700">
                      <a:solidFill>
                        <a:srgbClr val="000000"/>
                      </a:solidFill>
                      <a:prstDash val="solid"/>
                      <a:round/>
                      <a:headEnd len="sm" w="sm" type="none"/>
                      <a:tailEnd len="sm" w="sm" type="none"/>
                    </a:lnR>
                  </a:tcPr>
                </a:tc>
                <a:tc>
                  <a:txBody>
                    <a:bodyPr/>
                    <a:lstStyle/>
                    <a:p>
                      <a:pPr indent="0" lvl="0" marL="0" rtl="0" algn="ctr">
                        <a:spcBef>
                          <a:spcPts val="0"/>
                        </a:spcBef>
                        <a:spcAft>
                          <a:spcPts val="0"/>
                        </a:spcAft>
                        <a:buNone/>
                      </a:pPr>
                      <a:r>
                        <a:rPr lang="en-US" sz="2000">
                          <a:latin typeface="Times New Roman"/>
                          <a:ea typeface="Times New Roman"/>
                          <a:cs typeface="Times New Roman"/>
                          <a:sym typeface="Times New Roman"/>
                        </a:rPr>
                        <a:t>O(m + k + n)</a:t>
                      </a:r>
                      <a:endParaRPr sz="2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95" name="Google Shape;295;g2c9eccfda70_0_65"/>
          <p:cNvSpPr txBox="1"/>
          <p:nvPr/>
        </p:nvSpPr>
        <p:spPr>
          <a:xfrm>
            <a:off x="1183350" y="4154125"/>
            <a:ext cx="9613500" cy="9543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Here, n represents the RSA key size (2048 bits), m represents the size of the video file, and k represents the AES key size (256 bits).</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pic>
        <p:nvPicPr>
          <p:cNvPr id="301" name="Google Shape;301;g2c9eccfda70_0_75"/>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302" name="Google Shape;302;g2c9eccfda70_0_7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303" name="Google Shape;303;g2c9eccfda70_0_75"/>
          <p:cNvSpPr txBox="1"/>
          <p:nvPr/>
        </p:nvSpPr>
        <p:spPr>
          <a:xfrm>
            <a:off x="1305000" y="350375"/>
            <a:ext cx="89868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lang="en-US" sz="3000" u="sng">
                <a:solidFill>
                  <a:srgbClr val="191919"/>
                </a:solidFill>
                <a:latin typeface="Times New Roman"/>
                <a:ea typeface="Times New Roman"/>
                <a:cs typeface="Times New Roman"/>
                <a:sym typeface="Times New Roman"/>
              </a:rPr>
              <a:t>AES and RSA Hybrid for the Encryption of </a:t>
            </a:r>
            <a:r>
              <a:rPr b="1" lang="en-US" sz="3000" u="sng">
                <a:solidFill>
                  <a:srgbClr val="191919"/>
                </a:solidFill>
                <a:latin typeface="Times New Roman"/>
                <a:ea typeface="Times New Roman"/>
                <a:cs typeface="Times New Roman"/>
                <a:sym typeface="Times New Roman"/>
              </a:rPr>
              <a:t>Videos</a:t>
            </a:r>
            <a:endParaRPr b="1" i="0" sz="2300" u="sng" cap="none" strike="noStrike">
              <a:solidFill>
                <a:srgbClr val="191919"/>
              </a:solidFill>
              <a:latin typeface="Times New Roman"/>
              <a:ea typeface="Times New Roman"/>
              <a:cs typeface="Times New Roman"/>
              <a:sym typeface="Times New Roman"/>
            </a:endParaRPr>
          </a:p>
        </p:txBody>
      </p:sp>
      <p:sp>
        <p:nvSpPr>
          <p:cNvPr id="304" name="Google Shape;304;g2c9eccfda70_0_75"/>
          <p:cNvSpPr txBox="1"/>
          <p:nvPr/>
        </p:nvSpPr>
        <p:spPr>
          <a:xfrm>
            <a:off x="3002975" y="5822400"/>
            <a:ext cx="6806100" cy="3651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Fig. 5.1: Time Complexity Graph of AES and RSA for </a:t>
            </a:r>
            <a:r>
              <a:rPr lang="en-US" sz="2000">
                <a:solidFill>
                  <a:schemeClr val="dk1"/>
                </a:solidFill>
                <a:latin typeface="Times New Roman"/>
                <a:ea typeface="Times New Roman"/>
                <a:cs typeface="Times New Roman"/>
                <a:sym typeface="Times New Roman"/>
              </a:rPr>
              <a:t>Videos</a:t>
            </a:r>
            <a:endParaRPr sz="20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000">
              <a:solidFill>
                <a:schemeClr val="dk1"/>
              </a:solidFill>
              <a:latin typeface="Calibri"/>
              <a:ea typeface="Calibri"/>
              <a:cs typeface="Calibri"/>
              <a:sym typeface="Calibri"/>
            </a:endParaRPr>
          </a:p>
        </p:txBody>
      </p:sp>
      <p:pic>
        <p:nvPicPr>
          <p:cNvPr id="305" name="Google Shape;305;g2c9eccfda70_0_75"/>
          <p:cNvPicPr preferRelativeResize="0"/>
          <p:nvPr/>
        </p:nvPicPr>
        <p:blipFill>
          <a:blip r:embed="rId4">
            <a:alphaModFix/>
          </a:blip>
          <a:stretch>
            <a:fillRect/>
          </a:stretch>
        </p:blipFill>
        <p:spPr>
          <a:xfrm>
            <a:off x="2995600" y="1682325"/>
            <a:ext cx="6200775" cy="39147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pic>
        <p:nvPicPr>
          <p:cNvPr id="311" name="Google Shape;311;g2c9eccfda70_0_84"/>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312" name="Google Shape;312;g2c9eccfda70_0_8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313" name="Google Shape;313;g2c9eccfda70_0_84"/>
          <p:cNvSpPr txBox="1"/>
          <p:nvPr/>
        </p:nvSpPr>
        <p:spPr>
          <a:xfrm>
            <a:off x="1305000" y="350375"/>
            <a:ext cx="89868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lang="en-US" sz="3000" u="sng">
                <a:solidFill>
                  <a:srgbClr val="191919"/>
                </a:solidFill>
                <a:latin typeface="Times New Roman"/>
                <a:ea typeface="Times New Roman"/>
                <a:cs typeface="Times New Roman"/>
                <a:sym typeface="Times New Roman"/>
              </a:rPr>
              <a:t>AES and RSA Hybrid for the Encryption of Videos</a:t>
            </a:r>
            <a:endParaRPr b="1" i="0" sz="2300" u="sng" cap="none" strike="noStrike">
              <a:solidFill>
                <a:srgbClr val="191919"/>
              </a:solidFill>
              <a:latin typeface="Times New Roman"/>
              <a:ea typeface="Times New Roman"/>
              <a:cs typeface="Times New Roman"/>
              <a:sym typeface="Times New Roman"/>
            </a:endParaRPr>
          </a:p>
        </p:txBody>
      </p:sp>
      <p:sp>
        <p:nvSpPr>
          <p:cNvPr id="314" name="Google Shape;314;g2c9eccfda70_0_84"/>
          <p:cNvSpPr txBox="1"/>
          <p:nvPr/>
        </p:nvSpPr>
        <p:spPr>
          <a:xfrm>
            <a:off x="399000" y="1246150"/>
            <a:ext cx="10974000" cy="5110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Strength Analysis:</a:t>
            </a:r>
            <a:endParaRPr sz="2000">
              <a:solidFill>
                <a:schemeClr val="dk1"/>
              </a:solidFill>
              <a:latin typeface="Times New Roman"/>
              <a:ea typeface="Times New Roman"/>
              <a:cs typeface="Times New Roman"/>
              <a:sym typeface="Times New Roman"/>
            </a:endParaRPr>
          </a:p>
          <a:p>
            <a:pPr indent="-355600" lvl="0" marL="457200" rtl="0" algn="just">
              <a:lnSpc>
                <a:spcPct val="150000"/>
              </a:lnSpc>
              <a:spcBef>
                <a:spcPts val="0"/>
              </a:spcBef>
              <a:spcAft>
                <a:spcPts val="0"/>
              </a:spcAft>
              <a:buClr>
                <a:schemeClr val="dk1"/>
              </a:buClr>
              <a:buSzPts val="2000"/>
              <a:buFont typeface="Times New Roman"/>
              <a:buChar char="●"/>
            </a:pPr>
            <a:r>
              <a:rPr b="1" lang="en-US" sz="2000">
                <a:solidFill>
                  <a:schemeClr val="dk1"/>
                </a:solidFill>
                <a:latin typeface="Times New Roman"/>
                <a:ea typeface="Times New Roman"/>
                <a:cs typeface="Times New Roman"/>
                <a:sym typeface="Times New Roman"/>
              </a:rPr>
              <a:t>RSA Key Size:</a:t>
            </a:r>
            <a:r>
              <a:rPr lang="en-US" sz="2000">
                <a:solidFill>
                  <a:schemeClr val="dk1"/>
                </a:solidFill>
                <a:latin typeface="Times New Roman"/>
                <a:ea typeface="Times New Roman"/>
                <a:cs typeface="Times New Roman"/>
                <a:sym typeface="Times New Roman"/>
              </a:rPr>
              <a:t> The RSA key size is set to 2048 bits, which is considered strong enough for most applications as of the last update in 2022.</a:t>
            </a:r>
            <a:endParaRPr sz="2000">
              <a:solidFill>
                <a:schemeClr val="dk1"/>
              </a:solidFill>
              <a:latin typeface="Times New Roman"/>
              <a:ea typeface="Times New Roman"/>
              <a:cs typeface="Times New Roman"/>
              <a:sym typeface="Times New Roman"/>
            </a:endParaRPr>
          </a:p>
          <a:p>
            <a:pPr indent="-355600" lvl="0" marL="457200" rtl="0" algn="just">
              <a:lnSpc>
                <a:spcPct val="150000"/>
              </a:lnSpc>
              <a:spcBef>
                <a:spcPts val="0"/>
              </a:spcBef>
              <a:spcAft>
                <a:spcPts val="0"/>
              </a:spcAft>
              <a:buClr>
                <a:schemeClr val="dk1"/>
              </a:buClr>
              <a:buSzPts val="2000"/>
              <a:buFont typeface="Times New Roman"/>
              <a:buChar char="●"/>
            </a:pPr>
            <a:r>
              <a:rPr b="1" lang="en-US" sz="2000">
                <a:solidFill>
                  <a:schemeClr val="dk1"/>
                </a:solidFill>
                <a:latin typeface="Times New Roman"/>
                <a:ea typeface="Times New Roman"/>
                <a:cs typeface="Times New Roman"/>
                <a:sym typeface="Times New Roman"/>
              </a:rPr>
              <a:t>AES Key Size:</a:t>
            </a:r>
            <a:r>
              <a:rPr lang="en-US" sz="2000">
                <a:solidFill>
                  <a:schemeClr val="dk1"/>
                </a:solidFill>
                <a:latin typeface="Times New Roman"/>
                <a:ea typeface="Times New Roman"/>
                <a:cs typeface="Times New Roman"/>
                <a:sym typeface="Times New Roman"/>
              </a:rPr>
              <a:t> The AES key size is set to 256 bits, providing strong encryption.</a:t>
            </a:r>
            <a:endParaRPr sz="2000">
              <a:solidFill>
                <a:schemeClr val="dk1"/>
              </a:solidFill>
              <a:latin typeface="Times New Roman"/>
              <a:ea typeface="Times New Roman"/>
              <a:cs typeface="Times New Roman"/>
              <a:sym typeface="Times New Roman"/>
            </a:endParaRPr>
          </a:p>
          <a:p>
            <a:pPr indent="-355600" lvl="0" marL="457200" rtl="0" algn="just">
              <a:lnSpc>
                <a:spcPct val="150000"/>
              </a:lnSpc>
              <a:spcBef>
                <a:spcPts val="0"/>
              </a:spcBef>
              <a:spcAft>
                <a:spcPts val="0"/>
              </a:spcAft>
              <a:buClr>
                <a:schemeClr val="dk1"/>
              </a:buClr>
              <a:buSzPts val="2000"/>
              <a:buFont typeface="Times New Roman"/>
              <a:buChar char="●"/>
            </a:pPr>
            <a:r>
              <a:rPr b="1" lang="en-US" sz="2000">
                <a:solidFill>
                  <a:schemeClr val="dk1"/>
                </a:solidFill>
                <a:latin typeface="Times New Roman"/>
                <a:ea typeface="Times New Roman"/>
                <a:cs typeface="Times New Roman"/>
                <a:sym typeface="Times New Roman"/>
              </a:rPr>
              <a:t>Padding Scheme:</a:t>
            </a:r>
            <a:r>
              <a:rPr lang="en-US" sz="2000">
                <a:solidFill>
                  <a:schemeClr val="dk1"/>
                </a:solidFill>
                <a:latin typeface="Times New Roman"/>
                <a:ea typeface="Times New Roman"/>
                <a:cs typeface="Times New Roman"/>
                <a:sym typeface="Times New Roman"/>
              </a:rPr>
              <a:t> PKCS1Padding is used for RSA encryption and decryption, which is a standard padding scheme.</a:t>
            </a:r>
            <a:endParaRPr sz="2000">
              <a:solidFill>
                <a:schemeClr val="dk1"/>
              </a:solidFill>
              <a:latin typeface="Times New Roman"/>
              <a:ea typeface="Times New Roman"/>
              <a:cs typeface="Times New Roman"/>
              <a:sym typeface="Times New Roman"/>
            </a:endParaRPr>
          </a:p>
          <a:p>
            <a:pPr indent="-355600" lvl="0" marL="457200" rtl="0" algn="just">
              <a:lnSpc>
                <a:spcPct val="150000"/>
              </a:lnSpc>
              <a:spcBef>
                <a:spcPts val="0"/>
              </a:spcBef>
              <a:spcAft>
                <a:spcPts val="0"/>
              </a:spcAft>
              <a:buClr>
                <a:schemeClr val="dk1"/>
              </a:buClr>
              <a:buSzPts val="2000"/>
              <a:buFont typeface="Times New Roman"/>
              <a:buChar char="●"/>
            </a:pPr>
            <a:r>
              <a:rPr b="1" lang="en-US" sz="2000">
                <a:solidFill>
                  <a:schemeClr val="dk1"/>
                </a:solidFill>
                <a:latin typeface="Times New Roman"/>
                <a:ea typeface="Times New Roman"/>
                <a:cs typeface="Times New Roman"/>
                <a:sym typeface="Times New Roman"/>
              </a:rPr>
              <a:t>Mode of Operation:</a:t>
            </a:r>
            <a:r>
              <a:rPr lang="en-US" sz="2000">
                <a:solidFill>
                  <a:schemeClr val="dk1"/>
                </a:solidFill>
                <a:latin typeface="Times New Roman"/>
                <a:ea typeface="Times New Roman"/>
                <a:cs typeface="Times New Roman"/>
                <a:sym typeface="Times New Roman"/>
              </a:rPr>
              <a:t> ECB mode is used for both RSA and AES encryption, which has certain vulnerabilities. It's recommended to use more secure modes like CBC or GCM.</a:t>
            </a:r>
            <a:endParaRPr sz="20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457200" lvl="0" marL="0" rtl="0" algn="just">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Overall, the code seems to implement hybrid encryption using strong cryptographic primitives. However, using more secure modes of operation for encryption could further enhance its security.</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g192720a74b7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321" name="Google Shape;321;g192720a74b7_0_0"/>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322" name="Google Shape;322;g192720a74b7_0_0"/>
          <p:cNvSpPr txBox="1"/>
          <p:nvPr/>
        </p:nvSpPr>
        <p:spPr>
          <a:xfrm>
            <a:off x="1564825" y="313575"/>
            <a:ext cx="85266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lang="en-US" sz="3000" u="sng">
                <a:solidFill>
                  <a:schemeClr val="dk1"/>
                </a:solidFill>
                <a:latin typeface="Times New Roman"/>
                <a:ea typeface="Times New Roman"/>
                <a:cs typeface="Times New Roman"/>
                <a:sym typeface="Times New Roman"/>
              </a:rPr>
              <a:t>Merits of AES with RSA in Hybrid encryption</a:t>
            </a:r>
            <a:endParaRPr b="0" i="0" sz="3000" u="sng"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000"/>
              <a:buFont typeface="Arial"/>
              <a:buNone/>
            </a:pPr>
            <a:r>
              <a:t/>
            </a:r>
            <a:endParaRPr i="0" sz="3000" u="none" cap="none" strike="noStrike">
              <a:solidFill>
                <a:schemeClr val="dk1"/>
              </a:solidFill>
              <a:latin typeface="Times New Roman"/>
              <a:ea typeface="Times New Roman"/>
              <a:cs typeface="Times New Roman"/>
              <a:sym typeface="Times New Roman"/>
            </a:endParaRPr>
          </a:p>
        </p:txBody>
      </p:sp>
      <p:sp>
        <p:nvSpPr>
          <p:cNvPr id="323" name="Google Shape;323;g192720a74b7_0_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324" name="Google Shape;324;g192720a74b7_0_0"/>
          <p:cNvSpPr txBox="1"/>
          <p:nvPr/>
        </p:nvSpPr>
        <p:spPr>
          <a:xfrm>
            <a:off x="533375" y="1207475"/>
            <a:ext cx="11096100" cy="4494600"/>
          </a:xfrm>
          <a:prstGeom prst="rect">
            <a:avLst/>
          </a:prstGeom>
          <a:noFill/>
          <a:ln>
            <a:noFill/>
          </a:ln>
        </p:spPr>
        <p:txBody>
          <a:bodyPr anchorCtr="0" anchor="t" bIns="91425" lIns="91425" spcFirstLastPara="1" rIns="91425" wrap="square" tIns="91425">
            <a:spAutoFit/>
          </a:bodyPr>
          <a:lstStyle/>
          <a:p>
            <a:pPr indent="-355600" lvl="0" marL="457200" rtl="0" algn="just">
              <a:spcBef>
                <a:spcPts val="0"/>
              </a:spcBef>
              <a:spcAft>
                <a:spcPts val="0"/>
              </a:spcAft>
              <a:buClr>
                <a:schemeClr val="dk1"/>
              </a:buClr>
              <a:buSzPts val="2000"/>
              <a:buFont typeface="Times New Roman"/>
              <a:buAutoNum type="arabicPeriod"/>
            </a:pPr>
            <a:r>
              <a:rPr b="1" lang="en-US" sz="2000">
                <a:solidFill>
                  <a:schemeClr val="dk1"/>
                </a:solidFill>
                <a:latin typeface="Times New Roman"/>
                <a:ea typeface="Times New Roman"/>
                <a:cs typeface="Times New Roman"/>
                <a:sym typeface="Times New Roman"/>
              </a:rPr>
              <a:t>Security</a:t>
            </a:r>
            <a:r>
              <a:rPr b="1" lang="en-US" sz="2000">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By combining AES with RSA, you get the benefits of both symmetric and asymmetric encryption, providing a high level of security for data transmission.</a:t>
            </a:r>
            <a:endParaRPr sz="2000">
              <a:solidFill>
                <a:schemeClr val="dk1"/>
              </a:solidFill>
              <a:latin typeface="Times New Roman"/>
              <a:ea typeface="Times New Roman"/>
              <a:cs typeface="Times New Roman"/>
              <a:sym typeface="Times New Roman"/>
            </a:endParaRPr>
          </a:p>
          <a:p>
            <a:pPr indent="-355600" lvl="0" marL="457200" rtl="0" algn="just">
              <a:spcBef>
                <a:spcPts val="0"/>
              </a:spcBef>
              <a:spcAft>
                <a:spcPts val="0"/>
              </a:spcAft>
              <a:buClr>
                <a:schemeClr val="dk1"/>
              </a:buClr>
              <a:buSzPts val="2000"/>
              <a:buFont typeface="Times New Roman"/>
              <a:buAutoNum type="arabicPeriod"/>
            </a:pPr>
            <a:r>
              <a:rPr b="1" lang="en-US" sz="2000">
                <a:solidFill>
                  <a:schemeClr val="dk1"/>
                </a:solidFill>
                <a:latin typeface="Times New Roman"/>
                <a:ea typeface="Times New Roman"/>
                <a:cs typeface="Times New Roman"/>
                <a:sym typeface="Times New Roman"/>
              </a:rPr>
              <a:t>Efficiency</a:t>
            </a:r>
            <a:r>
              <a:rPr b="1" lang="en-US" sz="2000">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By using RSA to encrypt a randomly generated AES key instead of the entire message, the computational overhead is significantly reduced, resulting in a more efficient encryption process.</a:t>
            </a:r>
            <a:endParaRPr sz="2000">
              <a:solidFill>
                <a:schemeClr val="dk1"/>
              </a:solidFill>
              <a:latin typeface="Times New Roman"/>
              <a:ea typeface="Times New Roman"/>
              <a:cs typeface="Times New Roman"/>
              <a:sym typeface="Times New Roman"/>
            </a:endParaRPr>
          </a:p>
          <a:p>
            <a:pPr indent="-355600" lvl="0" marL="457200" rtl="0" algn="just">
              <a:spcBef>
                <a:spcPts val="0"/>
              </a:spcBef>
              <a:spcAft>
                <a:spcPts val="0"/>
              </a:spcAft>
              <a:buClr>
                <a:schemeClr val="dk1"/>
              </a:buClr>
              <a:buSzPts val="2000"/>
              <a:buFont typeface="Times New Roman"/>
              <a:buAutoNum type="arabicPeriod"/>
            </a:pPr>
            <a:r>
              <a:rPr b="1" lang="en-US" sz="2000">
                <a:solidFill>
                  <a:schemeClr val="dk1"/>
                </a:solidFill>
                <a:latin typeface="Times New Roman"/>
                <a:ea typeface="Times New Roman"/>
                <a:cs typeface="Times New Roman"/>
                <a:sym typeface="Times New Roman"/>
              </a:rPr>
              <a:t>Key Management</a:t>
            </a:r>
            <a:r>
              <a:rPr lang="en-US" sz="2000">
                <a:solidFill>
                  <a:schemeClr val="dk1"/>
                </a:solidFill>
                <a:latin typeface="Times New Roman"/>
                <a:ea typeface="Times New Roman"/>
                <a:cs typeface="Times New Roman"/>
                <a:sym typeface="Times New Roman"/>
              </a:rPr>
              <a:t>: In a hybrid encryption scheme using AES with RSA, the AES key is securely exchanged using RSA encryption, providing a more manageable and secure key management solution.</a:t>
            </a:r>
            <a:endParaRPr sz="2000">
              <a:solidFill>
                <a:schemeClr val="dk1"/>
              </a:solidFill>
              <a:latin typeface="Times New Roman"/>
              <a:ea typeface="Times New Roman"/>
              <a:cs typeface="Times New Roman"/>
              <a:sym typeface="Times New Roman"/>
            </a:endParaRPr>
          </a:p>
          <a:p>
            <a:pPr indent="-355600" lvl="0" marL="457200" rtl="0" algn="just">
              <a:spcBef>
                <a:spcPts val="0"/>
              </a:spcBef>
              <a:spcAft>
                <a:spcPts val="0"/>
              </a:spcAft>
              <a:buClr>
                <a:schemeClr val="dk1"/>
              </a:buClr>
              <a:buSzPts val="2000"/>
              <a:buFont typeface="Times New Roman"/>
              <a:buAutoNum type="arabicPeriod"/>
            </a:pPr>
            <a:r>
              <a:rPr b="1" lang="en-US" sz="2000">
                <a:solidFill>
                  <a:schemeClr val="dk1"/>
                </a:solidFill>
                <a:latin typeface="Times New Roman"/>
                <a:ea typeface="Times New Roman"/>
                <a:cs typeface="Times New Roman"/>
                <a:sym typeface="Times New Roman"/>
              </a:rPr>
              <a:t>Forward Secrecy</a:t>
            </a:r>
            <a:r>
              <a:rPr lang="en-US" sz="2000">
                <a:solidFill>
                  <a:schemeClr val="dk1"/>
                </a:solidFill>
                <a:latin typeface="Times New Roman"/>
                <a:ea typeface="Times New Roman"/>
                <a:cs typeface="Times New Roman"/>
                <a:sym typeface="Times New Roman"/>
              </a:rPr>
              <a:t>:  In a hybrid encryption scheme, if ephemeral AES keys are used for each session and exchanged using RSA encryption, forward secrecy can be achieved. Even if the RSA private key is compromised in the future, previously encrypted messages remain secure because they were encrypted with different AES keys.</a:t>
            </a:r>
            <a:endParaRPr sz="2000">
              <a:solidFill>
                <a:schemeClr val="dk1"/>
              </a:solidFill>
              <a:latin typeface="Times New Roman"/>
              <a:ea typeface="Times New Roman"/>
              <a:cs typeface="Times New Roman"/>
              <a:sym typeface="Times New Roman"/>
            </a:endParaRPr>
          </a:p>
          <a:p>
            <a:pPr indent="-355600" lvl="0" marL="457200" rtl="0" algn="just">
              <a:spcBef>
                <a:spcPts val="0"/>
              </a:spcBef>
              <a:spcAft>
                <a:spcPts val="0"/>
              </a:spcAft>
              <a:buClr>
                <a:schemeClr val="dk1"/>
              </a:buClr>
              <a:buSzPts val="2000"/>
              <a:buFont typeface="Times New Roman"/>
              <a:buAutoNum type="arabicPeriod"/>
            </a:pPr>
            <a:r>
              <a:rPr b="1" lang="en-US" sz="2000">
                <a:solidFill>
                  <a:schemeClr val="dk1"/>
                </a:solidFill>
                <a:latin typeface="Times New Roman"/>
                <a:ea typeface="Times New Roman"/>
                <a:cs typeface="Times New Roman"/>
                <a:sym typeface="Times New Roman"/>
              </a:rPr>
              <a:t>Adaptability</a:t>
            </a:r>
            <a:r>
              <a:rPr lang="en-US" sz="2000">
                <a:solidFill>
                  <a:schemeClr val="dk1"/>
                </a:solidFill>
                <a:latin typeface="Times New Roman"/>
                <a:ea typeface="Times New Roman"/>
                <a:cs typeface="Times New Roman"/>
                <a:sym typeface="Times New Roman"/>
              </a:rPr>
              <a:t>:  Hybrid encryption allows for flexibility in choosing encryption algorithms based on specific security requirements and constraints. By combining AES with RSA, you can tailor the encryption process to suit different scenarios, such as balancing security, efficiency, and key management considerations.</a:t>
            </a:r>
            <a:endParaRPr sz="2000">
              <a:solidFill>
                <a:schemeClr val="dk1"/>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g2bab0ace036_2_5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331" name="Google Shape;331;g2bab0ace036_2_50"/>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332" name="Google Shape;332;g2bab0ace036_2_50"/>
          <p:cNvSpPr txBox="1"/>
          <p:nvPr/>
        </p:nvSpPr>
        <p:spPr>
          <a:xfrm>
            <a:off x="1564825" y="313575"/>
            <a:ext cx="85266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lang="en-US" sz="3000" u="sng">
                <a:solidFill>
                  <a:schemeClr val="dk1"/>
                </a:solidFill>
                <a:latin typeface="Times New Roman"/>
                <a:ea typeface="Times New Roman"/>
                <a:cs typeface="Times New Roman"/>
                <a:sym typeface="Times New Roman"/>
              </a:rPr>
              <a:t>Dem</a:t>
            </a:r>
            <a:r>
              <a:rPr b="1" lang="en-US" sz="3000" u="sng">
                <a:solidFill>
                  <a:schemeClr val="dk1"/>
                </a:solidFill>
                <a:latin typeface="Times New Roman"/>
                <a:ea typeface="Times New Roman"/>
                <a:cs typeface="Times New Roman"/>
                <a:sym typeface="Times New Roman"/>
              </a:rPr>
              <a:t>erits of AES with RSA in Hybrid encryption</a:t>
            </a:r>
            <a:endParaRPr b="0" i="0" sz="3000" u="sng"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Calibri"/>
              <a:ea typeface="Calibri"/>
              <a:cs typeface="Calibri"/>
              <a:sym typeface="Calibri"/>
            </a:endParaRPr>
          </a:p>
        </p:txBody>
      </p:sp>
      <p:sp>
        <p:nvSpPr>
          <p:cNvPr id="333" name="Google Shape;333;g2bab0ace036_2_5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334" name="Google Shape;334;g2bab0ace036_2_50"/>
          <p:cNvSpPr txBox="1"/>
          <p:nvPr/>
        </p:nvSpPr>
        <p:spPr>
          <a:xfrm>
            <a:off x="533375" y="1345438"/>
            <a:ext cx="10146300" cy="4802400"/>
          </a:xfrm>
          <a:prstGeom prst="rect">
            <a:avLst/>
          </a:prstGeom>
          <a:noFill/>
          <a:ln>
            <a:noFill/>
          </a:ln>
        </p:spPr>
        <p:txBody>
          <a:bodyPr anchorCtr="0" anchor="t" bIns="91425" lIns="91425" spcFirstLastPara="1" rIns="91425" wrap="square" tIns="91425">
            <a:spAutoFit/>
          </a:bodyPr>
          <a:lstStyle/>
          <a:p>
            <a:pPr indent="-355600" lvl="0" marL="457200" rtl="0" algn="just">
              <a:spcBef>
                <a:spcPts val="0"/>
              </a:spcBef>
              <a:spcAft>
                <a:spcPts val="0"/>
              </a:spcAft>
              <a:buClr>
                <a:schemeClr val="dk1"/>
              </a:buClr>
              <a:buSzPts val="2000"/>
              <a:buFont typeface="Times New Roman"/>
              <a:buAutoNum type="arabicPeriod"/>
            </a:pPr>
            <a:r>
              <a:rPr b="1" lang="en-US" sz="2000">
                <a:solidFill>
                  <a:schemeClr val="dk1"/>
                </a:solidFill>
                <a:latin typeface="Times New Roman"/>
                <a:ea typeface="Times New Roman"/>
                <a:cs typeface="Times New Roman"/>
                <a:sym typeface="Times New Roman"/>
              </a:rPr>
              <a:t>Increased Complexity</a:t>
            </a:r>
            <a:r>
              <a:rPr b="1" lang="en-US" sz="2000">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Implementing hybrid encryption with both AES and RSA adds complexity to the encryption and decryption processes.</a:t>
            </a:r>
            <a:endParaRPr sz="2000">
              <a:solidFill>
                <a:schemeClr val="dk1"/>
              </a:solidFill>
              <a:latin typeface="Times New Roman"/>
              <a:ea typeface="Times New Roman"/>
              <a:cs typeface="Times New Roman"/>
              <a:sym typeface="Times New Roman"/>
            </a:endParaRPr>
          </a:p>
          <a:p>
            <a:pPr indent="-355600" lvl="0" marL="457200" rtl="0" algn="just">
              <a:spcBef>
                <a:spcPts val="0"/>
              </a:spcBef>
              <a:spcAft>
                <a:spcPts val="0"/>
              </a:spcAft>
              <a:buClr>
                <a:schemeClr val="dk1"/>
              </a:buClr>
              <a:buSzPts val="2000"/>
              <a:buFont typeface="Times New Roman"/>
              <a:buAutoNum type="arabicPeriod"/>
            </a:pPr>
            <a:r>
              <a:rPr b="1" lang="en-US" sz="2000">
                <a:solidFill>
                  <a:schemeClr val="dk1"/>
                </a:solidFill>
                <a:latin typeface="Times New Roman"/>
                <a:ea typeface="Times New Roman"/>
                <a:cs typeface="Times New Roman"/>
                <a:sym typeface="Times New Roman"/>
              </a:rPr>
              <a:t>Performance Overhead</a:t>
            </a:r>
            <a:r>
              <a:rPr b="1" lang="en-US" sz="2000">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While AES is efficient for encrypting large amounts of data due to its symmetric nature, RSA is computationally more expensive, especially for key generation and encryption of large data sets.</a:t>
            </a:r>
            <a:endParaRPr sz="2000">
              <a:solidFill>
                <a:schemeClr val="dk1"/>
              </a:solidFill>
              <a:latin typeface="Times New Roman"/>
              <a:ea typeface="Times New Roman"/>
              <a:cs typeface="Times New Roman"/>
              <a:sym typeface="Times New Roman"/>
            </a:endParaRPr>
          </a:p>
          <a:p>
            <a:pPr indent="-355600" lvl="0" marL="457200" rtl="0" algn="just">
              <a:spcBef>
                <a:spcPts val="0"/>
              </a:spcBef>
              <a:spcAft>
                <a:spcPts val="0"/>
              </a:spcAft>
              <a:buClr>
                <a:schemeClr val="dk1"/>
              </a:buClr>
              <a:buSzPts val="2000"/>
              <a:buFont typeface="Times New Roman"/>
              <a:buAutoNum type="arabicPeriod"/>
            </a:pPr>
            <a:r>
              <a:rPr b="1" lang="en-US" sz="2000">
                <a:solidFill>
                  <a:schemeClr val="dk1"/>
                </a:solidFill>
                <a:latin typeface="Times New Roman"/>
                <a:ea typeface="Times New Roman"/>
                <a:cs typeface="Times New Roman"/>
                <a:sym typeface="Times New Roman"/>
              </a:rPr>
              <a:t>Key Length mismatch</a:t>
            </a:r>
            <a:r>
              <a:rPr lang="en-US" sz="2000">
                <a:solidFill>
                  <a:schemeClr val="dk1"/>
                </a:solidFill>
                <a:latin typeface="Times New Roman"/>
                <a:ea typeface="Times New Roman"/>
                <a:cs typeface="Times New Roman"/>
                <a:sym typeface="Times New Roman"/>
              </a:rPr>
              <a:t>: The </a:t>
            </a:r>
            <a:r>
              <a:rPr lang="en-US" sz="2000">
                <a:solidFill>
                  <a:schemeClr val="dk1"/>
                </a:solidFill>
                <a:latin typeface="Times New Roman"/>
                <a:ea typeface="Times New Roman"/>
                <a:cs typeface="Times New Roman"/>
                <a:sym typeface="Times New Roman"/>
              </a:rPr>
              <a:t>key length mismatch can introduce complexities in key management and may require additional padding or adjustments to ensure compatibility between the two encryption schemes.</a:t>
            </a:r>
            <a:endParaRPr sz="2000">
              <a:solidFill>
                <a:schemeClr val="dk1"/>
              </a:solidFill>
              <a:latin typeface="Times New Roman"/>
              <a:ea typeface="Times New Roman"/>
              <a:cs typeface="Times New Roman"/>
              <a:sym typeface="Times New Roman"/>
            </a:endParaRPr>
          </a:p>
          <a:p>
            <a:pPr indent="-355600" lvl="0" marL="457200" rtl="0" algn="just">
              <a:spcBef>
                <a:spcPts val="0"/>
              </a:spcBef>
              <a:spcAft>
                <a:spcPts val="0"/>
              </a:spcAft>
              <a:buClr>
                <a:schemeClr val="dk1"/>
              </a:buClr>
              <a:buSzPts val="2000"/>
              <a:buFont typeface="Times New Roman"/>
              <a:buAutoNum type="arabicPeriod"/>
            </a:pPr>
            <a:r>
              <a:rPr b="1" lang="en-US" sz="2000">
                <a:solidFill>
                  <a:schemeClr val="dk1"/>
                </a:solidFill>
                <a:latin typeface="Times New Roman"/>
                <a:ea typeface="Times New Roman"/>
                <a:cs typeface="Times New Roman"/>
                <a:sym typeface="Times New Roman"/>
              </a:rPr>
              <a:t>Key Distribution</a:t>
            </a:r>
            <a:r>
              <a:rPr lang="en-US" sz="2000">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While RSA can facilitate secure key exchange through its asymmetric encryption mechanism, managing RSA key pairs securely and distributing public keys to all communicating parties can be challenging.</a:t>
            </a:r>
            <a:endParaRPr sz="2000">
              <a:solidFill>
                <a:schemeClr val="dk1"/>
              </a:solidFill>
              <a:latin typeface="Times New Roman"/>
              <a:ea typeface="Times New Roman"/>
              <a:cs typeface="Times New Roman"/>
              <a:sym typeface="Times New Roman"/>
            </a:endParaRPr>
          </a:p>
          <a:p>
            <a:pPr indent="-355600" lvl="0" marL="457200" rtl="0" algn="just">
              <a:spcBef>
                <a:spcPts val="0"/>
              </a:spcBef>
              <a:spcAft>
                <a:spcPts val="0"/>
              </a:spcAft>
              <a:buClr>
                <a:schemeClr val="dk1"/>
              </a:buClr>
              <a:buSzPts val="2000"/>
              <a:buFont typeface="Times New Roman"/>
              <a:buAutoNum type="arabicPeriod"/>
            </a:pPr>
            <a:r>
              <a:rPr b="1" lang="en-US" sz="2000">
                <a:solidFill>
                  <a:schemeClr val="dk1"/>
                </a:solidFill>
                <a:latin typeface="Times New Roman"/>
                <a:ea typeface="Times New Roman"/>
                <a:cs typeface="Times New Roman"/>
                <a:sym typeface="Times New Roman"/>
              </a:rPr>
              <a:t>Potential Security Vulnerabilities</a:t>
            </a:r>
            <a:r>
              <a:rPr lang="en-US" sz="2000">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Hybrid encryption introduces additional attack vectors compared to using a single encryption scheme. Ensuring the secure implementation of both AES and RSA, as well as proper key management practices, is crucial to mitigating these risks.</a:t>
            </a:r>
            <a:endParaRPr sz="2000">
              <a:solidFill>
                <a:schemeClr val="dk1"/>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2bab0ace036_2_2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341" name="Google Shape;341;g2bab0ace036_2_24"/>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342" name="Google Shape;342;g2bab0ace036_2_2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343" name="Google Shape;343;g2bab0ace036_2_24"/>
          <p:cNvSpPr txBox="1"/>
          <p:nvPr/>
        </p:nvSpPr>
        <p:spPr>
          <a:xfrm>
            <a:off x="1243800" y="1237125"/>
            <a:ext cx="10054500" cy="61569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lang="en-US" sz="2000">
                <a:solidFill>
                  <a:schemeClr val="dk1"/>
                </a:solidFill>
                <a:latin typeface="Times New Roman"/>
                <a:ea typeface="Times New Roman"/>
                <a:cs typeface="Times New Roman"/>
                <a:sym typeface="Times New Roman"/>
              </a:rPr>
              <a:t>The process for encrypting and decrypting image and video files using a combination of AES for symmetric encryption and Triple DES (3DES) for asymmetric encryption of the symmetric key can be outlined as follows:</a:t>
            </a:r>
            <a:endParaRPr sz="2000">
              <a:solidFill>
                <a:schemeClr val="dk1"/>
              </a:solidFill>
              <a:latin typeface="Times New Roman"/>
              <a:ea typeface="Times New Roman"/>
              <a:cs typeface="Times New Roman"/>
              <a:sym typeface="Times New Roman"/>
            </a:endParaRPr>
          </a:p>
          <a:p>
            <a:pPr indent="0" lvl="0" marL="457200" marR="0" rtl="0" algn="just">
              <a:lnSpc>
                <a:spcPct val="115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None/>
            </a:pPr>
            <a:r>
              <a:rPr b="1" lang="en-US" sz="2000">
                <a:solidFill>
                  <a:schemeClr val="dk1"/>
                </a:solidFill>
                <a:latin typeface="Times New Roman"/>
                <a:ea typeface="Times New Roman"/>
                <a:cs typeface="Times New Roman"/>
                <a:sym typeface="Times New Roman"/>
              </a:rPr>
              <a:t>Encryption</a:t>
            </a:r>
            <a:r>
              <a:rPr lang="en-US" sz="2000">
                <a:solidFill>
                  <a:schemeClr val="dk1"/>
                </a:solidFill>
                <a:latin typeface="Times New Roman"/>
                <a:ea typeface="Times New Roman"/>
                <a:cs typeface="Times New Roman"/>
                <a:sym typeface="Times New Roman"/>
              </a:rPr>
              <a:t>:</a:t>
            </a:r>
            <a:endParaRPr sz="2000">
              <a:solidFill>
                <a:schemeClr val="dk1"/>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chemeClr val="dk1"/>
              </a:buClr>
              <a:buSzPts val="2000"/>
              <a:buFont typeface="Times New Roman"/>
              <a:buAutoNum type="arabicPeriod"/>
            </a:pPr>
            <a:r>
              <a:rPr lang="en-US" sz="2000">
                <a:solidFill>
                  <a:schemeClr val="dk1"/>
                </a:solidFill>
                <a:latin typeface="Times New Roman"/>
                <a:ea typeface="Times New Roman"/>
                <a:cs typeface="Times New Roman"/>
                <a:sym typeface="Times New Roman"/>
              </a:rPr>
              <a:t>Generate Keys</a:t>
            </a:r>
            <a:endParaRPr sz="2000">
              <a:solidFill>
                <a:schemeClr val="dk1"/>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chemeClr val="dk1"/>
              </a:buClr>
              <a:buSzPts val="2000"/>
              <a:buFont typeface="Times New Roman"/>
              <a:buAutoNum type="arabicPeriod"/>
            </a:pPr>
            <a:r>
              <a:rPr lang="en-US" sz="2000">
                <a:solidFill>
                  <a:schemeClr val="dk1"/>
                </a:solidFill>
                <a:latin typeface="Times New Roman"/>
                <a:ea typeface="Times New Roman"/>
                <a:cs typeface="Times New Roman"/>
                <a:sym typeface="Times New Roman"/>
              </a:rPr>
              <a:t>Encrypting the Image/Video File with AES</a:t>
            </a:r>
            <a:endParaRPr sz="2000">
              <a:solidFill>
                <a:schemeClr val="dk1"/>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chemeClr val="dk1"/>
              </a:buClr>
              <a:buSzPts val="2000"/>
              <a:buFont typeface="Times New Roman"/>
              <a:buAutoNum type="arabicPeriod"/>
            </a:pPr>
            <a:r>
              <a:rPr lang="en-US" sz="2000">
                <a:solidFill>
                  <a:schemeClr val="dk1"/>
                </a:solidFill>
                <a:latin typeface="Times New Roman"/>
                <a:ea typeface="Times New Roman"/>
                <a:cs typeface="Times New Roman"/>
                <a:sym typeface="Times New Roman"/>
              </a:rPr>
              <a:t>E</a:t>
            </a:r>
            <a:r>
              <a:rPr lang="en-US" sz="2000">
                <a:solidFill>
                  <a:schemeClr val="dk1"/>
                </a:solidFill>
                <a:latin typeface="Times New Roman"/>
                <a:ea typeface="Times New Roman"/>
                <a:cs typeface="Times New Roman"/>
                <a:sym typeface="Times New Roman"/>
              </a:rPr>
              <a:t>n</a:t>
            </a:r>
            <a:r>
              <a:rPr lang="en-US" sz="2000">
                <a:solidFill>
                  <a:schemeClr val="dk1"/>
                </a:solidFill>
                <a:latin typeface="Times New Roman"/>
                <a:ea typeface="Times New Roman"/>
                <a:cs typeface="Times New Roman"/>
                <a:sym typeface="Times New Roman"/>
              </a:rPr>
              <a:t>crypting the AES Key with 3DES</a:t>
            </a:r>
            <a:endParaRPr sz="2000">
              <a:solidFill>
                <a:schemeClr val="dk1"/>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chemeClr val="dk1"/>
              </a:buClr>
              <a:buSzPts val="2000"/>
              <a:buFont typeface="Times New Roman"/>
              <a:buAutoNum type="arabicPeriod"/>
            </a:pPr>
            <a:r>
              <a:rPr lang="en-US" sz="2000">
                <a:solidFill>
                  <a:schemeClr val="dk1"/>
                </a:solidFill>
                <a:latin typeface="Times New Roman"/>
                <a:ea typeface="Times New Roman"/>
                <a:cs typeface="Times New Roman"/>
                <a:sym typeface="Times New Roman"/>
              </a:rPr>
              <a:t>Output</a:t>
            </a:r>
            <a:endParaRPr sz="2000">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None/>
            </a:pPr>
            <a:r>
              <a:rPr b="1" lang="en-US" sz="2000">
                <a:solidFill>
                  <a:schemeClr val="dk1"/>
                </a:solidFill>
                <a:latin typeface="Times New Roman"/>
                <a:ea typeface="Times New Roman"/>
                <a:cs typeface="Times New Roman"/>
                <a:sym typeface="Times New Roman"/>
              </a:rPr>
              <a:t>Decryption</a:t>
            </a:r>
            <a:r>
              <a:rPr lang="en-US" sz="2000">
                <a:solidFill>
                  <a:schemeClr val="dk1"/>
                </a:solidFill>
                <a:latin typeface="Times New Roman"/>
                <a:ea typeface="Times New Roman"/>
                <a:cs typeface="Times New Roman"/>
                <a:sym typeface="Times New Roman"/>
              </a:rPr>
              <a:t>:</a:t>
            </a:r>
            <a:endParaRPr sz="2000">
              <a:solidFill>
                <a:schemeClr val="dk1"/>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chemeClr val="dk1"/>
              </a:buClr>
              <a:buSzPts val="2000"/>
              <a:buFont typeface="Times New Roman"/>
              <a:buAutoNum type="arabicPeriod"/>
            </a:pPr>
            <a:r>
              <a:rPr lang="en-US" sz="2000">
                <a:solidFill>
                  <a:schemeClr val="dk1"/>
                </a:solidFill>
                <a:latin typeface="Times New Roman"/>
                <a:ea typeface="Times New Roman"/>
                <a:cs typeface="Times New Roman"/>
                <a:sym typeface="Times New Roman"/>
              </a:rPr>
              <a:t>Retrieve Files</a:t>
            </a:r>
            <a:endParaRPr sz="2000">
              <a:solidFill>
                <a:schemeClr val="dk1"/>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chemeClr val="dk1"/>
              </a:buClr>
              <a:buSzPts val="2000"/>
              <a:buFont typeface="Times New Roman"/>
              <a:buAutoNum type="arabicPeriod"/>
            </a:pPr>
            <a:r>
              <a:rPr lang="en-US" sz="2000">
                <a:solidFill>
                  <a:schemeClr val="dk1"/>
                </a:solidFill>
                <a:latin typeface="Times New Roman"/>
                <a:ea typeface="Times New Roman"/>
                <a:cs typeface="Times New Roman"/>
                <a:sym typeface="Times New Roman"/>
              </a:rPr>
              <a:t>Decrypting the AES Key with 3DES</a:t>
            </a:r>
            <a:endParaRPr sz="2000">
              <a:solidFill>
                <a:schemeClr val="dk1"/>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chemeClr val="dk1"/>
              </a:buClr>
              <a:buSzPts val="2000"/>
              <a:buFont typeface="Times New Roman"/>
              <a:buAutoNum type="arabicPeriod"/>
            </a:pPr>
            <a:r>
              <a:rPr lang="en-US" sz="2000">
                <a:solidFill>
                  <a:schemeClr val="dk1"/>
                </a:solidFill>
                <a:latin typeface="Times New Roman"/>
                <a:ea typeface="Times New Roman"/>
                <a:cs typeface="Times New Roman"/>
                <a:sym typeface="Times New Roman"/>
              </a:rPr>
              <a:t>Decrypting the Image/Video File with AES</a:t>
            </a:r>
            <a:endParaRPr sz="2000">
              <a:solidFill>
                <a:schemeClr val="dk1"/>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chemeClr val="dk1"/>
              </a:buClr>
              <a:buSzPts val="2000"/>
              <a:buFont typeface="Times New Roman"/>
              <a:buAutoNum type="arabicPeriod"/>
            </a:pPr>
            <a:r>
              <a:rPr lang="en-US" sz="2000">
                <a:solidFill>
                  <a:schemeClr val="dk1"/>
                </a:solidFill>
                <a:latin typeface="Times New Roman"/>
                <a:ea typeface="Times New Roman"/>
                <a:cs typeface="Times New Roman"/>
                <a:sym typeface="Times New Roman"/>
              </a:rPr>
              <a:t>Output</a:t>
            </a:r>
            <a:endParaRPr sz="2000">
              <a:solidFill>
                <a:schemeClr val="dk1"/>
              </a:solidFill>
              <a:latin typeface="Times New Roman"/>
              <a:ea typeface="Times New Roman"/>
              <a:cs typeface="Times New Roman"/>
              <a:sym typeface="Times New Roman"/>
            </a:endParaRPr>
          </a:p>
          <a:p>
            <a:pPr indent="0" lvl="0" marL="2286000" marR="0" rtl="0" algn="just">
              <a:lnSpc>
                <a:spcPct val="115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1828800" marR="0" rtl="0" algn="just">
              <a:lnSpc>
                <a:spcPct val="115000"/>
              </a:lnSpc>
              <a:spcBef>
                <a:spcPts val="0"/>
              </a:spcBef>
              <a:spcAft>
                <a:spcPts val="0"/>
              </a:spcAft>
              <a:buNone/>
            </a:pPr>
            <a:r>
              <a:t/>
            </a:r>
            <a:endParaRPr b="1" sz="2000" u="sng">
              <a:solidFill>
                <a:schemeClr val="dk1"/>
              </a:solidFill>
              <a:latin typeface="Times New Roman"/>
              <a:ea typeface="Times New Roman"/>
              <a:cs typeface="Times New Roman"/>
              <a:sym typeface="Times New Roman"/>
            </a:endParaRPr>
          </a:p>
        </p:txBody>
      </p:sp>
      <p:sp>
        <p:nvSpPr>
          <p:cNvPr id="344" name="Google Shape;344;g2bab0ace036_2_24"/>
          <p:cNvSpPr txBox="1"/>
          <p:nvPr/>
        </p:nvSpPr>
        <p:spPr>
          <a:xfrm>
            <a:off x="1243807" y="275475"/>
            <a:ext cx="9785400" cy="1085100"/>
          </a:xfrm>
          <a:prstGeom prst="rect">
            <a:avLst/>
          </a:prstGeom>
          <a:noFill/>
          <a:ln>
            <a:noFill/>
          </a:ln>
        </p:spPr>
        <p:txBody>
          <a:bodyPr anchorCtr="0" anchor="t" bIns="45700" lIns="91425" spcFirstLastPara="1" rIns="91425" wrap="square" tIns="45700">
            <a:spAutoFit/>
          </a:bodyPr>
          <a:lstStyle/>
          <a:p>
            <a:pPr indent="0" lvl="0" marL="0" marR="0" rtl="0" algn="just">
              <a:lnSpc>
                <a:spcPct val="115000"/>
              </a:lnSpc>
              <a:spcBef>
                <a:spcPts val="0"/>
              </a:spcBef>
              <a:spcAft>
                <a:spcPts val="0"/>
              </a:spcAft>
              <a:buClr>
                <a:schemeClr val="dk1"/>
              </a:buClr>
              <a:buSzPts val="1100"/>
              <a:buFont typeface="Arial"/>
              <a:buNone/>
            </a:pPr>
            <a:r>
              <a:rPr b="1" lang="en-US" sz="3000" u="sng">
                <a:solidFill>
                  <a:schemeClr val="dk1"/>
                </a:solidFill>
                <a:latin typeface="Times New Roman"/>
                <a:ea typeface="Times New Roman"/>
                <a:cs typeface="Times New Roman"/>
                <a:sym typeface="Times New Roman"/>
              </a:rPr>
              <a:t>Implementing AES and Triple DES in a hybrid manner</a:t>
            </a:r>
            <a:endParaRPr b="0" i="0" sz="29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2ba9afe18a4_2_115"/>
          <p:cNvSpPr txBox="1"/>
          <p:nvPr>
            <p:ph idx="12" type="sldNum"/>
          </p:nvPr>
        </p:nvSpPr>
        <p:spPr>
          <a:xfrm>
            <a:off x="10858325" y="6356350"/>
            <a:ext cx="495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351" name="Google Shape;351;g2ba9afe18a4_2_115"/>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352" name="Google Shape;352;g2ba9afe18a4_2_115"/>
          <p:cNvSpPr txBox="1"/>
          <p:nvPr/>
        </p:nvSpPr>
        <p:spPr>
          <a:xfrm>
            <a:off x="1305000" y="350375"/>
            <a:ext cx="89868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b="1" i="0" lang="en-US" sz="2400" u="sng" cap="none" strike="noStrike">
                <a:solidFill>
                  <a:srgbClr val="191919"/>
                </a:solidFill>
                <a:latin typeface="Times New Roman"/>
                <a:ea typeface="Times New Roman"/>
                <a:cs typeface="Times New Roman"/>
                <a:sym typeface="Times New Roman"/>
              </a:rPr>
              <a:t>AES - Triple DES Encryption Flowchart</a:t>
            </a:r>
            <a:endParaRPr b="1" i="0" sz="2400" u="sng" cap="none" strike="noStrike">
              <a:solidFill>
                <a:srgbClr val="191919"/>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300"/>
              <a:buFont typeface="Arial"/>
              <a:buNone/>
            </a:pPr>
            <a:r>
              <a:t/>
            </a:r>
            <a:endParaRPr b="1" i="0" sz="2300" u="sng" cap="none" strike="noStrike">
              <a:solidFill>
                <a:srgbClr val="191919"/>
              </a:solidFill>
              <a:latin typeface="Times New Roman"/>
              <a:ea typeface="Times New Roman"/>
              <a:cs typeface="Times New Roman"/>
              <a:sym typeface="Times New Roman"/>
            </a:endParaRPr>
          </a:p>
        </p:txBody>
      </p:sp>
      <p:sp>
        <p:nvSpPr>
          <p:cNvPr id="353" name="Google Shape;353;g2ba9afe18a4_2_11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354" name="Google Shape;354;g2ba9afe18a4_2_115"/>
          <p:cNvSpPr/>
          <p:nvPr/>
        </p:nvSpPr>
        <p:spPr>
          <a:xfrm>
            <a:off x="4456152" y="991500"/>
            <a:ext cx="2938200" cy="434100"/>
          </a:xfrm>
          <a:prstGeom prst="rect">
            <a:avLst/>
          </a:prstGeom>
          <a:solidFill>
            <a:srgbClr val="FFF2CC"/>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Input - Image/Video</a:t>
            </a:r>
            <a:endParaRPr b="1">
              <a:latin typeface="Calibri"/>
              <a:ea typeface="Calibri"/>
              <a:cs typeface="Calibri"/>
              <a:sym typeface="Calibri"/>
            </a:endParaRPr>
          </a:p>
        </p:txBody>
      </p:sp>
      <p:sp>
        <p:nvSpPr>
          <p:cNvPr id="355" name="Google Shape;355;g2ba9afe18a4_2_115"/>
          <p:cNvSpPr/>
          <p:nvPr/>
        </p:nvSpPr>
        <p:spPr>
          <a:xfrm>
            <a:off x="1593925" y="2009918"/>
            <a:ext cx="2938200" cy="4341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dk1"/>
                </a:solidFill>
                <a:latin typeface="Calibri"/>
                <a:ea typeface="Calibri"/>
                <a:cs typeface="Calibri"/>
                <a:sym typeface="Calibri"/>
              </a:rPr>
              <a:t>Key Generation for AES</a:t>
            </a:r>
            <a:endParaRPr b="1">
              <a:latin typeface="Calibri"/>
              <a:ea typeface="Calibri"/>
              <a:cs typeface="Calibri"/>
              <a:sym typeface="Calibri"/>
            </a:endParaRPr>
          </a:p>
        </p:txBody>
      </p:sp>
      <p:sp>
        <p:nvSpPr>
          <p:cNvPr id="356" name="Google Shape;356;g2ba9afe18a4_2_115"/>
          <p:cNvSpPr/>
          <p:nvPr/>
        </p:nvSpPr>
        <p:spPr>
          <a:xfrm>
            <a:off x="7223683" y="2009906"/>
            <a:ext cx="2938200" cy="4341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dk1"/>
                </a:solidFill>
                <a:latin typeface="Calibri"/>
                <a:ea typeface="Calibri"/>
                <a:cs typeface="Calibri"/>
                <a:sym typeface="Calibri"/>
              </a:rPr>
              <a:t>Key Generation </a:t>
            </a:r>
            <a:r>
              <a:rPr b="1" lang="en-US">
                <a:latin typeface="Calibri"/>
                <a:ea typeface="Calibri"/>
                <a:cs typeface="Calibri"/>
                <a:sym typeface="Calibri"/>
              </a:rPr>
              <a:t>for DES</a:t>
            </a:r>
            <a:endParaRPr b="1">
              <a:latin typeface="Calibri"/>
              <a:ea typeface="Calibri"/>
              <a:cs typeface="Calibri"/>
              <a:sym typeface="Calibri"/>
            </a:endParaRPr>
          </a:p>
        </p:txBody>
      </p:sp>
      <p:sp>
        <p:nvSpPr>
          <p:cNvPr id="357" name="Google Shape;357;g2ba9afe18a4_2_115"/>
          <p:cNvSpPr/>
          <p:nvPr/>
        </p:nvSpPr>
        <p:spPr>
          <a:xfrm>
            <a:off x="4217606" y="2894424"/>
            <a:ext cx="3409500" cy="4341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Image/Video Chunking</a:t>
            </a:r>
            <a:endParaRPr b="1">
              <a:latin typeface="Calibri"/>
              <a:ea typeface="Calibri"/>
              <a:cs typeface="Calibri"/>
              <a:sym typeface="Calibri"/>
            </a:endParaRPr>
          </a:p>
        </p:txBody>
      </p:sp>
      <p:sp>
        <p:nvSpPr>
          <p:cNvPr id="358" name="Google Shape;358;g2ba9afe18a4_2_115"/>
          <p:cNvSpPr/>
          <p:nvPr/>
        </p:nvSpPr>
        <p:spPr>
          <a:xfrm>
            <a:off x="4217606" y="3683256"/>
            <a:ext cx="3409500" cy="4341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AES Encryption using AES key</a:t>
            </a:r>
            <a:endParaRPr b="1">
              <a:latin typeface="Calibri"/>
              <a:ea typeface="Calibri"/>
              <a:cs typeface="Calibri"/>
              <a:sym typeface="Calibri"/>
            </a:endParaRPr>
          </a:p>
        </p:txBody>
      </p:sp>
      <p:sp>
        <p:nvSpPr>
          <p:cNvPr id="359" name="Google Shape;359;g2ba9afe18a4_2_115"/>
          <p:cNvSpPr/>
          <p:nvPr/>
        </p:nvSpPr>
        <p:spPr>
          <a:xfrm>
            <a:off x="4217606" y="4626359"/>
            <a:ext cx="3409500" cy="4341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Output AES Chunk</a:t>
            </a:r>
            <a:endParaRPr b="1">
              <a:latin typeface="Calibri"/>
              <a:ea typeface="Calibri"/>
              <a:cs typeface="Calibri"/>
              <a:sym typeface="Calibri"/>
            </a:endParaRPr>
          </a:p>
        </p:txBody>
      </p:sp>
      <p:sp>
        <p:nvSpPr>
          <p:cNvPr id="360" name="Google Shape;360;g2ba9afe18a4_2_115"/>
          <p:cNvSpPr/>
          <p:nvPr/>
        </p:nvSpPr>
        <p:spPr>
          <a:xfrm>
            <a:off x="4217606" y="5340863"/>
            <a:ext cx="3409500" cy="4341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Triple DES Encryption using DES key</a:t>
            </a:r>
            <a:endParaRPr b="1">
              <a:latin typeface="Calibri"/>
              <a:ea typeface="Calibri"/>
              <a:cs typeface="Calibri"/>
              <a:sym typeface="Calibri"/>
            </a:endParaRPr>
          </a:p>
        </p:txBody>
      </p:sp>
      <p:sp>
        <p:nvSpPr>
          <p:cNvPr id="361" name="Google Shape;361;g2ba9afe18a4_2_115"/>
          <p:cNvSpPr/>
          <p:nvPr/>
        </p:nvSpPr>
        <p:spPr>
          <a:xfrm>
            <a:off x="4217606" y="6287275"/>
            <a:ext cx="3409500" cy="4341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Output - Encrypted Image/Video</a:t>
            </a:r>
            <a:endParaRPr b="1">
              <a:latin typeface="Calibri"/>
              <a:ea typeface="Calibri"/>
              <a:cs typeface="Calibri"/>
              <a:sym typeface="Calibri"/>
            </a:endParaRPr>
          </a:p>
        </p:txBody>
      </p:sp>
      <p:cxnSp>
        <p:nvCxnSpPr>
          <p:cNvPr id="362" name="Google Shape;362;g2ba9afe18a4_2_115"/>
          <p:cNvCxnSpPr>
            <a:stCxn id="354" idx="2"/>
            <a:endCxn id="355" idx="0"/>
          </p:cNvCxnSpPr>
          <p:nvPr/>
        </p:nvCxnSpPr>
        <p:spPr>
          <a:xfrm flipH="1">
            <a:off x="3062952" y="1425600"/>
            <a:ext cx="2862300" cy="584400"/>
          </a:xfrm>
          <a:prstGeom prst="straightConnector1">
            <a:avLst/>
          </a:prstGeom>
          <a:noFill/>
          <a:ln cap="flat" cmpd="sng" w="9525">
            <a:solidFill>
              <a:schemeClr val="dk2"/>
            </a:solidFill>
            <a:prstDash val="solid"/>
            <a:round/>
            <a:headEnd len="med" w="med" type="none"/>
            <a:tailEnd len="med" w="med" type="triangle"/>
          </a:ln>
        </p:spPr>
      </p:cxnSp>
      <p:cxnSp>
        <p:nvCxnSpPr>
          <p:cNvPr id="363" name="Google Shape;363;g2ba9afe18a4_2_115"/>
          <p:cNvCxnSpPr>
            <a:stCxn id="354" idx="2"/>
            <a:endCxn id="356" idx="0"/>
          </p:cNvCxnSpPr>
          <p:nvPr/>
        </p:nvCxnSpPr>
        <p:spPr>
          <a:xfrm>
            <a:off x="5925252" y="1425600"/>
            <a:ext cx="2767500" cy="584400"/>
          </a:xfrm>
          <a:prstGeom prst="straightConnector1">
            <a:avLst/>
          </a:prstGeom>
          <a:noFill/>
          <a:ln cap="flat" cmpd="sng" w="9525">
            <a:solidFill>
              <a:schemeClr val="dk2"/>
            </a:solidFill>
            <a:prstDash val="solid"/>
            <a:round/>
            <a:headEnd len="med" w="med" type="none"/>
            <a:tailEnd len="med" w="med" type="triangle"/>
          </a:ln>
        </p:spPr>
      </p:cxnSp>
      <p:cxnSp>
        <p:nvCxnSpPr>
          <p:cNvPr id="364" name="Google Shape;364;g2ba9afe18a4_2_115"/>
          <p:cNvCxnSpPr>
            <a:stCxn id="357" idx="2"/>
            <a:endCxn id="358" idx="0"/>
          </p:cNvCxnSpPr>
          <p:nvPr/>
        </p:nvCxnSpPr>
        <p:spPr>
          <a:xfrm>
            <a:off x="5922356" y="3328524"/>
            <a:ext cx="0" cy="354600"/>
          </a:xfrm>
          <a:prstGeom prst="straightConnector1">
            <a:avLst/>
          </a:prstGeom>
          <a:noFill/>
          <a:ln cap="flat" cmpd="sng" w="9525">
            <a:solidFill>
              <a:schemeClr val="dk2"/>
            </a:solidFill>
            <a:prstDash val="solid"/>
            <a:round/>
            <a:headEnd len="med" w="med" type="none"/>
            <a:tailEnd len="med" w="med" type="triangle"/>
          </a:ln>
        </p:spPr>
      </p:cxnSp>
      <p:cxnSp>
        <p:nvCxnSpPr>
          <p:cNvPr id="365" name="Google Shape;365;g2ba9afe18a4_2_115"/>
          <p:cNvCxnSpPr>
            <a:stCxn id="358" idx="2"/>
            <a:endCxn id="359" idx="0"/>
          </p:cNvCxnSpPr>
          <p:nvPr/>
        </p:nvCxnSpPr>
        <p:spPr>
          <a:xfrm>
            <a:off x="5922356" y="4117356"/>
            <a:ext cx="0" cy="509100"/>
          </a:xfrm>
          <a:prstGeom prst="straightConnector1">
            <a:avLst/>
          </a:prstGeom>
          <a:noFill/>
          <a:ln cap="flat" cmpd="sng" w="9525">
            <a:solidFill>
              <a:schemeClr val="dk2"/>
            </a:solidFill>
            <a:prstDash val="solid"/>
            <a:round/>
            <a:headEnd len="med" w="med" type="none"/>
            <a:tailEnd len="med" w="med" type="triangle"/>
          </a:ln>
        </p:spPr>
      </p:cxnSp>
      <p:cxnSp>
        <p:nvCxnSpPr>
          <p:cNvPr id="366" name="Google Shape;366;g2ba9afe18a4_2_115"/>
          <p:cNvCxnSpPr>
            <a:stCxn id="359" idx="2"/>
            <a:endCxn id="360" idx="0"/>
          </p:cNvCxnSpPr>
          <p:nvPr/>
        </p:nvCxnSpPr>
        <p:spPr>
          <a:xfrm>
            <a:off x="5922356" y="5060459"/>
            <a:ext cx="0" cy="280500"/>
          </a:xfrm>
          <a:prstGeom prst="straightConnector1">
            <a:avLst/>
          </a:prstGeom>
          <a:noFill/>
          <a:ln cap="flat" cmpd="sng" w="9525">
            <a:solidFill>
              <a:schemeClr val="dk2"/>
            </a:solidFill>
            <a:prstDash val="solid"/>
            <a:round/>
            <a:headEnd len="med" w="med" type="none"/>
            <a:tailEnd len="med" w="med" type="triangle"/>
          </a:ln>
        </p:spPr>
      </p:cxnSp>
      <p:cxnSp>
        <p:nvCxnSpPr>
          <p:cNvPr id="367" name="Google Shape;367;g2ba9afe18a4_2_115"/>
          <p:cNvCxnSpPr>
            <a:stCxn id="360" idx="2"/>
            <a:endCxn id="361" idx="0"/>
          </p:cNvCxnSpPr>
          <p:nvPr/>
        </p:nvCxnSpPr>
        <p:spPr>
          <a:xfrm>
            <a:off x="5922356" y="5774963"/>
            <a:ext cx="0" cy="512400"/>
          </a:xfrm>
          <a:prstGeom prst="straightConnector1">
            <a:avLst/>
          </a:prstGeom>
          <a:noFill/>
          <a:ln cap="flat" cmpd="sng" w="9525">
            <a:solidFill>
              <a:schemeClr val="dk2"/>
            </a:solidFill>
            <a:prstDash val="solid"/>
            <a:round/>
            <a:headEnd len="med" w="med" type="none"/>
            <a:tailEnd len="med" w="med" type="triangle"/>
          </a:ln>
        </p:spPr>
      </p:cxnSp>
      <p:sp>
        <p:nvSpPr>
          <p:cNvPr id="368" name="Google Shape;368;g2ba9afe18a4_2_115"/>
          <p:cNvSpPr txBox="1"/>
          <p:nvPr/>
        </p:nvSpPr>
        <p:spPr>
          <a:xfrm>
            <a:off x="6614070" y="3258950"/>
            <a:ext cx="15510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Calibri"/>
                <a:ea typeface="Calibri"/>
                <a:cs typeface="Calibri"/>
                <a:sym typeface="Calibri"/>
              </a:rPr>
              <a:t>{smaller parts}</a:t>
            </a:r>
            <a:endParaRPr sz="1600">
              <a:solidFill>
                <a:schemeClr val="dk1"/>
              </a:solidFill>
              <a:latin typeface="Calibri"/>
              <a:ea typeface="Calibri"/>
              <a:cs typeface="Calibri"/>
              <a:sym typeface="Calibri"/>
            </a:endParaRPr>
          </a:p>
        </p:txBody>
      </p:sp>
      <p:sp>
        <p:nvSpPr>
          <p:cNvPr id="369" name="Google Shape;369;g2ba9afe18a4_2_115"/>
          <p:cNvSpPr txBox="1"/>
          <p:nvPr/>
        </p:nvSpPr>
        <p:spPr>
          <a:xfrm>
            <a:off x="4703502" y="2086113"/>
            <a:ext cx="22911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Calibri"/>
                <a:ea typeface="Calibri"/>
                <a:cs typeface="Calibri"/>
                <a:sym typeface="Calibri"/>
              </a:rPr>
              <a:t>{securely generated keys}</a:t>
            </a:r>
            <a:endParaRPr sz="1600">
              <a:solidFill>
                <a:schemeClr val="dk1"/>
              </a:solidFill>
              <a:latin typeface="Calibri"/>
              <a:ea typeface="Calibri"/>
              <a:cs typeface="Calibri"/>
              <a:sym typeface="Calibri"/>
            </a:endParaRPr>
          </a:p>
        </p:txBody>
      </p:sp>
      <p:sp>
        <p:nvSpPr>
          <p:cNvPr id="370" name="Google Shape;370;g2ba9afe18a4_2_115"/>
          <p:cNvSpPr txBox="1"/>
          <p:nvPr/>
        </p:nvSpPr>
        <p:spPr>
          <a:xfrm>
            <a:off x="7778814" y="6229689"/>
            <a:ext cx="30795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Calibri"/>
                <a:ea typeface="Calibri"/>
                <a:cs typeface="Calibri"/>
                <a:sym typeface="Calibri"/>
              </a:rPr>
              <a:t>{output Triple DES chunks}</a:t>
            </a:r>
            <a:endParaRPr sz="1600">
              <a:solidFill>
                <a:schemeClr val="dk1"/>
              </a:solidFill>
              <a:latin typeface="Calibri"/>
              <a:ea typeface="Calibri"/>
              <a:cs typeface="Calibri"/>
              <a:sym typeface="Calibri"/>
            </a:endParaRPr>
          </a:p>
        </p:txBody>
      </p:sp>
      <p:sp>
        <p:nvSpPr>
          <p:cNvPr id="371" name="Google Shape;371;g2ba9afe18a4_2_115"/>
          <p:cNvSpPr txBox="1"/>
          <p:nvPr/>
        </p:nvSpPr>
        <p:spPr>
          <a:xfrm>
            <a:off x="6250339" y="5814077"/>
            <a:ext cx="30795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Calibri"/>
                <a:ea typeface="Calibri"/>
                <a:cs typeface="Calibri"/>
                <a:sym typeface="Calibri"/>
              </a:rPr>
              <a:t>{Triple DES algorithm}</a:t>
            </a:r>
            <a:endParaRPr sz="1600">
              <a:solidFill>
                <a:schemeClr val="dk1"/>
              </a:solidFill>
              <a:latin typeface="Calibri"/>
              <a:ea typeface="Calibri"/>
              <a:cs typeface="Calibri"/>
              <a:sym typeface="Calibri"/>
            </a:endParaRPr>
          </a:p>
        </p:txBody>
      </p:sp>
      <p:sp>
        <p:nvSpPr>
          <p:cNvPr id="372" name="Google Shape;372;g2ba9afe18a4_2_115"/>
          <p:cNvSpPr txBox="1"/>
          <p:nvPr/>
        </p:nvSpPr>
        <p:spPr>
          <a:xfrm>
            <a:off x="6250339" y="4154802"/>
            <a:ext cx="30795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Calibri"/>
                <a:ea typeface="Calibri"/>
                <a:cs typeface="Calibri"/>
                <a:sym typeface="Calibri"/>
              </a:rPr>
              <a:t>{AES algorithm}</a:t>
            </a:r>
            <a:endParaRPr sz="1600">
              <a:solidFill>
                <a:schemeClr val="dk1"/>
              </a:solidFill>
              <a:latin typeface="Calibri"/>
              <a:ea typeface="Calibri"/>
              <a:cs typeface="Calibri"/>
              <a:sym typeface="Calibri"/>
            </a:endParaRPr>
          </a:p>
        </p:txBody>
      </p:sp>
      <p:cxnSp>
        <p:nvCxnSpPr>
          <p:cNvPr id="373" name="Google Shape;373;g2ba9afe18a4_2_115"/>
          <p:cNvCxnSpPr>
            <a:stCxn id="355" idx="2"/>
            <a:endCxn id="357" idx="1"/>
          </p:cNvCxnSpPr>
          <p:nvPr/>
        </p:nvCxnSpPr>
        <p:spPr>
          <a:xfrm>
            <a:off x="3063025" y="2444018"/>
            <a:ext cx="1154700" cy="667500"/>
          </a:xfrm>
          <a:prstGeom prst="straightConnector1">
            <a:avLst/>
          </a:prstGeom>
          <a:noFill/>
          <a:ln cap="flat" cmpd="sng" w="9525">
            <a:solidFill>
              <a:schemeClr val="dk2"/>
            </a:solidFill>
            <a:prstDash val="solid"/>
            <a:round/>
            <a:headEnd len="med" w="med" type="none"/>
            <a:tailEnd len="med" w="med" type="triangle"/>
          </a:ln>
        </p:spPr>
      </p:cxnSp>
      <p:cxnSp>
        <p:nvCxnSpPr>
          <p:cNvPr id="374" name="Google Shape;374;g2ba9afe18a4_2_115"/>
          <p:cNvCxnSpPr>
            <a:stCxn id="356" idx="2"/>
            <a:endCxn id="360" idx="3"/>
          </p:cNvCxnSpPr>
          <p:nvPr/>
        </p:nvCxnSpPr>
        <p:spPr>
          <a:xfrm flipH="1">
            <a:off x="7627183" y="2444006"/>
            <a:ext cx="1065600" cy="3114000"/>
          </a:xfrm>
          <a:prstGeom prst="straightConnector1">
            <a:avLst/>
          </a:prstGeom>
          <a:noFill/>
          <a:ln cap="flat" cmpd="sng" w="9525">
            <a:solidFill>
              <a:schemeClr val="dk2"/>
            </a:solidFill>
            <a:prstDash val="solid"/>
            <a:round/>
            <a:headEnd len="med" w="med" type="none"/>
            <a:tailEnd len="med" w="med" type="triangle"/>
          </a:ln>
        </p:spPr>
      </p:cxnSp>
      <p:sp>
        <p:nvSpPr>
          <p:cNvPr id="375" name="Google Shape;375;g2ba9afe18a4_2_115"/>
          <p:cNvSpPr txBox="1"/>
          <p:nvPr/>
        </p:nvSpPr>
        <p:spPr>
          <a:xfrm>
            <a:off x="-225125" y="5229663"/>
            <a:ext cx="4114800" cy="1200600"/>
          </a:xfrm>
          <a:prstGeom prst="rect">
            <a:avLst/>
          </a:prstGeom>
          <a:noFill/>
          <a:ln>
            <a:noFill/>
          </a:ln>
        </p:spPr>
        <p:txBody>
          <a:bodyPr anchorCtr="0" anchor="t" bIns="91425" lIns="91425" spcFirstLastPara="1" rIns="91425" wrap="square" tIns="91425">
            <a:spAutoFit/>
          </a:bodyPr>
          <a:lstStyle/>
          <a:p>
            <a:pPr indent="0" lvl="0" marL="457200" marR="0" rtl="0" algn="ctr">
              <a:lnSpc>
                <a:spcPct val="115000"/>
              </a:lnSpc>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Fig. 5.2: Hybrid implementation of AES &amp; Triple DES</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pic>
        <p:nvPicPr>
          <p:cNvPr id="381" name="Google Shape;381;g2c9eccfda70_0_100"/>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382" name="Google Shape;382;g2c9eccfda70_0_10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383" name="Google Shape;383;g2c9eccfda70_0_100"/>
          <p:cNvSpPr txBox="1"/>
          <p:nvPr/>
        </p:nvSpPr>
        <p:spPr>
          <a:xfrm>
            <a:off x="1305000" y="350375"/>
            <a:ext cx="102078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lang="en-US" sz="3000" u="sng">
                <a:solidFill>
                  <a:srgbClr val="191919"/>
                </a:solidFill>
                <a:latin typeface="Times New Roman"/>
                <a:ea typeface="Times New Roman"/>
                <a:cs typeface="Times New Roman"/>
                <a:sym typeface="Times New Roman"/>
              </a:rPr>
              <a:t>AES and Triple DES Hybrid for the Encryption of Images</a:t>
            </a:r>
            <a:endParaRPr b="1" i="0" sz="2300" u="sng" cap="none" strike="noStrike">
              <a:solidFill>
                <a:srgbClr val="191919"/>
              </a:solidFill>
              <a:latin typeface="Times New Roman"/>
              <a:ea typeface="Times New Roman"/>
              <a:cs typeface="Times New Roman"/>
              <a:sym typeface="Times New Roman"/>
            </a:endParaRPr>
          </a:p>
        </p:txBody>
      </p:sp>
      <p:graphicFrame>
        <p:nvGraphicFramePr>
          <p:cNvPr id="384" name="Google Shape;384;g2c9eccfda70_0_100"/>
          <p:cNvGraphicFramePr/>
          <p:nvPr/>
        </p:nvGraphicFramePr>
        <p:xfrm>
          <a:off x="4886138" y="1365350"/>
          <a:ext cx="3000000" cy="3000000"/>
        </p:xfrm>
        <a:graphic>
          <a:graphicData uri="http://schemas.openxmlformats.org/drawingml/2006/table">
            <a:tbl>
              <a:tblPr>
                <a:noFill/>
                <a:tableStyleId>{AF38B7D9-180C-4F1C-AD40-861807BBC445}</a:tableStyleId>
              </a:tblPr>
              <a:tblGrid>
                <a:gridCol w="3504500"/>
                <a:gridCol w="3427125"/>
              </a:tblGrid>
              <a:tr h="397025">
                <a:tc>
                  <a:txBody>
                    <a:bodyPr/>
                    <a:lstStyle/>
                    <a:p>
                      <a:pPr indent="0" lvl="0" marL="0" rtl="0" algn="l">
                        <a:spcBef>
                          <a:spcPts val="0"/>
                        </a:spcBef>
                        <a:spcAft>
                          <a:spcPts val="0"/>
                        </a:spcAft>
                        <a:buNone/>
                      </a:pPr>
                      <a:r>
                        <a:rPr b="1" lang="en-US" sz="1600">
                          <a:latin typeface="Times New Roman"/>
                          <a:ea typeface="Times New Roman"/>
                          <a:cs typeface="Times New Roman"/>
                          <a:sym typeface="Times New Roman"/>
                        </a:rPr>
                        <a:t>Lines of Code (LOC)</a:t>
                      </a:r>
                      <a:endParaRPr b="1" sz="16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600">
                          <a:latin typeface="Times New Roman"/>
                          <a:ea typeface="Times New Roman"/>
                          <a:cs typeface="Times New Roman"/>
                          <a:sym typeface="Times New Roman"/>
                        </a:rPr>
                        <a:t> 74 lines</a:t>
                      </a:r>
                      <a:endParaRPr sz="1600">
                        <a:latin typeface="Times New Roman"/>
                        <a:ea typeface="Times New Roman"/>
                        <a:cs typeface="Times New Roman"/>
                        <a:sym typeface="Times New Roman"/>
                      </a:endParaRPr>
                    </a:p>
                  </a:txBody>
                  <a:tcPr marT="63500" marB="63500" marR="63500" marL="63500"/>
                </a:tc>
              </a:tr>
              <a:tr h="433850">
                <a:tc gridSpan="2">
                  <a:txBody>
                    <a:bodyPr/>
                    <a:lstStyle/>
                    <a:p>
                      <a:pPr indent="0" lvl="0" marL="0" rtl="0" algn="ctr">
                        <a:lnSpc>
                          <a:spcPct val="115000"/>
                        </a:lnSpc>
                        <a:spcBef>
                          <a:spcPts val="0"/>
                        </a:spcBef>
                        <a:spcAft>
                          <a:spcPts val="0"/>
                        </a:spcAft>
                        <a:buNone/>
                      </a:pPr>
                      <a:r>
                        <a:rPr b="1" lang="en-US" sz="1600">
                          <a:latin typeface="Times New Roman"/>
                          <a:ea typeface="Times New Roman"/>
                          <a:cs typeface="Times New Roman"/>
                          <a:sym typeface="Times New Roman"/>
                        </a:rPr>
                        <a:t>Time Complexity</a:t>
                      </a:r>
                      <a:endParaRPr b="1" sz="1600">
                        <a:latin typeface="Times New Roman"/>
                        <a:ea typeface="Times New Roman"/>
                        <a:cs typeface="Times New Roman"/>
                        <a:sym typeface="Times New Roman"/>
                      </a:endParaRPr>
                    </a:p>
                  </a:txBody>
                  <a:tcPr marT="63500" marB="63500" marR="63500" marL="63500"/>
                </a:tc>
                <a:tc hMerge="1"/>
              </a:tr>
              <a:tr h="397025">
                <a:tc>
                  <a:txBody>
                    <a:bodyPr/>
                    <a:lstStyle/>
                    <a:p>
                      <a:pPr indent="0" lvl="0" marL="0" rtl="0" algn="l">
                        <a:spcBef>
                          <a:spcPts val="0"/>
                        </a:spcBef>
                        <a:spcAft>
                          <a:spcPts val="0"/>
                        </a:spcAft>
                        <a:buNone/>
                      </a:pPr>
                      <a:r>
                        <a:rPr b="1" lang="en-US" sz="1600">
                          <a:latin typeface="Times New Roman"/>
                          <a:ea typeface="Times New Roman"/>
                          <a:cs typeface="Times New Roman"/>
                          <a:sym typeface="Times New Roman"/>
                        </a:rPr>
                        <a:t>Key Pair Generation (TDES)</a:t>
                      </a:r>
                      <a:endParaRPr b="1" sz="16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600">
                          <a:latin typeface="Times New Roman"/>
                          <a:ea typeface="Times New Roman"/>
                          <a:cs typeface="Times New Roman"/>
                          <a:sym typeface="Times New Roman"/>
                        </a:rPr>
                        <a:t>O(1) </a:t>
                      </a:r>
                      <a:endParaRPr sz="1600">
                        <a:latin typeface="Times New Roman"/>
                        <a:ea typeface="Times New Roman"/>
                        <a:cs typeface="Times New Roman"/>
                        <a:sym typeface="Times New Roman"/>
                      </a:endParaRPr>
                    </a:p>
                  </a:txBody>
                  <a:tcPr marT="63500" marB="63500" marR="63500" marL="63500"/>
                </a:tc>
              </a:tr>
              <a:tr h="397025">
                <a:tc>
                  <a:txBody>
                    <a:bodyPr/>
                    <a:lstStyle/>
                    <a:p>
                      <a:pPr indent="0" lvl="0" marL="0" rtl="0" algn="l">
                        <a:spcBef>
                          <a:spcPts val="0"/>
                        </a:spcBef>
                        <a:spcAft>
                          <a:spcPts val="0"/>
                        </a:spcAft>
                        <a:buNone/>
                      </a:pPr>
                      <a:r>
                        <a:rPr b="1" lang="en-US" sz="1600">
                          <a:latin typeface="Times New Roman"/>
                          <a:ea typeface="Times New Roman"/>
                          <a:cs typeface="Times New Roman"/>
                          <a:sym typeface="Times New Roman"/>
                        </a:rPr>
                        <a:t>AES Key Generation</a:t>
                      </a:r>
                      <a:endParaRPr b="1" sz="16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600">
                          <a:latin typeface="Times New Roman"/>
                          <a:ea typeface="Times New Roman"/>
                          <a:cs typeface="Times New Roman"/>
                          <a:sym typeface="Times New Roman"/>
                        </a:rPr>
                        <a:t>O(1) </a:t>
                      </a:r>
                      <a:endParaRPr sz="1600">
                        <a:latin typeface="Times New Roman"/>
                        <a:ea typeface="Times New Roman"/>
                        <a:cs typeface="Times New Roman"/>
                        <a:sym typeface="Times New Roman"/>
                      </a:endParaRPr>
                    </a:p>
                  </a:txBody>
                  <a:tcPr marT="63500" marB="63500" marR="63500" marL="63500"/>
                </a:tc>
              </a:tr>
              <a:tr h="397025">
                <a:tc>
                  <a:txBody>
                    <a:bodyPr/>
                    <a:lstStyle/>
                    <a:p>
                      <a:pPr indent="0" lvl="0" marL="0" rtl="0" algn="l">
                        <a:spcBef>
                          <a:spcPts val="0"/>
                        </a:spcBef>
                        <a:spcAft>
                          <a:spcPts val="0"/>
                        </a:spcAft>
                        <a:buNone/>
                      </a:pPr>
                      <a:r>
                        <a:rPr b="1" lang="en-US" sz="1600">
                          <a:latin typeface="Times New Roman"/>
                          <a:ea typeface="Times New Roman"/>
                          <a:cs typeface="Times New Roman"/>
                          <a:sym typeface="Times New Roman"/>
                        </a:rPr>
                        <a:t>Image Encryption (AES)</a:t>
                      </a:r>
                      <a:endParaRPr b="1" sz="16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600">
                          <a:latin typeface="Times New Roman"/>
                          <a:ea typeface="Times New Roman"/>
                          <a:cs typeface="Times New Roman"/>
                          <a:sym typeface="Times New Roman"/>
                        </a:rPr>
                        <a:t>O(m)</a:t>
                      </a:r>
                      <a:endParaRPr sz="1600">
                        <a:latin typeface="Times New Roman"/>
                        <a:ea typeface="Times New Roman"/>
                        <a:cs typeface="Times New Roman"/>
                        <a:sym typeface="Times New Roman"/>
                      </a:endParaRPr>
                    </a:p>
                  </a:txBody>
                  <a:tcPr marT="63500" marB="63500" marR="63500" marL="63500"/>
                </a:tc>
              </a:tr>
              <a:tr h="397025">
                <a:tc>
                  <a:txBody>
                    <a:bodyPr/>
                    <a:lstStyle/>
                    <a:p>
                      <a:pPr indent="0" lvl="0" marL="0" rtl="0" algn="l">
                        <a:spcBef>
                          <a:spcPts val="0"/>
                        </a:spcBef>
                        <a:spcAft>
                          <a:spcPts val="0"/>
                        </a:spcAft>
                        <a:buNone/>
                      </a:pPr>
                      <a:r>
                        <a:rPr b="1" lang="en-US" sz="1600">
                          <a:latin typeface="Times New Roman"/>
                          <a:ea typeface="Times New Roman"/>
                          <a:cs typeface="Times New Roman"/>
                          <a:sym typeface="Times New Roman"/>
                        </a:rPr>
                        <a:t>Image Decryption (AES)</a:t>
                      </a:r>
                      <a:endParaRPr b="1" sz="16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600">
                          <a:latin typeface="Times New Roman"/>
                          <a:ea typeface="Times New Roman"/>
                          <a:cs typeface="Times New Roman"/>
                          <a:sym typeface="Times New Roman"/>
                        </a:rPr>
                        <a:t>O(m)</a:t>
                      </a:r>
                      <a:endParaRPr sz="1600">
                        <a:latin typeface="Times New Roman"/>
                        <a:ea typeface="Times New Roman"/>
                        <a:cs typeface="Times New Roman"/>
                        <a:sym typeface="Times New Roman"/>
                      </a:endParaRPr>
                    </a:p>
                  </a:txBody>
                  <a:tcPr marT="63500" marB="63500" marR="63500" marL="63500"/>
                </a:tc>
              </a:tr>
              <a:tr h="433850">
                <a:tc gridSpan="2">
                  <a:txBody>
                    <a:bodyPr/>
                    <a:lstStyle/>
                    <a:p>
                      <a:pPr indent="0" lvl="0" marL="0" rtl="0" algn="ctr">
                        <a:lnSpc>
                          <a:spcPct val="115000"/>
                        </a:lnSpc>
                        <a:spcBef>
                          <a:spcPts val="0"/>
                        </a:spcBef>
                        <a:spcAft>
                          <a:spcPts val="0"/>
                        </a:spcAft>
                        <a:buNone/>
                      </a:pPr>
                      <a:r>
                        <a:rPr b="1" lang="en-US" sz="1600">
                          <a:latin typeface="Times New Roman"/>
                          <a:ea typeface="Times New Roman"/>
                          <a:cs typeface="Times New Roman"/>
                          <a:sym typeface="Times New Roman"/>
                        </a:rPr>
                        <a:t>Space Complexity</a:t>
                      </a:r>
                      <a:endParaRPr b="1" sz="1600">
                        <a:latin typeface="Times New Roman"/>
                        <a:ea typeface="Times New Roman"/>
                        <a:cs typeface="Times New Roman"/>
                        <a:sym typeface="Times New Roman"/>
                      </a:endParaRPr>
                    </a:p>
                  </a:txBody>
                  <a:tcPr marT="63500" marB="63500" marR="63500" marL="63500"/>
                </a:tc>
                <a:tc hMerge="1"/>
              </a:tr>
              <a:tr h="397025">
                <a:tc>
                  <a:txBody>
                    <a:bodyPr/>
                    <a:lstStyle/>
                    <a:p>
                      <a:pPr indent="0" lvl="0" marL="0" rtl="0" algn="l">
                        <a:spcBef>
                          <a:spcPts val="0"/>
                        </a:spcBef>
                        <a:spcAft>
                          <a:spcPts val="0"/>
                        </a:spcAft>
                        <a:buNone/>
                      </a:pPr>
                      <a:r>
                        <a:rPr b="1" lang="en-US" sz="1600">
                          <a:latin typeface="Times New Roman"/>
                          <a:ea typeface="Times New Roman"/>
                          <a:cs typeface="Times New Roman"/>
                          <a:sym typeface="Times New Roman"/>
                        </a:rPr>
                        <a:t>Key Pair Generation (TDES)</a:t>
                      </a:r>
                      <a:endParaRPr b="1" sz="16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600">
                          <a:latin typeface="Times New Roman"/>
                          <a:ea typeface="Times New Roman"/>
                          <a:cs typeface="Times New Roman"/>
                          <a:sym typeface="Times New Roman"/>
                        </a:rPr>
                        <a:t>O(1)</a:t>
                      </a:r>
                      <a:endParaRPr sz="1600">
                        <a:latin typeface="Times New Roman"/>
                        <a:ea typeface="Times New Roman"/>
                        <a:cs typeface="Times New Roman"/>
                        <a:sym typeface="Times New Roman"/>
                      </a:endParaRPr>
                    </a:p>
                  </a:txBody>
                  <a:tcPr marT="63500" marB="63500" marR="63500" marL="63500"/>
                </a:tc>
              </a:tr>
              <a:tr h="397025">
                <a:tc>
                  <a:txBody>
                    <a:bodyPr/>
                    <a:lstStyle/>
                    <a:p>
                      <a:pPr indent="0" lvl="0" marL="0" rtl="0" algn="l">
                        <a:spcBef>
                          <a:spcPts val="0"/>
                        </a:spcBef>
                        <a:spcAft>
                          <a:spcPts val="0"/>
                        </a:spcAft>
                        <a:buNone/>
                      </a:pPr>
                      <a:r>
                        <a:rPr b="1" lang="en-US" sz="1600">
                          <a:latin typeface="Times New Roman"/>
                          <a:ea typeface="Times New Roman"/>
                          <a:cs typeface="Times New Roman"/>
                          <a:sym typeface="Times New Roman"/>
                        </a:rPr>
                        <a:t>AES Key Generation</a:t>
                      </a:r>
                      <a:endParaRPr b="1" sz="16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600">
                          <a:latin typeface="Times New Roman"/>
                          <a:ea typeface="Times New Roman"/>
                          <a:cs typeface="Times New Roman"/>
                          <a:sym typeface="Times New Roman"/>
                        </a:rPr>
                        <a:t>O(1) </a:t>
                      </a:r>
                      <a:endParaRPr sz="1600">
                        <a:latin typeface="Times New Roman"/>
                        <a:ea typeface="Times New Roman"/>
                        <a:cs typeface="Times New Roman"/>
                        <a:sym typeface="Times New Roman"/>
                      </a:endParaRPr>
                    </a:p>
                  </a:txBody>
                  <a:tcPr marT="63500" marB="63500" marR="63500" marL="63500"/>
                </a:tc>
              </a:tr>
              <a:tr h="397025">
                <a:tc>
                  <a:txBody>
                    <a:bodyPr/>
                    <a:lstStyle/>
                    <a:p>
                      <a:pPr indent="0" lvl="0" marL="0" rtl="0" algn="l">
                        <a:spcBef>
                          <a:spcPts val="0"/>
                        </a:spcBef>
                        <a:spcAft>
                          <a:spcPts val="0"/>
                        </a:spcAft>
                        <a:buNone/>
                      </a:pPr>
                      <a:r>
                        <a:rPr b="1" lang="en-US" sz="1600">
                          <a:latin typeface="Times New Roman"/>
                          <a:ea typeface="Times New Roman"/>
                          <a:cs typeface="Times New Roman"/>
                          <a:sym typeface="Times New Roman"/>
                        </a:rPr>
                        <a:t>Image Encryption (AES)</a:t>
                      </a:r>
                      <a:endParaRPr b="1" sz="16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600">
                          <a:latin typeface="Times New Roman"/>
                          <a:ea typeface="Times New Roman"/>
                          <a:cs typeface="Times New Roman"/>
                          <a:sym typeface="Times New Roman"/>
                        </a:rPr>
                        <a:t>O(m)</a:t>
                      </a:r>
                      <a:endParaRPr sz="1600">
                        <a:latin typeface="Times New Roman"/>
                        <a:ea typeface="Times New Roman"/>
                        <a:cs typeface="Times New Roman"/>
                        <a:sym typeface="Times New Roman"/>
                      </a:endParaRPr>
                    </a:p>
                  </a:txBody>
                  <a:tcPr marT="63500" marB="63500" marR="63500" marL="63500"/>
                </a:tc>
              </a:tr>
              <a:tr h="397025">
                <a:tc>
                  <a:txBody>
                    <a:bodyPr/>
                    <a:lstStyle/>
                    <a:p>
                      <a:pPr indent="0" lvl="0" marL="0" rtl="0" algn="l">
                        <a:spcBef>
                          <a:spcPts val="0"/>
                        </a:spcBef>
                        <a:spcAft>
                          <a:spcPts val="0"/>
                        </a:spcAft>
                        <a:buNone/>
                      </a:pPr>
                      <a:r>
                        <a:rPr b="1" lang="en-US" sz="1600">
                          <a:latin typeface="Times New Roman"/>
                          <a:ea typeface="Times New Roman"/>
                          <a:cs typeface="Times New Roman"/>
                          <a:sym typeface="Times New Roman"/>
                        </a:rPr>
                        <a:t>Image Decryption (AES)</a:t>
                      </a:r>
                      <a:endParaRPr b="1" sz="16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600">
                          <a:latin typeface="Times New Roman"/>
                          <a:ea typeface="Times New Roman"/>
                          <a:cs typeface="Times New Roman"/>
                          <a:sym typeface="Times New Roman"/>
                        </a:rPr>
                        <a:t>O(m)</a:t>
                      </a:r>
                      <a:endParaRPr sz="1600">
                        <a:latin typeface="Times New Roman"/>
                        <a:ea typeface="Times New Roman"/>
                        <a:cs typeface="Times New Roman"/>
                        <a:sym typeface="Times New Roman"/>
                      </a:endParaRPr>
                    </a:p>
                  </a:txBody>
                  <a:tcPr marT="63500" marB="63500" marR="63500" marL="63500"/>
                </a:tc>
              </a:tr>
            </a:tbl>
          </a:graphicData>
        </a:graphic>
      </p:graphicFrame>
      <p:graphicFrame>
        <p:nvGraphicFramePr>
          <p:cNvPr id="385" name="Google Shape;385;g2c9eccfda70_0_100"/>
          <p:cNvGraphicFramePr/>
          <p:nvPr/>
        </p:nvGraphicFramePr>
        <p:xfrm>
          <a:off x="921675" y="2990275"/>
          <a:ext cx="3000000" cy="3000000"/>
        </p:xfrm>
        <a:graphic>
          <a:graphicData uri="http://schemas.openxmlformats.org/drawingml/2006/table">
            <a:tbl>
              <a:tblPr>
                <a:noFill/>
                <a:tableStyleId>{E85D5467-2EF3-42B7-B66C-22E44046D3A5}</a:tableStyleId>
              </a:tblPr>
              <a:tblGrid>
                <a:gridCol w="1048250"/>
                <a:gridCol w="1048250"/>
                <a:gridCol w="1048250"/>
              </a:tblGrid>
              <a:tr h="381000">
                <a:tc>
                  <a:txBody>
                    <a:bodyPr/>
                    <a:lstStyle/>
                    <a:p>
                      <a:pPr indent="0" lvl="0" marL="0" rtl="0" algn="l">
                        <a:spcBef>
                          <a:spcPts val="0"/>
                        </a:spcBef>
                        <a:spcAft>
                          <a:spcPts val="0"/>
                        </a:spcAft>
                        <a:buNone/>
                      </a:pPr>
                      <a:r>
                        <a:rPr b="1" lang="en-US" sz="1500">
                          <a:latin typeface="Times New Roman"/>
                          <a:ea typeface="Times New Roman"/>
                          <a:cs typeface="Times New Roman"/>
                          <a:sym typeface="Times New Roman"/>
                        </a:rPr>
                        <a:t>Image</a:t>
                      </a:r>
                      <a:endParaRPr b="1" sz="1500">
                        <a:latin typeface="Times New Roman"/>
                        <a:ea typeface="Times New Roman"/>
                        <a:cs typeface="Times New Roman"/>
                        <a:sym typeface="Times New Roman"/>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sz="1500">
                          <a:latin typeface="Times New Roman"/>
                          <a:ea typeface="Times New Roman"/>
                          <a:cs typeface="Times New Roman"/>
                          <a:sym typeface="Times New Roman"/>
                        </a:rPr>
                        <a:t>.png</a:t>
                      </a:r>
                      <a:endParaRPr sz="1500">
                        <a:latin typeface="Times New Roman"/>
                        <a:ea typeface="Times New Roman"/>
                        <a:cs typeface="Times New Roman"/>
                        <a:sym typeface="Times New Roman"/>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sz="1500">
                          <a:latin typeface="Times New Roman"/>
                          <a:ea typeface="Times New Roman"/>
                          <a:cs typeface="Times New Roman"/>
                          <a:sym typeface="Times New Roman"/>
                        </a:rPr>
                        <a:t>520 KB</a:t>
                      </a:r>
                      <a:endParaRPr sz="1500">
                        <a:latin typeface="Times New Roman"/>
                        <a:ea typeface="Times New Roman"/>
                        <a:cs typeface="Times New Roman"/>
                        <a:sym typeface="Times New Roman"/>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pic>
        <p:nvPicPr>
          <p:cNvPr id="391" name="Google Shape;391;g2c9eccfda70_0_108"/>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392" name="Google Shape;392;g2c9eccfda70_0_10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393" name="Google Shape;393;g2c9eccfda70_0_108"/>
          <p:cNvSpPr txBox="1"/>
          <p:nvPr/>
        </p:nvSpPr>
        <p:spPr>
          <a:xfrm>
            <a:off x="1305000" y="350375"/>
            <a:ext cx="102090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lang="en-US" sz="3000" u="sng">
                <a:solidFill>
                  <a:srgbClr val="191919"/>
                </a:solidFill>
                <a:latin typeface="Times New Roman"/>
                <a:ea typeface="Times New Roman"/>
                <a:cs typeface="Times New Roman"/>
                <a:sym typeface="Times New Roman"/>
              </a:rPr>
              <a:t>AES and </a:t>
            </a:r>
            <a:r>
              <a:rPr b="1" lang="en-US" sz="3000" u="sng">
                <a:solidFill>
                  <a:srgbClr val="191919"/>
                </a:solidFill>
                <a:latin typeface="Times New Roman"/>
                <a:ea typeface="Times New Roman"/>
                <a:cs typeface="Times New Roman"/>
                <a:sym typeface="Times New Roman"/>
              </a:rPr>
              <a:t>Triple DES </a:t>
            </a:r>
            <a:r>
              <a:rPr b="1" lang="en-US" sz="3000" u="sng">
                <a:solidFill>
                  <a:srgbClr val="191919"/>
                </a:solidFill>
                <a:latin typeface="Times New Roman"/>
                <a:ea typeface="Times New Roman"/>
                <a:cs typeface="Times New Roman"/>
                <a:sym typeface="Times New Roman"/>
              </a:rPr>
              <a:t>Hybrid for the Encryption of Images</a:t>
            </a:r>
            <a:endParaRPr b="1" i="0" sz="2300" u="sng" cap="none" strike="noStrike">
              <a:solidFill>
                <a:srgbClr val="191919"/>
              </a:solidFill>
              <a:latin typeface="Times New Roman"/>
              <a:ea typeface="Times New Roman"/>
              <a:cs typeface="Times New Roman"/>
              <a:sym typeface="Times New Roman"/>
            </a:endParaRPr>
          </a:p>
        </p:txBody>
      </p:sp>
      <p:sp>
        <p:nvSpPr>
          <p:cNvPr id="394" name="Google Shape;394;g2c9eccfda70_0_108"/>
          <p:cNvSpPr txBox="1"/>
          <p:nvPr/>
        </p:nvSpPr>
        <p:spPr>
          <a:xfrm>
            <a:off x="1183350" y="1529125"/>
            <a:ext cx="9613500" cy="4926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lang="en-US" sz="2000">
                <a:solidFill>
                  <a:schemeClr val="dk1"/>
                </a:solidFill>
                <a:latin typeface="Times New Roman"/>
                <a:ea typeface="Times New Roman"/>
                <a:cs typeface="Times New Roman"/>
                <a:sym typeface="Times New Roman"/>
              </a:rPr>
              <a:t>Overall, time and space complexity.</a:t>
            </a:r>
            <a:endParaRPr sz="2000">
              <a:solidFill>
                <a:schemeClr val="dk1"/>
              </a:solidFill>
              <a:latin typeface="Times New Roman"/>
              <a:ea typeface="Times New Roman"/>
              <a:cs typeface="Times New Roman"/>
              <a:sym typeface="Times New Roman"/>
            </a:endParaRPr>
          </a:p>
        </p:txBody>
      </p:sp>
      <p:graphicFrame>
        <p:nvGraphicFramePr>
          <p:cNvPr id="395" name="Google Shape;395;g2c9eccfda70_0_108"/>
          <p:cNvGraphicFramePr/>
          <p:nvPr/>
        </p:nvGraphicFramePr>
        <p:xfrm>
          <a:off x="1305000" y="2450850"/>
          <a:ext cx="3000000" cy="3000000"/>
        </p:xfrm>
        <a:graphic>
          <a:graphicData uri="http://schemas.openxmlformats.org/drawingml/2006/table">
            <a:tbl>
              <a:tblPr>
                <a:noFill/>
                <a:tableStyleId>{AF38B7D9-180C-4F1C-AD40-861807BBC445}</a:tableStyleId>
              </a:tblPr>
              <a:tblGrid>
                <a:gridCol w="4493400"/>
                <a:gridCol w="4493400"/>
              </a:tblGrid>
              <a:tr h="500200">
                <a:tc>
                  <a:txBody>
                    <a:bodyPr/>
                    <a:lstStyle/>
                    <a:p>
                      <a:pPr indent="0" lvl="0" marL="0" rtl="0" algn="just">
                        <a:spcBef>
                          <a:spcPts val="0"/>
                        </a:spcBef>
                        <a:spcAft>
                          <a:spcPts val="0"/>
                        </a:spcAft>
                        <a:buNone/>
                      </a:pPr>
                      <a:r>
                        <a:rPr b="1" lang="en-US" sz="2000">
                          <a:latin typeface="Times New Roman"/>
                          <a:ea typeface="Times New Roman"/>
                          <a:cs typeface="Times New Roman"/>
                          <a:sym typeface="Times New Roman"/>
                        </a:rPr>
                        <a:t>Time Complexity</a:t>
                      </a:r>
                      <a:endParaRPr b="1" sz="2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2000">
                          <a:latin typeface="Times New Roman"/>
                          <a:ea typeface="Times New Roman"/>
                          <a:cs typeface="Times New Roman"/>
                          <a:sym typeface="Times New Roman"/>
                        </a:rPr>
                        <a:t>O(m + k^3 + n^3)</a:t>
                      </a:r>
                      <a:endParaRPr sz="2000">
                        <a:latin typeface="Times New Roman"/>
                        <a:ea typeface="Times New Roman"/>
                        <a:cs typeface="Times New Roman"/>
                        <a:sym typeface="Times New Roman"/>
                      </a:endParaRPr>
                    </a:p>
                  </a:txBody>
                  <a:tcPr marT="63500" marB="63500" marR="63500" marL="63500"/>
                </a:tc>
              </a:tr>
              <a:tr h="500200">
                <a:tc>
                  <a:txBody>
                    <a:bodyPr/>
                    <a:lstStyle/>
                    <a:p>
                      <a:pPr indent="0" lvl="0" marL="0" rtl="0" algn="just">
                        <a:spcBef>
                          <a:spcPts val="0"/>
                        </a:spcBef>
                        <a:spcAft>
                          <a:spcPts val="0"/>
                        </a:spcAft>
                        <a:buNone/>
                      </a:pPr>
                      <a:r>
                        <a:rPr b="1" lang="en-US" sz="2000">
                          <a:latin typeface="Times New Roman"/>
                          <a:ea typeface="Times New Roman"/>
                          <a:cs typeface="Times New Roman"/>
                          <a:sym typeface="Times New Roman"/>
                        </a:rPr>
                        <a:t>Space Complexity</a:t>
                      </a:r>
                      <a:endParaRPr b="1" sz="2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2000">
                          <a:latin typeface="Times New Roman"/>
                          <a:ea typeface="Times New Roman"/>
                          <a:cs typeface="Times New Roman"/>
                          <a:sym typeface="Times New Roman"/>
                        </a:rPr>
                        <a:t>O(m + k + n)</a:t>
                      </a:r>
                      <a:endParaRPr sz="2000">
                        <a:latin typeface="Times New Roman"/>
                        <a:ea typeface="Times New Roman"/>
                        <a:cs typeface="Times New Roman"/>
                        <a:sym typeface="Times New Roman"/>
                      </a:endParaRPr>
                    </a:p>
                  </a:txBody>
                  <a:tcPr marT="63500" marB="63500" marR="63500" marL="63500"/>
                </a:tc>
              </a:tr>
            </a:tbl>
          </a:graphicData>
        </a:graphic>
      </p:graphicFrame>
      <p:sp>
        <p:nvSpPr>
          <p:cNvPr id="396" name="Google Shape;396;g2c9eccfda70_0_108"/>
          <p:cNvSpPr txBox="1"/>
          <p:nvPr/>
        </p:nvSpPr>
        <p:spPr>
          <a:xfrm>
            <a:off x="1183350" y="4154125"/>
            <a:ext cx="9613500" cy="4926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Where m represents the size of the image.</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pic>
        <p:nvPicPr>
          <p:cNvPr id="402" name="Google Shape;402;g2c9eccfda70_0_118"/>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403" name="Google Shape;403;g2c9eccfda70_0_11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404" name="Google Shape;404;g2c9eccfda70_0_118"/>
          <p:cNvSpPr txBox="1"/>
          <p:nvPr/>
        </p:nvSpPr>
        <p:spPr>
          <a:xfrm>
            <a:off x="1305000" y="350375"/>
            <a:ext cx="10482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lang="en-US" sz="3000" u="sng">
                <a:solidFill>
                  <a:srgbClr val="191919"/>
                </a:solidFill>
                <a:latin typeface="Times New Roman"/>
                <a:ea typeface="Times New Roman"/>
                <a:cs typeface="Times New Roman"/>
                <a:sym typeface="Times New Roman"/>
              </a:rPr>
              <a:t>AES and </a:t>
            </a:r>
            <a:r>
              <a:rPr b="1" lang="en-US" sz="3000" u="sng">
                <a:solidFill>
                  <a:srgbClr val="191919"/>
                </a:solidFill>
                <a:latin typeface="Times New Roman"/>
                <a:ea typeface="Times New Roman"/>
                <a:cs typeface="Times New Roman"/>
                <a:sym typeface="Times New Roman"/>
              </a:rPr>
              <a:t>Triple DES </a:t>
            </a:r>
            <a:r>
              <a:rPr b="1" lang="en-US" sz="3000" u="sng">
                <a:solidFill>
                  <a:srgbClr val="191919"/>
                </a:solidFill>
                <a:latin typeface="Times New Roman"/>
                <a:ea typeface="Times New Roman"/>
                <a:cs typeface="Times New Roman"/>
                <a:sym typeface="Times New Roman"/>
              </a:rPr>
              <a:t>Hybrid for the Encryption of Images</a:t>
            </a:r>
            <a:endParaRPr b="1" i="0" sz="2300" u="sng" cap="none" strike="noStrike">
              <a:solidFill>
                <a:srgbClr val="191919"/>
              </a:solidFill>
              <a:latin typeface="Times New Roman"/>
              <a:ea typeface="Times New Roman"/>
              <a:cs typeface="Times New Roman"/>
              <a:sym typeface="Times New Roman"/>
            </a:endParaRPr>
          </a:p>
        </p:txBody>
      </p:sp>
      <p:sp>
        <p:nvSpPr>
          <p:cNvPr id="405" name="Google Shape;405;g2c9eccfda70_0_118"/>
          <p:cNvSpPr txBox="1"/>
          <p:nvPr/>
        </p:nvSpPr>
        <p:spPr>
          <a:xfrm>
            <a:off x="3002975" y="5822400"/>
            <a:ext cx="6806100" cy="3651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Fig. 5.1: Time Complexity Graph of AES and Triple DES for Images</a:t>
            </a:r>
            <a:endParaRPr sz="20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000">
              <a:solidFill>
                <a:schemeClr val="dk1"/>
              </a:solidFill>
              <a:latin typeface="Calibri"/>
              <a:ea typeface="Calibri"/>
              <a:cs typeface="Calibri"/>
              <a:sym typeface="Calibri"/>
            </a:endParaRPr>
          </a:p>
        </p:txBody>
      </p:sp>
      <p:pic>
        <p:nvPicPr>
          <p:cNvPr id="406" name="Google Shape;406;g2c9eccfda70_0_118"/>
          <p:cNvPicPr preferRelativeResize="0"/>
          <p:nvPr/>
        </p:nvPicPr>
        <p:blipFill>
          <a:blip r:embed="rId4">
            <a:alphaModFix/>
          </a:blip>
          <a:stretch>
            <a:fillRect/>
          </a:stretch>
        </p:blipFill>
        <p:spPr>
          <a:xfrm>
            <a:off x="3149263" y="1186175"/>
            <a:ext cx="5893475" cy="44856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pic>
        <p:nvPicPr>
          <p:cNvPr id="412" name="Google Shape;412;g2c9eccfda70_0_127"/>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413" name="Google Shape;413;g2c9eccfda70_0_12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414" name="Google Shape;414;g2c9eccfda70_0_127"/>
          <p:cNvSpPr txBox="1"/>
          <p:nvPr/>
        </p:nvSpPr>
        <p:spPr>
          <a:xfrm>
            <a:off x="1305000" y="350375"/>
            <a:ext cx="102819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lang="en-US" sz="3000" u="sng">
                <a:solidFill>
                  <a:srgbClr val="191919"/>
                </a:solidFill>
                <a:latin typeface="Times New Roman"/>
                <a:ea typeface="Times New Roman"/>
                <a:cs typeface="Times New Roman"/>
                <a:sym typeface="Times New Roman"/>
              </a:rPr>
              <a:t>AES and </a:t>
            </a:r>
            <a:r>
              <a:rPr b="1" lang="en-US" sz="3000" u="sng">
                <a:solidFill>
                  <a:srgbClr val="191919"/>
                </a:solidFill>
                <a:latin typeface="Times New Roman"/>
                <a:ea typeface="Times New Roman"/>
                <a:cs typeface="Times New Roman"/>
                <a:sym typeface="Times New Roman"/>
              </a:rPr>
              <a:t>Triple DES </a:t>
            </a:r>
            <a:r>
              <a:rPr b="1" lang="en-US" sz="3000" u="sng">
                <a:solidFill>
                  <a:srgbClr val="191919"/>
                </a:solidFill>
                <a:latin typeface="Times New Roman"/>
                <a:ea typeface="Times New Roman"/>
                <a:cs typeface="Times New Roman"/>
                <a:sym typeface="Times New Roman"/>
              </a:rPr>
              <a:t>Hybrid for the Encryption of Images</a:t>
            </a:r>
            <a:endParaRPr b="1" i="0" sz="2300" u="sng" cap="none" strike="noStrike">
              <a:solidFill>
                <a:srgbClr val="191919"/>
              </a:solidFill>
              <a:latin typeface="Times New Roman"/>
              <a:ea typeface="Times New Roman"/>
              <a:cs typeface="Times New Roman"/>
              <a:sym typeface="Times New Roman"/>
            </a:endParaRPr>
          </a:p>
        </p:txBody>
      </p:sp>
      <p:sp>
        <p:nvSpPr>
          <p:cNvPr id="415" name="Google Shape;415;g2c9eccfda70_0_127"/>
          <p:cNvSpPr txBox="1"/>
          <p:nvPr/>
        </p:nvSpPr>
        <p:spPr>
          <a:xfrm>
            <a:off x="3002975" y="5822400"/>
            <a:ext cx="7191900" cy="3651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Fig. 5.1: Space Complexity Graph of AES and Triple DES for Images</a:t>
            </a:r>
            <a:endParaRPr sz="20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000">
              <a:solidFill>
                <a:schemeClr val="dk1"/>
              </a:solidFill>
              <a:latin typeface="Calibri"/>
              <a:ea typeface="Calibri"/>
              <a:cs typeface="Calibri"/>
              <a:sym typeface="Calibri"/>
            </a:endParaRPr>
          </a:p>
        </p:txBody>
      </p:sp>
      <p:pic>
        <p:nvPicPr>
          <p:cNvPr id="416" name="Google Shape;416;g2c9eccfda70_0_127"/>
          <p:cNvPicPr preferRelativeResize="0"/>
          <p:nvPr/>
        </p:nvPicPr>
        <p:blipFill>
          <a:blip r:embed="rId4">
            <a:alphaModFix/>
          </a:blip>
          <a:stretch>
            <a:fillRect/>
          </a:stretch>
        </p:blipFill>
        <p:spPr>
          <a:xfrm>
            <a:off x="3085638" y="1125463"/>
            <a:ext cx="6020724" cy="46070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id="422" name="Google Shape;422;g2c9eccfda70_0_231"/>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423" name="Google Shape;423;g2c9eccfda70_0_23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424" name="Google Shape;424;g2c9eccfda70_0_231"/>
          <p:cNvSpPr txBox="1"/>
          <p:nvPr/>
        </p:nvSpPr>
        <p:spPr>
          <a:xfrm>
            <a:off x="1305000" y="350375"/>
            <a:ext cx="102819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lang="en-US" sz="3000" u="sng">
                <a:solidFill>
                  <a:srgbClr val="191919"/>
                </a:solidFill>
                <a:latin typeface="Times New Roman"/>
                <a:ea typeface="Times New Roman"/>
                <a:cs typeface="Times New Roman"/>
                <a:sym typeface="Times New Roman"/>
              </a:rPr>
              <a:t>AES and Triple DES Hybrid for the Encryption of Images</a:t>
            </a:r>
            <a:endParaRPr b="1" i="0" sz="2300" u="sng" cap="none" strike="noStrike">
              <a:solidFill>
                <a:srgbClr val="191919"/>
              </a:solidFill>
              <a:latin typeface="Times New Roman"/>
              <a:ea typeface="Times New Roman"/>
              <a:cs typeface="Times New Roman"/>
              <a:sym typeface="Times New Roman"/>
            </a:endParaRPr>
          </a:p>
        </p:txBody>
      </p:sp>
      <p:sp>
        <p:nvSpPr>
          <p:cNvPr id="425" name="Google Shape;425;g2c9eccfda70_0_231"/>
          <p:cNvSpPr txBox="1"/>
          <p:nvPr/>
        </p:nvSpPr>
        <p:spPr>
          <a:xfrm>
            <a:off x="391950" y="1597850"/>
            <a:ext cx="11408100" cy="511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Strength Analysis:</a:t>
            </a:r>
            <a:endParaRPr b="1" sz="20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355600" lvl="0" marL="457200" rtl="0" algn="just">
              <a:lnSpc>
                <a:spcPct val="150000"/>
              </a:lnSpc>
              <a:spcBef>
                <a:spcPts val="0"/>
              </a:spcBef>
              <a:spcAft>
                <a:spcPts val="0"/>
              </a:spcAft>
              <a:buClr>
                <a:schemeClr val="dk1"/>
              </a:buClr>
              <a:buSzPts val="2000"/>
              <a:buFont typeface="Times New Roman"/>
              <a:buChar char="●"/>
            </a:pPr>
            <a:r>
              <a:rPr b="1" lang="en-US" sz="2000">
                <a:solidFill>
                  <a:schemeClr val="dk1"/>
                </a:solidFill>
                <a:latin typeface="Times New Roman"/>
                <a:ea typeface="Times New Roman"/>
                <a:cs typeface="Times New Roman"/>
                <a:sym typeface="Times New Roman"/>
              </a:rPr>
              <a:t>AES:</a:t>
            </a:r>
            <a:r>
              <a:rPr lang="en-US" sz="2000">
                <a:solidFill>
                  <a:schemeClr val="dk1"/>
                </a:solidFill>
                <a:latin typeface="Times New Roman"/>
                <a:ea typeface="Times New Roman"/>
                <a:cs typeface="Times New Roman"/>
                <a:sym typeface="Times New Roman"/>
              </a:rPr>
              <a:t> AES with a 256-bit key is considered very secure and is widely used in practice.</a:t>
            </a:r>
            <a:endParaRPr sz="2000">
              <a:solidFill>
                <a:schemeClr val="dk1"/>
              </a:solidFill>
              <a:latin typeface="Times New Roman"/>
              <a:ea typeface="Times New Roman"/>
              <a:cs typeface="Times New Roman"/>
              <a:sym typeface="Times New Roman"/>
            </a:endParaRPr>
          </a:p>
          <a:p>
            <a:pPr indent="0" lvl="0" marL="457200" rtl="0" algn="just">
              <a:lnSpc>
                <a:spcPct val="15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355600" lvl="0" marL="457200" rtl="0" algn="just">
              <a:lnSpc>
                <a:spcPct val="150000"/>
              </a:lnSpc>
              <a:spcBef>
                <a:spcPts val="0"/>
              </a:spcBef>
              <a:spcAft>
                <a:spcPts val="0"/>
              </a:spcAft>
              <a:buClr>
                <a:schemeClr val="dk1"/>
              </a:buClr>
              <a:buSzPts val="2000"/>
              <a:buFont typeface="Times New Roman"/>
              <a:buChar char="●"/>
            </a:pPr>
            <a:r>
              <a:rPr b="1" lang="en-US" sz="2000">
                <a:solidFill>
                  <a:schemeClr val="dk1"/>
                </a:solidFill>
                <a:latin typeface="Times New Roman"/>
                <a:ea typeface="Times New Roman"/>
                <a:cs typeface="Times New Roman"/>
                <a:sym typeface="Times New Roman"/>
              </a:rPr>
              <a:t>Triple DES:</a:t>
            </a:r>
            <a:r>
              <a:rPr lang="en-US" sz="2000">
                <a:solidFill>
                  <a:schemeClr val="dk1"/>
                </a:solidFill>
                <a:latin typeface="Times New Roman"/>
                <a:ea typeface="Times New Roman"/>
                <a:cs typeface="Times New Roman"/>
                <a:sym typeface="Times New Roman"/>
              </a:rPr>
              <a:t> While Triple DES (3DES) was once considered secure, its 168-bit key length is now considered insufficient for modern security requirements. It's generally recommended to use AES instead of Triple DES for new applications.</a:t>
            </a:r>
            <a:endParaRPr sz="20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457200" lvl="0" marL="0" rtl="0" algn="just">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Overall, AES provides stronger security compared to Triple DES due to its longer key length. Therefore, in terms of strength, using AES is preferred over Triple DES.</a:t>
            </a:r>
            <a:endParaRPr sz="20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pic>
        <p:nvPicPr>
          <p:cNvPr id="431" name="Google Shape;431;g2c9eccfda70_0_136"/>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432" name="Google Shape;432;g2c9eccfda70_0_13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433" name="Google Shape;433;g2c9eccfda70_0_136"/>
          <p:cNvSpPr txBox="1"/>
          <p:nvPr/>
        </p:nvSpPr>
        <p:spPr>
          <a:xfrm>
            <a:off x="1305000" y="350375"/>
            <a:ext cx="104280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lang="en-US" sz="3000" u="sng">
                <a:solidFill>
                  <a:srgbClr val="191919"/>
                </a:solidFill>
                <a:latin typeface="Times New Roman"/>
                <a:ea typeface="Times New Roman"/>
                <a:cs typeface="Times New Roman"/>
                <a:sym typeface="Times New Roman"/>
              </a:rPr>
              <a:t>AES and </a:t>
            </a:r>
            <a:r>
              <a:rPr b="1" lang="en-US" sz="3000" u="sng">
                <a:solidFill>
                  <a:srgbClr val="191919"/>
                </a:solidFill>
                <a:latin typeface="Times New Roman"/>
                <a:ea typeface="Times New Roman"/>
                <a:cs typeface="Times New Roman"/>
                <a:sym typeface="Times New Roman"/>
              </a:rPr>
              <a:t>Triple DES </a:t>
            </a:r>
            <a:r>
              <a:rPr b="1" lang="en-US" sz="3000" u="sng">
                <a:solidFill>
                  <a:srgbClr val="191919"/>
                </a:solidFill>
                <a:latin typeface="Times New Roman"/>
                <a:ea typeface="Times New Roman"/>
                <a:cs typeface="Times New Roman"/>
                <a:sym typeface="Times New Roman"/>
              </a:rPr>
              <a:t> Hybrid for the Encryption of Videos</a:t>
            </a:r>
            <a:endParaRPr b="1" i="0" sz="2300" u="sng" cap="none" strike="noStrike">
              <a:solidFill>
                <a:srgbClr val="191919"/>
              </a:solidFill>
              <a:latin typeface="Times New Roman"/>
              <a:ea typeface="Times New Roman"/>
              <a:cs typeface="Times New Roman"/>
              <a:sym typeface="Times New Roman"/>
            </a:endParaRPr>
          </a:p>
        </p:txBody>
      </p:sp>
      <p:graphicFrame>
        <p:nvGraphicFramePr>
          <p:cNvPr id="434" name="Google Shape;434;g2c9eccfda70_0_136"/>
          <p:cNvGraphicFramePr/>
          <p:nvPr/>
        </p:nvGraphicFramePr>
        <p:xfrm>
          <a:off x="4485150" y="1441725"/>
          <a:ext cx="3000000" cy="3000000"/>
        </p:xfrm>
        <a:graphic>
          <a:graphicData uri="http://schemas.openxmlformats.org/drawingml/2006/table">
            <a:tbl>
              <a:tblPr>
                <a:noFill/>
                <a:tableStyleId>{AF38B7D9-180C-4F1C-AD40-861807BBC445}</a:tableStyleId>
              </a:tblPr>
              <a:tblGrid>
                <a:gridCol w="3655150"/>
                <a:gridCol w="3645200"/>
              </a:tblGrid>
              <a:tr h="372575">
                <a:tc>
                  <a:txBody>
                    <a:bodyPr/>
                    <a:lstStyle/>
                    <a:p>
                      <a:pPr indent="0" lvl="0" marL="0" rtl="0" algn="l">
                        <a:spcBef>
                          <a:spcPts val="0"/>
                        </a:spcBef>
                        <a:spcAft>
                          <a:spcPts val="0"/>
                        </a:spcAft>
                        <a:buNone/>
                      </a:pPr>
                      <a:r>
                        <a:rPr b="1" lang="en-US" sz="1500">
                          <a:latin typeface="Times New Roman"/>
                          <a:ea typeface="Times New Roman"/>
                          <a:cs typeface="Times New Roman"/>
                          <a:sym typeface="Times New Roman"/>
                        </a:rPr>
                        <a:t>Lines of Code (LOC)</a:t>
                      </a:r>
                      <a:endParaRPr b="1" sz="15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500">
                          <a:latin typeface="Times New Roman"/>
                          <a:ea typeface="Times New Roman"/>
                          <a:cs typeface="Times New Roman"/>
                          <a:sym typeface="Times New Roman"/>
                        </a:rPr>
                        <a:t> 58 lines</a:t>
                      </a:r>
                      <a:endParaRPr sz="1500">
                        <a:latin typeface="Times New Roman"/>
                        <a:ea typeface="Times New Roman"/>
                        <a:cs typeface="Times New Roman"/>
                        <a:sym typeface="Times New Roman"/>
                      </a:endParaRPr>
                    </a:p>
                  </a:txBody>
                  <a:tcPr marT="63500" marB="63500" marR="63500" marL="63500"/>
                </a:tc>
              </a:tr>
              <a:tr h="412500">
                <a:tc gridSpan="2">
                  <a:txBody>
                    <a:bodyPr/>
                    <a:lstStyle/>
                    <a:p>
                      <a:pPr indent="0" lvl="0" marL="0" rtl="0" algn="ctr">
                        <a:lnSpc>
                          <a:spcPct val="115000"/>
                        </a:lnSpc>
                        <a:spcBef>
                          <a:spcPts val="0"/>
                        </a:spcBef>
                        <a:spcAft>
                          <a:spcPts val="0"/>
                        </a:spcAft>
                        <a:buNone/>
                      </a:pPr>
                      <a:r>
                        <a:rPr b="1" lang="en-US" sz="1500">
                          <a:latin typeface="Times New Roman"/>
                          <a:ea typeface="Times New Roman"/>
                          <a:cs typeface="Times New Roman"/>
                          <a:sym typeface="Times New Roman"/>
                        </a:rPr>
                        <a:t>Time Complexity</a:t>
                      </a:r>
                      <a:endParaRPr b="1" sz="1500">
                        <a:latin typeface="Times New Roman"/>
                        <a:ea typeface="Times New Roman"/>
                        <a:cs typeface="Times New Roman"/>
                        <a:sym typeface="Times New Roman"/>
                      </a:endParaRPr>
                    </a:p>
                  </a:txBody>
                  <a:tcPr marT="63500" marB="63500" marR="63500" marL="63500"/>
                </a:tc>
                <a:tc hMerge="1"/>
              </a:tr>
              <a:tr h="372575">
                <a:tc>
                  <a:txBody>
                    <a:bodyPr/>
                    <a:lstStyle/>
                    <a:p>
                      <a:pPr indent="0" lvl="0" marL="0" rtl="0" algn="l">
                        <a:spcBef>
                          <a:spcPts val="0"/>
                        </a:spcBef>
                        <a:spcAft>
                          <a:spcPts val="0"/>
                        </a:spcAft>
                        <a:buNone/>
                      </a:pPr>
                      <a:r>
                        <a:rPr b="1" lang="en-US" sz="1500">
                          <a:latin typeface="Times New Roman"/>
                          <a:ea typeface="Times New Roman"/>
                          <a:cs typeface="Times New Roman"/>
                          <a:sym typeface="Times New Roman"/>
                        </a:rPr>
                        <a:t>Key Pair Generation (TDES)</a:t>
                      </a:r>
                      <a:endParaRPr b="1" sz="15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500">
                          <a:latin typeface="Times New Roman"/>
                          <a:ea typeface="Times New Roman"/>
                          <a:cs typeface="Times New Roman"/>
                          <a:sym typeface="Times New Roman"/>
                        </a:rPr>
                        <a:t>O(1) </a:t>
                      </a:r>
                      <a:endParaRPr sz="1500">
                        <a:latin typeface="Times New Roman"/>
                        <a:ea typeface="Times New Roman"/>
                        <a:cs typeface="Times New Roman"/>
                        <a:sym typeface="Times New Roman"/>
                      </a:endParaRPr>
                    </a:p>
                  </a:txBody>
                  <a:tcPr marT="63500" marB="63500" marR="63500" marL="63500"/>
                </a:tc>
              </a:tr>
              <a:tr h="475575">
                <a:tc>
                  <a:txBody>
                    <a:bodyPr/>
                    <a:lstStyle/>
                    <a:p>
                      <a:pPr indent="0" lvl="0" marL="0" rtl="0" algn="l">
                        <a:spcBef>
                          <a:spcPts val="0"/>
                        </a:spcBef>
                        <a:spcAft>
                          <a:spcPts val="0"/>
                        </a:spcAft>
                        <a:buNone/>
                      </a:pPr>
                      <a:r>
                        <a:rPr b="1" lang="en-US" sz="1500">
                          <a:latin typeface="Times New Roman"/>
                          <a:ea typeface="Times New Roman"/>
                          <a:cs typeface="Times New Roman"/>
                          <a:sym typeface="Times New Roman"/>
                        </a:rPr>
                        <a:t>AES Key Generation</a:t>
                      </a:r>
                      <a:endParaRPr b="1" sz="15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500">
                          <a:latin typeface="Times New Roman"/>
                          <a:ea typeface="Times New Roman"/>
                          <a:cs typeface="Times New Roman"/>
                          <a:sym typeface="Times New Roman"/>
                        </a:rPr>
                        <a:t>O(1) </a:t>
                      </a:r>
                      <a:endParaRPr sz="1500">
                        <a:latin typeface="Times New Roman"/>
                        <a:ea typeface="Times New Roman"/>
                        <a:cs typeface="Times New Roman"/>
                        <a:sym typeface="Times New Roman"/>
                      </a:endParaRPr>
                    </a:p>
                  </a:txBody>
                  <a:tcPr marT="63500" marB="63500" marR="63500" marL="63500"/>
                </a:tc>
              </a:tr>
              <a:tr h="372575">
                <a:tc>
                  <a:txBody>
                    <a:bodyPr/>
                    <a:lstStyle/>
                    <a:p>
                      <a:pPr indent="0" lvl="0" marL="0" rtl="0" algn="l">
                        <a:spcBef>
                          <a:spcPts val="0"/>
                        </a:spcBef>
                        <a:spcAft>
                          <a:spcPts val="0"/>
                        </a:spcAft>
                        <a:buNone/>
                      </a:pPr>
                      <a:r>
                        <a:rPr b="1" lang="en-US" sz="1500">
                          <a:latin typeface="Times New Roman"/>
                          <a:ea typeface="Times New Roman"/>
                          <a:cs typeface="Times New Roman"/>
                          <a:sym typeface="Times New Roman"/>
                        </a:rPr>
                        <a:t>Video Encryption (AES)</a:t>
                      </a:r>
                      <a:endParaRPr b="1" sz="15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500">
                          <a:latin typeface="Times New Roman"/>
                          <a:ea typeface="Times New Roman"/>
                          <a:cs typeface="Times New Roman"/>
                          <a:sym typeface="Times New Roman"/>
                        </a:rPr>
                        <a:t>O(m)</a:t>
                      </a:r>
                      <a:endParaRPr sz="1500">
                        <a:latin typeface="Times New Roman"/>
                        <a:ea typeface="Times New Roman"/>
                        <a:cs typeface="Times New Roman"/>
                        <a:sym typeface="Times New Roman"/>
                      </a:endParaRPr>
                    </a:p>
                  </a:txBody>
                  <a:tcPr marT="63500" marB="63500" marR="63500" marL="63500"/>
                </a:tc>
              </a:tr>
              <a:tr h="372575">
                <a:tc>
                  <a:txBody>
                    <a:bodyPr/>
                    <a:lstStyle/>
                    <a:p>
                      <a:pPr indent="0" lvl="0" marL="0" rtl="0" algn="l">
                        <a:spcBef>
                          <a:spcPts val="0"/>
                        </a:spcBef>
                        <a:spcAft>
                          <a:spcPts val="0"/>
                        </a:spcAft>
                        <a:buNone/>
                      </a:pPr>
                      <a:r>
                        <a:rPr b="1" lang="en-US" sz="1500">
                          <a:latin typeface="Times New Roman"/>
                          <a:ea typeface="Times New Roman"/>
                          <a:cs typeface="Times New Roman"/>
                          <a:sym typeface="Times New Roman"/>
                        </a:rPr>
                        <a:t>Video Decryption (AES)</a:t>
                      </a:r>
                      <a:endParaRPr b="1" sz="15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500">
                          <a:latin typeface="Times New Roman"/>
                          <a:ea typeface="Times New Roman"/>
                          <a:cs typeface="Times New Roman"/>
                          <a:sym typeface="Times New Roman"/>
                        </a:rPr>
                        <a:t>O(m)</a:t>
                      </a:r>
                      <a:endParaRPr sz="1500">
                        <a:latin typeface="Times New Roman"/>
                        <a:ea typeface="Times New Roman"/>
                        <a:cs typeface="Times New Roman"/>
                        <a:sym typeface="Times New Roman"/>
                      </a:endParaRPr>
                    </a:p>
                  </a:txBody>
                  <a:tcPr marT="63500" marB="63500" marR="63500" marL="63500"/>
                </a:tc>
              </a:tr>
              <a:tr h="412500">
                <a:tc gridSpan="2">
                  <a:txBody>
                    <a:bodyPr/>
                    <a:lstStyle/>
                    <a:p>
                      <a:pPr indent="0" lvl="0" marL="0" rtl="0" algn="ctr">
                        <a:lnSpc>
                          <a:spcPct val="115000"/>
                        </a:lnSpc>
                        <a:spcBef>
                          <a:spcPts val="0"/>
                        </a:spcBef>
                        <a:spcAft>
                          <a:spcPts val="0"/>
                        </a:spcAft>
                        <a:buNone/>
                      </a:pPr>
                      <a:r>
                        <a:rPr b="1" lang="en-US" sz="1500">
                          <a:latin typeface="Times New Roman"/>
                          <a:ea typeface="Times New Roman"/>
                          <a:cs typeface="Times New Roman"/>
                          <a:sym typeface="Times New Roman"/>
                        </a:rPr>
                        <a:t>Space Complexity</a:t>
                      </a:r>
                      <a:endParaRPr b="1" sz="1500">
                        <a:latin typeface="Times New Roman"/>
                        <a:ea typeface="Times New Roman"/>
                        <a:cs typeface="Times New Roman"/>
                        <a:sym typeface="Times New Roman"/>
                      </a:endParaRPr>
                    </a:p>
                  </a:txBody>
                  <a:tcPr marT="63500" marB="63500" marR="63500" marL="63500"/>
                </a:tc>
                <a:tc hMerge="1"/>
              </a:tr>
              <a:tr h="372575">
                <a:tc>
                  <a:txBody>
                    <a:bodyPr/>
                    <a:lstStyle/>
                    <a:p>
                      <a:pPr indent="0" lvl="0" marL="0" rtl="0" algn="l">
                        <a:spcBef>
                          <a:spcPts val="0"/>
                        </a:spcBef>
                        <a:spcAft>
                          <a:spcPts val="0"/>
                        </a:spcAft>
                        <a:buNone/>
                      </a:pPr>
                      <a:r>
                        <a:rPr b="1" lang="en-US" sz="1500">
                          <a:latin typeface="Times New Roman"/>
                          <a:ea typeface="Times New Roman"/>
                          <a:cs typeface="Times New Roman"/>
                          <a:sym typeface="Times New Roman"/>
                        </a:rPr>
                        <a:t>Key Pair Generation (TDES)</a:t>
                      </a:r>
                      <a:endParaRPr b="1" sz="15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500">
                          <a:latin typeface="Times New Roman"/>
                          <a:ea typeface="Times New Roman"/>
                          <a:cs typeface="Times New Roman"/>
                          <a:sym typeface="Times New Roman"/>
                        </a:rPr>
                        <a:t>O(1)</a:t>
                      </a:r>
                      <a:endParaRPr sz="1500">
                        <a:latin typeface="Times New Roman"/>
                        <a:ea typeface="Times New Roman"/>
                        <a:cs typeface="Times New Roman"/>
                        <a:sym typeface="Times New Roman"/>
                      </a:endParaRPr>
                    </a:p>
                  </a:txBody>
                  <a:tcPr marT="63500" marB="63500" marR="63500" marL="63500"/>
                </a:tc>
              </a:tr>
              <a:tr h="372575">
                <a:tc>
                  <a:txBody>
                    <a:bodyPr/>
                    <a:lstStyle/>
                    <a:p>
                      <a:pPr indent="0" lvl="0" marL="0" rtl="0" algn="l">
                        <a:spcBef>
                          <a:spcPts val="0"/>
                        </a:spcBef>
                        <a:spcAft>
                          <a:spcPts val="0"/>
                        </a:spcAft>
                        <a:buNone/>
                      </a:pPr>
                      <a:r>
                        <a:rPr b="1" lang="en-US" sz="1500">
                          <a:latin typeface="Times New Roman"/>
                          <a:ea typeface="Times New Roman"/>
                          <a:cs typeface="Times New Roman"/>
                          <a:sym typeface="Times New Roman"/>
                        </a:rPr>
                        <a:t>AES Key Generation</a:t>
                      </a:r>
                      <a:endParaRPr b="1" sz="15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500">
                          <a:latin typeface="Times New Roman"/>
                          <a:ea typeface="Times New Roman"/>
                          <a:cs typeface="Times New Roman"/>
                          <a:sym typeface="Times New Roman"/>
                        </a:rPr>
                        <a:t>O(1) </a:t>
                      </a:r>
                      <a:endParaRPr sz="1500">
                        <a:latin typeface="Times New Roman"/>
                        <a:ea typeface="Times New Roman"/>
                        <a:cs typeface="Times New Roman"/>
                        <a:sym typeface="Times New Roman"/>
                      </a:endParaRPr>
                    </a:p>
                  </a:txBody>
                  <a:tcPr marT="63500" marB="63500" marR="63500" marL="63500"/>
                </a:tc>
              </a:tr>
              <a:tr h="372575">
                <a:tc>
                  <a:txBody>
                    <a:bodyPr/>
                    <a:lstStyle/>
                    <a:p>
                      <a:pPr indent="0" lvl="0" marL="0" rtl="0" algn="l">
                        <a:spcBef>
                          <a:spcPts val="0"/>
                        </a:spcBef>
                        <a:spcAft>
                          <a:spcPts val="0"/>
                        </a:spcAft>
                        <a:buNone/>
                      </a:pPr>
                      <a:r>
                        <a:rPr b="1" lang="en-US" sz="1500">
                          <a:latin typeface="Times New Roman"/>
                          <a:ea typeface="Times New Roman"/>
                          <a:cs typeface="Times New Roman"/>
                          <a:sym typeface="Times New Roman"/>
                        </a:rPr>
                        <a:t>Video Encryption (AES)</a:t>
                      </a:r>
                      <a:endParaRPr b="1" sz="15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500">
                          <a:latin typeface="Times New Roman"/>
                          <a:ea typeface="Times New Roman"/>
                          <a:cs typeface="Times New Roman"/>
                          <a:sym typeface="Times New Roman"/>
                        </a:rPr>
                        <a:t>O(m)</a:t>
                      </a:r>
                      <a:endParaRPr sz="1500">
                        <a:latin typeface="Times New Roman"/>
                        <a:ea typeface="Times New Roman"/>
                        <a:cs typeface="Times New Roman"/>
                        <a:sym typeface="Times New Roman"/>
                      </a:endParaRPr>
                    </a:p>
                  </a:txBody>
                  <a:tcPr marT="63500" marB="63500" marR="63500" marL="63500"/>
                </a:tc>
              </a:tr>
              <a:tr h="372575">
                <a:tc>
                  <a:txBody>
                    <a:bodyPr/>
                    <a:lstStyle/>
                    <a:p>
                      <a:pPr indent="0" lvl="0" marL="0" rtl="0" algn="l">
                        <a:spcBef>
                          <a:spcPts val="0"/>
                        </a:spcBef>
                        <a:spcAft>
                          <a:spcPts val="0"/>
                        </a:spcAft>
                        <a:buNone/>
                      </a:pPr>
                      <a:r>
                        <a:rPr b="1" lang="en-US" sz="1500">
                          <a:latin typeface="Times New Roman"/>
                          <a:ea typeface="Times New Roman"/>
                          <a:cs typeface="Times New Roman"/>
                          <a:sym typeface="Times New Roman"/>
                        </a:rPr>
                        <a:t>Video Decryption (AES)</a:t>
                      </a:r>
                      <a:endParaRPr b="1" sz="15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500">
                          <a:latin typeface="Times New Roman"/>
                          <a:ea typeface="Times New Roman"/>
                          <a:cs typeface="Times New Roman"/>
                          <a:sym typeface="Times New Roman"/>
                        </a:rPr>
                        <a:t>O(m)</a:t>
                      </a:r>
                      <a:endParaRPr sz="1500">
                        <a:latin typeface="Times New Roman"/>
                        <a:ea typeface="Times New Roman"/>
                        <a:cs typeface="Times New Roman"/>
                        <a:sym typeface="Times New Roman"/>
                      </a:endParaRPr>
                    </a:p>
                  </a:txBody>
                  <a:tcPr marT="63500" marB="63500" marR="63500" marL="63500"/>
                </a:tc>
              </a:tr>
            </a:tbl>
          </a:graphicData>
        </a:graphic>
      </p:graphicFrame>
      <p:graphicFrame>
        <p:nvGraphicFramePr>
          <p:cNvPr id="435" name="Google Shape;435;g2c9eccfda70_0_136"/>
          <p:cNvGraphicFramePr/>
          <p:nvPr/>
        </p:nvGraphicFramePr>
        <p:xfrm>
          <a:off x="172125" y="3017550"/>
          <a:ext cx="3000000" cy="3000000"/>
        </p:xfrm>
        <a:graphic>
          <a:graphicData uri="http://schemas.openxmlformats.org/drawingml/2006/table">
            <a:tbl>
              <a:tblPr>
                <a:noFill/>
                <a:tableStyleId>{E85D5467-2EF3-42B7-B66C-22E44046D3A5}</a:tableStyleId>
              </a:tblPr>
              <a:tblGrid>
                <a:gridCol w="1048250"/>
                <a:gridCol w="1048250"/>
                <a:gridCol w="1048250"/>
                <a:gridCol w="897350"/>
              </a:tblGrid>
              <a:tr h="381000">
                <a:tc>
                  <a:txBody>
                    <a:bodyPr/>
                    <a:lstStyle/>
                    <a:p>
                      <a:pPr indent="0" lvl="0" marL="0" rtl="0" algn="l">
                        <a:spcBef>
                          <a:spcPts val="0"/>
                        </a:spcBef>
                        <a:spcAft>
                          <a:spcPts val="0"/>
                        </a:spcAft>
                        <a:buNone/>
                      </a:pPr>
                      <a:r>
                        <a:rPr b="1" lang="en-US" sz="1500">
                          <a:latin typeface="Times New Roman"/>
                          <a:ea typeface="Times New Roman"/>
                          <a:cs typeface="Times New Roman"/>
                          <a:sym typeface="Times New Roman"/>
                        </a:rPr>
                        <a:t>Video</a:t>
                      </a:r>
                      <a:endParaRPr b="1" sz="1500">
                        <a:latin typeface="Times New Roman"/>
                        <a:ea typeface="Times New Roman"/>
                        <a:cs typeface="Times New Roman"/>
                        <a:sym typeface="Times New Roman"/>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sz="1500">
                          <a:latin typeface="Times New Roman"/>
                          <a:ea typeface="Times New Roman"/>
                          <a:cs typeface="Times New Roman"/>
                          <a:sym typeface="Times New Roman"/>
                        </a:rPr>
                        <a:t>.mp4</a:t>
                      </a:r>
                      <a:endParaRPr sz="1500">
                        <a:latin typeface="Times New Roman"/>
                        <a:ea typeface="Times New Roman"/>
                        <a:cs typeface="Times New Roman"/>
                        <a:sym typeface="Times New Roman"/>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sz="1500">
                          <a:latin typeface="Times New Roman"/>
                          <a:ea typeface="Times New Roman"/>
                          <a:cs typeface="Times New Roman"/>
                          <a:sym typeface="Times New Roman"/>
                        </a:rPr>
                        <a:t>2642 KB</a:t>
                      </a:r>
                      <a:endParaRPr sz="1500">
                        <a:latin typeface="Times New Roman"/>
                        <a:ea typeface="Times New Roman"/>
                        <a:cs typeface="Times New Roman"/>
                        <a:sym typeface="Times New Roman"/>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sz="1500">
                          <a:latin typeface="Times New Roman"/>
                          <a:ea typeface="Times New Roman"/>
                          <a:cs typeface="Times New Roman"/>
                          <a:sym typeface="Times New Roman"/>
                        </a:rPr>
                        <a:t>10 Sec</a:t>
                      </a:r>
                      <a:endParaRPr sz="1500">
                        <a:latin typeface="Times New Roman"/>
                        <a:ea typeface="Times New Roman"/>
                        <a:cs typeface="Times New Roman"/>
                        <a:sym typeface="Times New Roman"/>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pic>
        <p:nvPicPr>
          <p:cNvPr id="441" name="Google Shape;441;g2c9eccfda70_0_144"/>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442" name="Google Shape;442;g2c9eccfda70_0_14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443" name="Google Shape;443;g2c9eccfda70_0_144"/>
          <p:cNvSpPr txBox="1"/>
          <p:nvPr/>
        </p:nvSpPr>
        <p:spPr>
          <a:xfrm>
            <a:off x="1305000" y="350375"/>
            <a:ext cx="103914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lang="en-US" sz="3000" u="sng">
                <a:solidFill>
                  <a:srgbClr val="191919"/>
                </a:solidFill>
                <a:latin typeface="Times New Roman"/>
                <a:ea typeface="Times New Roman"/>
                <a:cs typeface="Times New Roman"/>
                <a:sym typeface="Times New Roman"/>
              </a:rPr>
              <a:t>AES and </a:t>
            </a:r>
            <a:r>
              <a:rPr b="1" lang="en-US" sz="3000" u="sng">
                <a:solidFill>
                  <a:srgbClr val="191919"/>
                </a:solidFill>
                <a:latin typeface="Times New Roman"/>
                <a:ea typeface="Times New Roman"/>
                <a:cs typeface="Times New Roman"/>
                <a:sym typeface="Times New Roman"/>
              </a:rPr>
              <a:t>Triple DES </a:t>
            </a:r>
            <a:r>
              <a:rPr b="1" lang="en-US" sz="3000" u="sng">
                <a:solidFill>
                  <a:srgbClr val="191919"/>
                </a:solidFill>
                <a:latin typeface="Times New Roman"/>
                <a:ea typeface="Times New Roman"/>
                <a:cs typeface="Times New Roman"/>
                <a:sym typeface="Times New Roman"/>
              </a:rPr>
              <a:t> Hybrid for the Encryption of Videos</a:t>
            </a:r>
            <a:endParaRPr b="1" i="0" sz="2300" u="sng" cap="none" strike="noStrike">
              <a:solidFill>
                <a:srgbClr val="191919"/>
              </a:solidFill>
              <a:latin typeface="Times New Roman"/>
              <a:ea typeface="Times New Roman"/>
              <a:cs typeface="Times New Roman"/>
              <a:sym typeface="Times New Roman"/>
            </a:endParaRPr>
          </a:p>
        </p:txBody>
      </p:sp>
      <p:sp>
        <p:nvSpPr>
          <p:cNvPr id="444" name="Google Shape;444;g2c9eccfda70_0_144"/>
          <p:cNvSpPr txBox="1"/>
          <p:nvPr/>
        </p:nvSpPr>
        <p:spPr>
          <a:xfrm>
            <a:off x="1183350" y="1529125"/>
            <a:ext cx="9613500" cy="4926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lang="en-US" sz="2000">
                <a:solidFill>
                  <a:schemeClr val="dk1"/>
                </a:solidFill>
                <a:latin typeface="Times New Roman"/>
                <a:ea typeface="Times New Roman"/>
                <a:cs typeface="Times New Roman"/>
                <a:sym typeface="Times New Roman"/>
              </a:rPr>
              <a:t>Overall, time and space complexity.</a:t>
            </a:r>
            <a:endParaRPr sz="2000">
              <a:solidFill>
                <a:schemeClr val="dk1"/>
              </a:solidFill>
              <a:latin typeface="Times New Roman"/>
              <a:ea typeface="Times New Roman"/>
              <a:cs typeface="Times New Roman"/>
              <a:sym typeface="Times New Roman"/>
            </a:endParaRPr>
          </a:p>
        </p:txBody>
      </p:sp>
      <p:graphicFrame>
        <p:nvGraphicFramePr>
          <p:cNvPr id="445" name="Google Shape;445;g2c9eccfda70_0_144"/>
          <p:cNvGraphicFramePr/>
          <p:nvPr/>
        </p:nvGraphicFramePr>
        <p:xfrm>
          <a:off x="1305000" y="2450850"/>
          <a:ext cx="3000000" cy="3000000"/>
        </p:xfrm>
        <a:graphic>
          <a:graphicData uri="http://schemas.openxmlformats.org/drawingml/2006/table">
            <a:tbl>
              <a:tblPr>
                <a:noFill/>
                <a:tableStyleId>{AF38B7D9-180C-4F1C-AD40-861807BBC445}</a:tableStyleId>
              </a:tblPr>
              <a:tblGrid>
                <a:gridCol w="4493400"/>
                <a:gridCol w="4493400"/>
              </a:tblGrid>
              <a:tr h="500200">
                <a:tc>
                  <a:txBody>
                    <a:bodyPr/>
                    <a:lstStyle/>
                    <a:p>
                      <a:pPr indent="0" lvl="0" marL="0" rtl="0" algn="just">
                        <a:spcBef>
                          <a:spcPts val="0"/>
                        </a:spcBef>
                        <a:spcAft>
                          <a:spcPts val="0"/>
                        </a:spcAft>
                        <a:buNone/>
                      </a:pPr>
                      <a:r>
                        <a:rPr b="1" lang="en-US" sz="2000">
                          <a:latin typeface="Times New Roman"/>
                          <a:ea typeface="Times New Roman"/>
                          <a:cs typeface="Times New Roman"/>
                          <a:sym typeface="Times New Roman"/>
                        </a:rPr>
                        <a:t>Time Complexity</a:t>
                      </a:r>
                      <a:endParaRPr b="1" sz="2000">
                        <a:latin typeface="Times New Roman"/>
                        <a:ea typeface="Times New Roman"/>
                        <a:cs typeface="Times New Roman"/>
                        <a:sym typeface="Times New Roman"/>
                      </a:endParaRPr>
                    </a:p>
                  </a:txBody>
                  <a:tcPr marT="63500" marB="63500" marR="63500" marL="63500">
                    <a:lnR cap="flat" cmpd="sng" w="12700">
                      <a:solidFill>
                        <a:srgbClr val="000000"/>
                      </a:solidFill>
                      <a:prstDash val="solid"/>
                      <a:round/>
                      <a:headEnd len="sm" w="sm" type="none"/>
                      <a:tailEnd len="sm" w="sm" type="none"/>
                    </a:lnR>
                  </a:tcPr>
                </a:tc>
                <a:tc>
                  <a:txBody>
                    <a:bodyPr/>
                    <a:lstStyle/>
                    <a:p>
                      <a:pPr indent="0" lvl="0" marL="0" rtl="0" algn="ctr">
                        <a:spcBef>
                          <a:spcPts val="0"/>
                        </a:spcBef>
                        <a:spcAft>
                          <a:spcPts val="0"/>
                        </a:spcAft>
                        <a:buNone/>
                      </a:pPr>
                      <a:r>
                        <a:rPr lang="en-US" sz="2000">
                          <a:latin typeface="Times New Roman"/>
                          <a:ea typeface="Times New Roman"/>
                          <a:cs typeface="Times New Roman"/>
                          <a:sym typeface="Times New Roman"/>
                        </a:rPr>
                        <a:t>O(m)</a:t>
                      </a:r>
                      <a:endParaRPr sz="2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00200">
                <a:tc>
                  <a:txBody>
                    <a:bodyPr/>
                    <a:lstStyle/>
                    <a:p>
                      <a:pPr indent="0" lvl="0" marL="0" rtl="0" algn="just">
                        <a:spcBef>
                          <a:spcPts val="0"/>
                        </a:spcBef>
                        <a:spcAft>
                          <a:spcPts val="0"/>
                        </a:spcAft>
                        <a:buNone/>
                      </a:pPr>
                      <a:r>
                        <a:rPr b="1" lang="en-US" sz="2000">
                          <a:latin typeface="Times New Roman"/>
                          <a:ea typeface="Times New Roman"/>
                          <a:cs typeface="Times New Roman"/>
                          <a:sym typeface="Times New Roman"/>
                        </a:rPr>
                        <a:t>Space Complexity</a:t>
                      </a:r>
                      <a:endParaRPr b="1" sz="2000">
                        <a:latin typeface="Times New Roman"/>
                        <a:ea typeface="Times New Roman"/>
                        <a:cs typeface="Times New Roman"/>
                        <a:sym typeface="Times New Roman"/>
                      </a:endParaRPr>
                    </a:p>
                  </a:txBody>
                  <a:tcPr marT="63500" marB="63500" marR="63500" marL="63500">
                    <a:lnR cap="flat" cmpd="sng" w="12700">
                      <a:solidFill>
                        <a:srgbClr val="000000"/>
                      </a:solidFill>
                      <a:prstDash val="solid"/>
                      <a:round/>
                      <a:headEnd len="sm" w="sm" type="none"/>
                      <a:tailEnd len="sm" w="sm" type="none"/>
                    </a:lnR>
                  </a:tcPr>
                </a:tc>
                <a:tc>
                  <a:txBody>
                    <a:bodyPr/>
                    <a:lstStyle/>
                    <a:p>
                      <a:pPr indent="0" lvl="0" marL="0" rtl="0" algn="ctr">
                        <a:spcBef>
                          <a:spcPts val="0"/>
                        </a:spcBef>
                        <a:spcAft>
                          <a:spcPts val="0"/>
                        </a:spcAft>
                        <a:buNone/>
                      </a:pPr>
                      <a:r>
                        <a:rPr lang="en-US" sz="2000">
                          <a:latin typeface="Times New Roman"/>
                          <a:ea typeface="Times New Roman"/>
                          <a:cs typeface="Times New Roman"/>
                          <a:sym typeface="Times New Roman"/>
                        </a:rPr>
                        <a:t>O(m)</a:t>
                      </a:r>
                      <a:endParaRPr sz="20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446" name="Google Shape;446;g2c9eccfda70_0_144"/>
          <p:cNvSpPr txBox="1"/>
          <p:nvPr/>
        </p:nvSpPr>
        <p:spPr>
          <a:xfrm>
            <a:off x="1183350" y="4154125"/>
            <a:ext cx="9613500" cy="4926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Where m represents the size of the image.</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pic>
        <p:nvPicPr>
          <p:cNvPr id="452" name="Google Shape;452;g2c9eccfda70_0_154"/>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453" name="Google Shape;453;g2c9eccfda70_0_15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454" name="Google Shape;454;g2c9eccfda70_0_154"/>
          <p:cNvSpPr txBox="1"/>
          <p:nvPr/>
        </p:nvSpPr>
        <p:spPr>
          <a:xfrm>
            <a:off x="1305000" y="350375"/>
            <a:ext cx="101544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lang="en-US" sz="3000" u="sng">
                <a:solidFill>
                  <a:srgbClr val="191919"/>
                </a:solidFill>
                <a:latin typeface="Times New Roman"/>
                <a:ea typeface="Times New Roman"/>
                <a:cs typeface="Times New Roman"/>
                <a:sym typeface="Times New Roman"/>
              </a:rPr>
              <a:t>AES and </a:t>
            </a:r>
            <a:r>
              <a:rPr b="1" lang="en-US" sz="3000" u="sng">
                <a:solidFill>
                  <a:srgbClr val="191919"/>
                </a:solidFill>
                <a:latin typeface="Times New Roman"/>
                <a:ea typeface="Times New Roman"/>
                <a:cs typeface="Times New Roman"/>
                <a:sym typeface="Times New Roman"/>
              </a:rPr>
              <a:t>Triple DES </a:t>
            </a:r>
            <a:r>
              <a:rPr b="1" lang="en-US" sz="3000" u="sng">
                <a:solidFill>
                  <a:srgbClr val="191919"/>
                </a:solidFill>
                <a:latin typeface="Times New Roman"/>
                <a:ea typeface="Times New Roman"/>
                <a:cs typeface="Times New Roman"/>
                <a:sym typeface="Times New Roman"/>
              </a:rPr>
              <a:t> Hybrid for the Encryption of Videos</a:t>
            </a:r>
            <a:endParaRPr b="1" i="0" sz="2300" u="sng" cap="none" strike="noStrike">
              <a:solidFill>
                <a:srgbClr val="191919"/>
              </a:solidFill>
              <a:latin typeface="Times New Roman"/>
              <a:ea typeface="Times New Roman"/>
              <a:cs typeface="Times New Roman"/>
              <a:sym typeface="Times New Roman"/>
            </a:endParaRPr>
          </a:p>
        </p:txBody>
      </p:sp>
      <p:sp>
        <p:nvSpPr>
          <p:cNvPr id="455" name="Google Shape;455;g2c9eccfda70_0_154"/>
          <p:cNvSpPr txBox="1"/>
          <p:nvPr/>
        </p:nvSpPr>
        <p:spPr>
          <a:xfrm>
            <a:off x="3002975" y="5822400"/>
            <a:ext cx="6806100" cy="3651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Fig. 5.1: Time Complexity Graph of AES and Triple DES for Videos</a:t>
            </a:r>
            <a:endParaRPr sz="20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000">
              <a:solidFill>
                <a:schemeClr val="dk1"/>
              </a:solidFill>
              <a:latin typeface="Calibri"/>
              <a:ea typeface="Calibri"/>
              <a:cs typeface="Calibri"/>
              <a:sym typeface="Calibri"/>
            </a:endParaRPr>
          </a:p>
        </p:txBody>
      </p:sp>
      <p:pic>
        <p:nvPicPr>
          <p:cNvPr id="456" name="Google Shape;456;g2c9eccfda70_0_154"/>
          <p:cNvPicPr preferRelativeResize="0"/>
          <p:nvPr/>
        </p:nvPicPr>
        <p:blipFill>
          <a:blip r:embed="rId4">
            <a:alphaModFix/>
          </a:blip>
          <a:stretch>
            <a:fillRect/>
          </a:stretch>
        </p:blipFill>
        <p:spPr>
          <a:xfrm>
            <a:off x="3114675" y="1136925"/>
            <a:ext cx="5962650" cy="44577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pic>
        <p:nvPicPr>
          <p:cNvPr id="462" name="Google Shape;462;g2c9eccfda70_0_163"/>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463" name="Google Shape;463;g2c9eccfda70_0_16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464" name="Google Shape;464;g2c9eccfda70_0_163"/>
          <p:cNvSpPr txBox="1"/>
          <p:nvPr/>
        </p:nvSpPr>
        <p:spPr>
          <a:xfrm>
            <a:off x="1305000" y="350375"/>
            <a:ext cx="104643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lang="en-US" sz="3000" u="sng">
                <a:solidFill>
                  <a:srgbClr val="191919"/>
                </a:solidFill>
                <a:latin typeface="Times New Roman"/>
                <a:ea typeface="Times New Roman"/>
                <a:cs typeface="Times New Roman"/>
                <a:sym typeface="Times New Roman"/>
              </a:rPr>
              <a:t>AES and </a:t>
            </a:r>
            <a:r>
              <a:rPr b="1" lang="en-US" sz="3000" u="sng">
                <a:solidFill>
                  <a:srgbClr val="191919"/>
                </a:solidFill>
                <a:latin typeface="Times New Roman"/>
                <a:ea typeface="Times New Roman"/>
                <a:cs typeface="Times New Roman"/>
                <a:sym typeface="Times New Roman"/>
              </a:rPr>
              <a:t>Triple DES </a:t>
            </a:r>
            <a:r>
              <a:rPr b="1" lang="en-US" sz="3000" u="sng">
                <a:solidFill>
                  <a:srgbClr val="191919"/>
                </a:solidFill>
                <a:latin typeface="Times New Roman"/>
                <a:ea typeface="Times New Roman"/>
                <a:cs typeface="Times New Roman"/>
                <a:sym typeface="Times New Roman"/>
              </a:rPr>
              <a:t> Hybrid for the Encryption of Videos</a:t>
            </a:r>
            <a:endParaRPr b="1" i="0" sz="2300" u="sng" cap="none" strike="noStrike">
              <a:solidFill>
                <a:srgbClr val="191919"/>
              </a:solidFill>
              <a:latin typeface="Times New Roman"/>
              <a:ea typeface="Times New Roman"/>
              <a:cs typeface="Times New Roman"/>
              <a:sym typeface="Times New Roman"/>
            </a:endParaRPr>
          </a:p>
        </p:txBody>
      </p:sp>
      <p:sp>
        <p:nvSpPr>
          <p:cNvPr id="465" name="Google Shape;465;g2c9eccfda70_0_163"/>
          <p:cNvSpPr txBox="1"/>
          <p:nvPr/>
        </p:nvSpPr>
        <p:spPr>
          <a:xfrm>
            <a:off x="3002975" y="5822400"/>
            <a:ext cx="6806100" cy="3651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Fig. 5.1: Space Complexity Graph of AES and Triple DES for Videos</a:t>
            </a:r>
            <a:endParaRPr sz="20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000">
              <a:solidFill>
                <a:schemeClr val="dk1"/>
              </a:solidFill>
              <a:latin typeface="Calibri"/>
              <a:ea typeface="Calibri"/>
              <a:cs typeface="Calibri"/>
              <a:sym typeface="Calibri"/>
            </a:endParaRPr>
          </a:p>
        </p:txBody>
      </p:sp>
      <p:pic>
        <p:nvPicPr>
          <p:cNvPr id="466" name="Google Shape;466;g2c9eccfda70_0_163"/>
          <p:cNvPicPr preferRelativeResize="0"/>
          <p:nvPr/>
        </p:nvPicPr>
        <p:blipFill>
          <a:blip r:embed="rId4">
            <a:alphaModFix/>
          </a:blip>
          <a:stretch>
            <a:fillRect/>
          </a:stretch>
        </p:blipFill>
        <p:spPr>
          <a:xfrm>
            <a:off x="3555825" y="1221825"/>
            <a:ext cx="5962650" cy="46005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pic>
        <p:nvPicPr>
          <p:cNvPr id="472" name="Google Shape;472;g2c9eccfda70_0_247"/>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473" name="Google Shape;473;g2c9eccfda70_0_24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474" name="Google Shape;474;g2c9eccfda70_0_247"/>
          <p:cNvSpPr txBox="1"/>
          <p:nvPr/>
        </p:nvSpPr>
        <p:spPr>
          <a:xfrm>
            <a:off x="1305000" y="350375"/>
            <a:ext cx="104643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lang="en-US" sz="3000" u="sng">
                <a:solidFill>
                  <a:srgbClr val="191919"/>
                </a:solidFill>
                <a:latin typeface="Times New Roman"/>
                <a:ea typeface="Times New Roman"/>
                <a:cs typeface="Times New Roman"/>
                <a:sym typeface="Times New Roman"/>
              </a:rPr>
              <a:t>AES and Triple DES  Hybrid for the Encryption of Videos</a:t>
            </a:r>
            <a:endParaRPr b="1" i="0" sz="2300" u="sng" cap="none" strike="noStrike">
              <a:solidFill>
                <a:srgbClr val="191919"/>
              </a:solidFill>
              <a:latin typeface="Times New Roman"/>
              <a:ea typeface="Times New Roman"/>
              <a:cs typeface="Times New Roman"/>
              <a:sym typeface="Times New Roman"/>
            </a:endParaRPr>
          </a:p>
        </p:txBody>
      </p:sp>
      <p:sp>
        <p:nvSpPr>
          <p:cNvPr id="475" name="Google Shape;475;g2c9eccfda70_0_247"/>
          <p:cNvSpPr txBox="1"/>
          <p:nvPr/>
        </p:nvSpPr>
        <p:spPr>
          <a:xfrm>
            <a:off x="339450" y="1539550"/>
            <a:ext cx="11513100" cy="4648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Strength Analysis:</a:t>
            </a:r>
            <a:endParaRPr b="1" sz="20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355600" lvl="0" marL="457200" rtl="0" algn="just">
              <a:lnSpc>
                <a:spcPct val="150000"/>
              </a:lnSpc>
              <a:spcBef>
                <a:spcPts val="0"/>
              </a:spcBef>
              <a:spcAft>
                <a:spcPts val="0"/>
              </a:spcAft>
              <a:buClr>
                <a:schemeClr val="dk1"/>
              </a:buClr>
              <a:buSzPts val="2000"/>
              <a:buFont typeface="Times New Roman"/>
              <a:buChar char="●"/>
            </a:pPr>
            <a:r>
              <a:rPr b="1" lang="en-US" sz="2000">
                <a:solidFill>
                  <a:schemeClr val="dk1"/>
                </a:solidFill>
                <a:latin typeface="Times New Roman"/>
                <a:ea typeface="Times New Roman"/>
                <a:cs typeface="Times New Roman"/>
                <a:sym typeface="Times New Roman"/>
              </a:rPr>
              <a:t>AES</a:t>
            </a:r>
            <a:r>
              <a:rPr lang="en-US" sz="2000">
                <a:solidFill>
                  <a:schemeClr val="dk1"/>
                </a:solidFill>
                <a:latin typeface="Times New Roman"/>
                <a:ea typeface="Times New Roman"/>
                <a:cs typeface="Times New Roman"/>
                <a:sym typeface="Times New Roman"/>
              </a:rPr>
              <a:t> with a 256-bit key size is considered very secure and is widely recommended.</a:t>
            </a:r>
            <a:endParaRPr sz="20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355600" lvl="0" marL="457200" rtl="0" algn="just">
              <a:lnSpc>
                <a:spcPct val="150000"/>
              </a:lnSpc>
              <a:spcBef>
                <a:spcPts val="0"/>
              </a:spcBef>
              <a:spcAft>
                <a:spcPts val="0"/>
              </a:spcAft>
              <a:buClr>
                <a:schemeClr val="dk1"/>
              </a:buClr>
              <a:buSzPts val="2000"/>
              <a:buFont typeface="Times New Roman"/>
              <a:buChar char="●"/>
            </a:pPr>
            <a:r>
              <a:rPr b="1" lang="en-US" sz="2000">
                <a:solidFill>
                  <a:schemeClr val="dk1"/>
                </a:solidFill>
                <a:latin typeface="Times New Roman"/>
                <a:ea typeface="Times New Roman"/>
                <a:cs typeface="Times New Roman"/>
                <a:sym typeface="Times New Roman"/>
              </a:rPr>
              <a:t>Triple DES</a:t>
            </a:r>
            <a:r>
              <a:rPr lang="en-US" sz="2000">
                <a:solidFill>
                  <a:schemeClr val="dk1"/>
                </a:solidFill>
                <a:latin typeface="Times New Roman"/>
                <a:ea typeface="Times New Roman"/>
                <a:cs typeface="Times New Roman"/>
                <a:sym typeface="Times New Roman"/>
              </a:rPr>
              <a:t> with a 168-bit key size was once considered secure, but it is now considered insufficient for modern security requirements. It's generally recommended to use at least 192 bits or preferably 256 bits for Triple DES to achieve comparable security to AES.</a:t>
            </a:r>
            <a:endParaRPr sz="20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Therefore, in terms of strength, using AES with a 256-bit key size is preferred over Triple DES with a 168-bit key size.</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g2bab0ace036_2_4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482" name="Google Shape;482;g2bab0ace036_2_42"/>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483" name="Google Shape;483;g2bab0ace036_2_42"/>
          <p:cNvSpPr txBox="1"/>
          <p:nvPr/>
        </p:nvSpPr>
        <p:spPr>
          <a:xfrm>
            <a:off x="1288875" y="313575"/>
            <a:ext cx="8904000" cy="1015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n-US" sz="3000" u="sng">
                <a:solidFill>
                  <a:schemeClr val="dk1"/>
                </a:solidFill>
                <a:latin typeface="Times New Roman"/>
                <a:ea typeface="Times New Roman"/>
                <a:cs typeface="Times New Roman"/>
                <a:sym typeface="Times New Roman"/>
              </a:rPr>
              <a:t>Merits of AES with Triple DES in Hybrid encryption</a:t>
            </a:r>
            <a:endParaRPr b="1" sz="3000" u="sng">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Calibri"/>
              <a:ea typeface="Calibri"/>
              <a:cs typeface="Calibri"/>
              <a:sym typeface="Calibri"/>
            </a:endParaRPr>
          </a:p>
        </p:txBody>
      </p:sp>
      <p:sp>
        <p:nvSpPr>
          <p:cNvPr id="484" name="Google Shape;484;g2bab0ace036_2_4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485" name="Google Shape;485;g2bab0ace036_2_42"/>
          <p:cNvSpPr txBox="1"/>
          <p:nvPr/>
        </p:nvSpPr>
        <p:spPr>
          <a:xfrm>
            <a:off x="849925" y="1436075"/>
            <a:ext cx="10128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86" name="Google Shape;486;g2bab0ace036_2_42"/>
          <p:cNvSpPr txBox="1"/>
          <p:nvPr/>
        </p:nvSpPr>
        <p:spPr>
          <a:xfrm>
            <a:off x="533375" y="1136925"/>
            <a:ext cx="10128600" cy="5418000"/>
          </a:xfrm>
          <a:prstGeom prst="rect">
            <a:avLst/>
          </a:prstGeom>
          <a:noFill/>
          <a:ln>
            <a:noFill/>
          </a:ln>
        </p:spPr>
        <p:txBody>
          <a:bodyPr anchorCtr="0" anchor="t" bIns="91425" lIns="91425" spcFirstLastPara="1" rIns="91425" wrap="square" tIns="91425">
            <a:spAutoFit/>
          </a:bodyPr>
          <a:lstStyle/>
          <a:p>
            <a:pPr indent="-355600" lvl="0" marL="457200" rtl="0" algn="just">
              <a:spcBef>
                <a:spcPts val="0"/>
              </a:spcBef>
              <a:spcAft>
                <a:spcPts val="0"/>
              </a:spcAft>
              <a:buClr>
                <a:schemeClr val="dk1"/>
              </a:buClr>
              <a:buSzPts val="2000"/>
              <a:buFont typeface="Times New Roman"/>
              <a:buAutoNum type="arabicPeriod"/>
            </a:pPr>
            <a:r>
              <a:rPr b="1" lang="en-US" sz="2000">
                <a:solidFill>
                  <a:schemeClr val="dk1"/>
                </a:solidFill>
                <a:latin typeface="Times New Roman"/>
                <a:ea typeface="Times New Roman"/>
                <a:cs typeface="Times New Roman"/>
                <a:sym typeface="Times New Roman"/>
              </a:rPr>
              <a:t>Security: </a:t>
            </a:r>
            <a:r>
              <a:rPr lang="en-US" sz="2000">
                <a:solidFill>
                  <a:schemeClr val="dk1"/>
                </a:solidFill>
                <a:latin typeface="Times New Roman"/>
                <a:ea typeface="Times New Roman"/>
                <a:cs typeface="Times New Roman"/>
                <a:sym typeface="Times New Roman"/>
              </a:rPr>
              <a:t>By combining the two algorithms, you create a layered security approach, potentially enhancing overall security.</a:t>
            </a:r>
            <a:endParaRPr sz="2000">
              <a:solidFill>
                <a:schemeClr val="dk1"/>
              </a:solidFill>
              <a:latin typeface="Times New Roman"/>
              <a:ea typeface="Times New Roman"/>
              <a:cs typeface="Times New Roman"/>
              <a:sym typeface="Times New Roman"/>
            </a:endParaRPr>
          </a:p>
          <a:p>
            <a:pPr indent="-355600" lvl="0" marL="457200" rtl="0" algn="just">
              <a:spcBef>
                <a:spcPts val="0"/>
              </a:spcBef>
              <a:spcAft>
                <a:spcPts val="0"/>
              </a:spcAft>
              <a:buClr>
                <a:schemeClr val="dk1"/>
              </a:buClr>
              <a:buSzPts val="2000"/>
              <a:buFont typeface="Times New Roman"/>
              <a:buAutoNum type="arabicPeriod"/>
            </a:pPr>
            <a:r>
              <a:rPr b="1" lang="en-US" sz="2000">
                <a:solidFill>
                  <a:schemeClr val="dk1"/>
                </a:solidFill>
                <a:latin typeface="Times New Roman"/>
                <a:ea typeface="Times New Roman"/>
                <a:cs typeface="Times New Roman"/>
                <a:sym typeface="Times New Roman"/>
              </a:rPr>
              <a:t>Compatibility</a:t>
            </a:r>
            <a:r>
              <a:rPr b="1" lang="en-US" sz="2000">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 By incorporating 3DES into a hybrid encryption scheme alongside AES, you can ensure compatibility with legacy systems or environments where 3DES is already deployed.</a:t>
            </a:r>
            <a:endParaRPr sz="2000">
              <a:solidFill>
                <a:schemeClr val="dk1"/>
              </a:solidFill>
              <a:latin typeface="Times New Roman"/>
              <a:ea typeface="Times New Roman"/>
              <a:cs typeface="Times New Roman"/>
              <a:sym typeface="Times New Roman"/>
            </a:endParaRPr>
          </a:p>
          <a:p>
            <a:pPr indent="-355600" lvl="0" marL="457200" rtl="0" algn="just">
              <a:spcBef>
                <a:spcPts val="0"/>
              </a:spcBef>
              <a:spcAft>
                <a:spcPts val="0"/>
              </a:spcAft>
              <a:buClr>
                <a:schemeClr val="dk1"/>
              </a:buClr>
              <a:buSzPts val="2000"/>
              <a:buFont typeface="Times New Roman"/>
              <a:buAutoNum type="arabicPeriod"/>
            </a:pPr>
            <a:r>
              <a:rPr b="1" lang="en-US" sz="2000">
                <a:solidFill>
                  <a:schemeClr val="dk1"/>
                </a:solidFill>
                <a:latin typeface="Times New Roman"/>
                <a:ea typeface="Times New Roman"/>
                <a:cs typeface="Times New Roman"/>
                <a:sym typeface="Times New Roman"/>
              </a:rPr>
              <a:t>Key Length Flexibility</a:t>
            </a:r>
            <a:r>
              <a:rPr lang="en-US" sz="2000">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By using AES with 3DES in hybrid encryption, you can benefit from the flexibility of AES key lengths while still leveraging 3DES in environments where it may be required or preferred.</a:t>
            </a:r>
            <a:endParaRPr sz="2000">
              <a:solidFill>
                <a:schemeClr val="dk1"/>
              </a:solidFill>
              <a:latin typeface="Times New Roman"/>
              <a:ea typeface="Times New Roman"/>
              <a:cs typeface="Times New Roman"/>
              <a:sym typeface="Times New Roman"/>
            </a:endParaRPr>
          </a:p>
          <a:p>
            <a:pPr indent="-355600" lvl="0" marL="457200" rtl="0" algn="just">
              <a:spcBef>
                <a:spcPts val="0"/>
              </a:spcBef>
              <a:spcAft>
                <a:spcPts val="0"/>
              </a:spcAft>
              <a:buClr>
                <a:schemeClr val="dk1"/>
              </a:buClr>
              <a:buSzPts val="2000"/>
              <a:buFont typeface="Times New Roman"/>
              <a:buAutoNum type="arabicPeriod"/>
            </a:pPr>
            <a:r>
              <a:rPr b="1" lang="en-US" sz="2000">
                <a:solidFill>
                  <a:schemeClr val="dk1"/>
                </a:solidFill>
                <a:latin typeface="Times New Roman"/>
                <a:ea typeface="Times New Roman"/>
                <a:cs typeface="Times New Roman"/>
                <a:sym typeface="Times New Roman"/>
              </a:rPr>
              <a:t>Performance</a:t>
            </a:r>
            <a:r>
              <a:rPr lang="en-US" sz="2000">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While AES is more computationally efficient than 3DES, there may be situations where the performance overhead of 3DES is acceptable or necessary, particularly in environments where AES hardware acceleration is not available.</a:t>
            </a:r>
            <a:endParaRPr sz="2000">
              <a:solidFill>
                <a:schemeClr val="dk1"/>
              </a:solidFill>
              <a:latin typeface="Times New Roman"/>
              <a:ea typeface="Times New Roman"/>
              <a:cs typeface="Times New Roman"/>
              <a:sym typeface="Times New Roman"/>
            </a:endParaRPr>
          </a:p>
          <a:p>
            <a:pPr indent="-355600" lvl="0" marL="457200" rtl="0" algn="just">
              <a:spcBef>
                <a:spcPts val="0"/>
              </a:spcBef>
              <a:spcAft>
                <a:spcPts val="0"/>
              </a:spcAft>
              <a:buClr>
                <a:schemeClr val="dk1"/>
              </a:buClr>
              <a:buSzPts val="2000"/>
              <a:buFont typeface="Times New Roman"/>
              <a:buAutoNum type="arabicPeriod"/>
            </a:pPr>
            <a:r>
              <a:rPr b="1" lang="en-US" sz="2000">
                <a:solidFill>
                  <a:schemeClr val="dk1"/>
                </a:solidFill>
                <a:latin typeface="Times New Roman"/>
                <a:ea typeface="Times New Roman"/>
                <a:cs typeface="Times New Roman"/>
                <a:sym typeface="Times New Roman"/>
              </a:rPr>
              <a:t>Resilience to Algorithmic Weakness:</a:t>
            </a:r>
            <a:r>
              <a:rPr lang="en-US" sz="2000">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Combining AES with 3DES in hybrid encryption can mitigate the risk associated with potential weaknesses or vulnerabilities in either algorithm.</a:t>
            </a:r>
            <a:endParaRPr sz="2000">
              <a:solidFill>
                <a:schemeClr val="dk1"/>
              </a:solidFill>
              <a:latin typeface="Times New Roman"/>
              <a:ea typeface="Times New Roman"/>
              <a:cs typeface="Times New Roman"/>
              <a:sym typeface="Times New Roman"/>
            </a:endParaRPr>
          </a:p>
          <a:p>
            <a:pPr indent="-355600" lvl="0" marL="457200" rtl="0" algn="just">
              <a:spcBef>
                <a:spcPts val="0"/>
              </a:spcBef>
              <a:spcAft>
                <a:spcPts val="0"/>
              </a:spcAft>
              <a:buClr>
                <a:schemeClr val="dk1"/>
              </a:buClr>
              <a:buSzPts val="2000"/>
              <a:buFont typeface="Times New Roman"/>
              <a:buAutoNum type="arabicPeriod"/>
            </a:pPr>
            <a:r>
              <a:rPr b="1" lang="en-US" sz="2000">
                <a:solidFill>
                  <a:schemeClr val="dk1"/>
                </a:solidFill>
                <a:latin typeface="Times New Roman"/>
                <a:ea typeface="Times New Roman"/>
                <a:cs typeface="Times New Roman"/>
                <a:sym typeface="Times New Roman"/>
              </a:rPr>
              <a:t>Interoperability: </a:t>
            </a:r>
            <a:r>
              <a:rPr lang="en-US" sz="2000">
                <a:solidFill>
                  <a:schemeClr val="dk1"/>
                </a:solidFill>
                <a:latin typeface="Times New Roman"/>
                <a:ea typeface="Times New Roman"/>
                <a:cs typeface="Times New Roman"/>
                <a:sym typeface="Times New Roman"/>
              </a:rPr>
              <a:t>Hybrid encryption schemes that incorporate both AES and 3DES can offer interoperability benefits, allowing systems with different encryption capabilities or requirements to communicate securely.</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g2bab0ace036_1_6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493" name="Google Shape;493;g2bab0ace036_1_63"/>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494" name="Google Shape;494;g2bab0ace036_1_63"/>
          <p:cNvSpPr txBox="1"/>
          <p:nvPr/>
        </p:nvSpPr>
        <p:spPr>
          <a:xfrm>
            <a:off x="1251325" y="313575"/>
            <a:ext cx="9325800" cy="1015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n-US" sz="3000" u="sng">
                <a:solidFill>
                  <a:schemeClr val="dk1"/>
                </a:solidFill>
                <a:latin typeface="Times New Roman"/>
                <a:ea typeface="Times New Roman"/>
                <a:cs typeface="Times New Roman"/>
                <a:sym typeface="Times New Roman"/>
              </a:rPr>
              <a:t>Dem</a:t>
            </a:r>
            <a:r>
              <a:rPr b="1" lang="en-US" sz="3000" u="sng">
                <a:solidFill>
                  <a:schemeClr val="dk1"/>
                </a:solidFill>
                <a:latin typeface="Times New Roman"/>
                <a:ea typeface="Times New Roman"/>
                <a:cs typeface="Times New Roman"/>
                <a:sym typeface="Times New Roman"/>
              </a:rPr>
              <a:t>erits of AES with triple DES in Hybrid encryption</a:t>
            </a:r>
            <a:endParaRPr b="1" sz="3000" u="sng">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Calibri"/>
              <a:ea typeface="Calibri"/>
              <a:cs typeface="Calibri"/>
              <a:sym typeface="Calibri"/>
            </a:endParaRPr>
          </a:p>
        </p:txBody>
      </p:sp>
      <p:sp>
        <p:nvSpPr>
          <p:cNvPr id="495" name="Google Shape;495;g2bab0ace036_1_6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496" name="Google Shape;496;g2bab0ace036_1_63"/>
          <p:cNvSpPr txBox="1"/>
          <p:nvPr/>
        </p:nvSpPr>
        <p:spPr>
          <a:xfrm>
            <a:off x="849925" y="1436075"/>
            <a:ext cx="10128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97" name="Google Shape;497;g2bab0ace036_1_63"/>
          <p:cNvSpPr txBox="1"/>
          <p:nvPr/>
        </p:nvSpPr>
        <p:spPr>
          <a:xfrm>
            <a:off x="533375" y="1136925"/>
            <a:ext cx="10128600" cy="51102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Font typeface="Times New Roman"/>
              <a:buAutoNum type="arabicPeriod"/>
            </a:pPr>
            <a:r>
              <a:rPr b="1" lang="en-US" sz="2000">
                <a:solidFill>
                  <a:schemeClr val="dk1"/>
                </a:solidFill>
                <a:latin typeface="Times New Roman"/>
                <a:ea typeface="Times New Roman"/>
                <a:cs typeface="Times New Roman"/>
                <a:sym typeface="Times New Roman"/>
              </a:rPr>
              <a:t>Reduced Security</a:t>
            </a:r>
            <a:r>
              <a:rPr lang="en-US" sz="2000">
                <a:solidFill>
                  <a:schemeClr val="dk1"/>
                </a:solidFill>
                <a:latin typeface="Times New Roman"/>
                <a:ea typeface="Times New Roman"/>
                <a:cs typeface="Times New Roman"/>
                <a:sym typeface="Times New Roman"/>
              </a:rPr>
              <a:t>: By incorporating 3DES into a hybrid encryption scheme alongside AES, you may introduce a potential weak link in the security chain, particularly if 3DES is used extensively or in critical security contexts.</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AutoNum type="arabicPeriod"/>
            </a:pPr>
            <a:r>
              <a:rPr b="1" lang="en-US" sz="2000">
                <a:solidFill>
                  <a:schemeClr val="dk1"/>
                </a:solidFill>
                <a:latin typeface="Times New Roman"/>
                <a:ea typeface="Times New Roman"/>
                <a:cs typeface="Times New Roman"/>
                <a:sym typeface="Times New Roman"/>
              </a:rPr>
              <a:t>Performance Overhead</a:t>
            </a:r>
            <a:r>
              <a:rPr lang="en-US" sz="2000">
                <a:solidFill>
                  <a:schemeClr val="dk1"/>
                </a:solidFill>
                <a:latin typeface="Times New Roman"/>
                <a:ea typeface="Times New Roman"/>
                <a:cs typeface="Times New Roman"/>
                <a:sym typeface="Times New Roman"/>
              </a:rPr>
              <a:t>: 3DES is significantly slower than AES in terms of encryption and decryption speed. Incorporating 3DES into a hybrid encryption scheme alongside AES can introduce performance overhead, particularly when encrypting or decrypting large volumes of data. </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AutoNum type="arabicPeriod"/>
            </a:pPr>
            <a:r>
              <a:rPr b="1" lang="en-US" sz="2000">
                <a:solidFill>
                  <a:schemeClr val="dk1"/>
                </a:solidFill>
                <a:latin typeface="Times New Roman"/>
                <a:ea typeface="Times New Roman"/>
                <a:cs typeface="Times New Roman"/>
                <a:sym typeface="Times New Roman"/>
              </a:rPr>
              <a:t>Key Length Limitation</a:t>
            </a:r>
            <a:r>
              <a:rPr lang="en-US" sz="2000">
                <a:solidFill>
                  <a:schemeClr val="dk1"/>
                </a:solidFill>
                <a:latin typeface="Times New Roman"/>
                <a:ea typeface="Times New Roman"/>
                <a:cs typeface="Times New Roman"/>
                <a:sym typeface="Times New Roman"/>
              </a:rPr>
              <a:t>: This limitation in key length may impact the overall security of the hybrid encryption scheme, especially if longer keys are required to meet specific security requirements or mitigate potential vulnerabilities.</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AutoNum type="arabicPeriod"/>
            </a:pPr>
            <a:r>
              <a:rPr b="1" lang="en-US" sz="2000">
                <a:solidFill>
                  <a:schemeClr val="dk1"/>
                </a:solidFill>
                <a:latin typeface="Times New Roman"/>
                <a:ea typeface="Times New Roman"/>
                <a:cs typeface="Times New Roman"/>
                <a:sym typeface="Times New Roman"/>
              </a:rPr>
              <a:t>Dependence on Legacy Systems</a:t>
            </a:r>
            <a:r>
              <a:rPr lang="en-US" sz="2000">
                <a:solidFill>
                  <a:schemeClr val="dk1"/>
                </a:solidFill>
                <a:latin typeface="Times New Roman"/>
                <a:ea typeface="Times New Roman"/>
                <a:cs typeface="Times New Roman"/>
                <a:sym typeface="Times New Roman"/>
              </a:rPr>
              <a:t>: Depending heavily on 3DES in a hybrid encryption scheme may limit opportunities to adopt more modern and secure encryption standards and technologies.</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AutoNum type="arabicPeriod"/>
            </a:pPr>
            <a:r>
              <a:rPr b="1" lang="en-US" sz="2000">
                <a:solidFill>
                  <a:schemeClr val="dk1"/>
                </a:solidFill>
                <a:latin typeface="Times New Roman"/>
                <a:ea typeface="Times New Roman"/>
                <a:cs typeface="Times New Roman"/>
                <a:sym typeface="Times New Roman"/>
              </a:rPr>
              <a:t>Potential for Interoperability Issues</a:t>
            </a:r>
            <a:r>
              <a:rPr lang="en-US" sz="2000">
                <a:solidFill>
                  <a:schemeClr val="dk1"/>
                </a:solidFill>
                <a:latin typeface="Times New Roman"/>
                <a:ea typeface="Times New Roman"/>
                <a:cs typeface="Times New Roman"/>
                <a:sym typeface="Times New Roman"/>
              </a:rPr>
              <a:t>: Hybrid encryption schemes that combine AES with 3DES may encounter interoperability issues when communicating with systems or devices that do not support one or both of the encryption algorithms.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503" name="Google Shape;50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04" name="Google Shape;504;p7"/>
          <p:cNvSpPr txBox="1"/>
          <p:nvPr/>
        </p:nvSpPr>
        <p:spPr>
          <a:xfrm>
            <a:off x="1554516" y="286340"/>
            <a:ext cx="36945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lang="en-US" sz="3000">
                <a:solidFill>
                  <a:schemeClr val="dk1"/>
                </a:solidFill>
                <a:latin typeface="Times New Roman"/>
                <a:ea typeface="Times New Roman"/>
                <a:cs typeface="Times New Roman"/>
                <a:sym typeface="Times New Roman"/>
              </a:rPr>
              <a:t>6</a:t>
            </a:r>
            <a:r>
              <a:rPr b="1" i="0" lang="en-US" sz="3000" u="none" cap="none" strike="noStrike">
                <a:solidFill>
                  <a:schemeClr val="dk1"/>
                </a:solidFill>
                <a:latin typeface="Times New Roman"/>
                <a:ea typeface="Times New Roman"/>
                <a:cs typeface="Times New Roman"/>
                <a:sym typeface="Times New Roman"/>
              </a:rPr>
              <a:t>. </a:t>
            </a:r>
            <a:r>
              <a:rPr b="1" lang="en-US" sz="3000">
                <a:solidFill>
                  <a:schemeClr val="dk1"/>
                </a:solidFill>
                <a:latin typeface="Times New Roman"/>
                <a:ea typeface="Times New Roman"/>
                <a:cs typeface="Times New Roman"/>
                <a:sym typeface="Times New Roman"/>
              </a:rPr>
              <a:t>Conclusion</a:t>
            </a:r>
            <a:endParaRPr b="0" i="0" sz="3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Calibri"/>
              <a:ea typeface="Calibri"/>
              <a:cs typeface="Calibri"/>
              <a:sym typeface="Calibri"/>
            </a:endParaRPr>
          </a:p>
        </p:txBody>
      </p:sp>
      <p:pic>
        <p:nvPicPr>
          <p:cNvPr id="505" name="Google Shape;505;p7"/>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506" name="Google Shape;506;p7"/>
          <p:cNvSpPr txBox="1"/>
          <p:nvPr/>
        </p:nvSpPr>
        <p:spPr>
          <a:xfrm>
            <a:off x="1389225" y="1041925"/>
            <a:ext cx="10147200" cy="1877700"/>
          </a:xfrm>
          <a:prstGeom prst="rect">
            <a:avLst/>
          </a:prstGeom>
          <a:noFill/>
          <a:ln>
            <a:noFill/>
          </a:ln>
        </p:spPr>
        <p:txBody>
          <a:bodyPr anchorCtr="0" anchor="t" bIns="91425" lIns="91425" spcFirstLastPara="1" rIns="91425" wrap="square" tIns="91425">
            <a:spAutoFit/>
          </a:bodyPr>
          <a:lstStyle/>
          <a:p>
            <a:pPr indent="285750" lvl="0" marL="0" marR="0" rtl="0" algn="just">
              <a:lnSpc>
                <a:spcPct val="150000"/>
              </a:lnSpc>
              <a:spcBef>
                <a:spcPts val="0"/>
              </a:spcBef>
              <a:spcAft>
                <a:spcPts val="800"/>
              </a:spcAft>
              <a:buNone/>
            </a:pPr>
            <a:r>
              <a:rPr lang="en-US" sz="2000">
                <a:solidFill>
                  <a:schemeClr val="dk1"/>
                </a:solidFill>
                <a:latin typeface="Times New Roman"/>
                <a:ea typeface="Times New Roman"/>
                <a:cs typeface="Times New Roman"/>
                <a:sym typeface="Times New Roman"/>
              </a:rPr>
              <a:t>In conclusion, the hybrid algorithm models of AES with RSA and AES with Triple DES algorithm for the encryption of images and videos have been implemented. Thus, focuses on the comparative analysis of both of these hybrid models on the basis of time complexity, space complexity, strength, use case and applicability.</a:t>
            </a:r>
            <a:endParaRPr sz="2000">
              <a:latin typeface="Times New Roman"/>
              <a:ea typeface="Times New Roman"/>
              <a:cs typeface="Times New Roman"/>
              <a:sym typeface="Times New Roman"/>
            </a:endParaRPr>
          </a:p>
        </p:txBody>
      </p:sp>
      <p:graphicFrame>
        <p:nvGraphicFramePr>
          <p:cNvPr id="507" name="Google Shape;507;p7"/>
          <p:cNvGraphicFramePr/>
          <p:nvPr/>
        </p:nvGraphicFramePr>
        <p:xfrm>
          <a:off x="1389213" y="3570238"/>
          <a:ext cx="3000000" cy="3000000"/>
        </p:xfrm>
        <a:graphic>
          <a:graphicData uri="http://schemas.openxmlformats.org/drawingml/2006/table">
            <a:tbl>
              <a:tblPr>
                <a:noFill/>
                <a:tableStyleId>{AF38B7D9-180C-4F1C-AD40-861807BBC445}</a:tableStyleId>
              </a:tblPr>
              <a:tblGrid>
                <a:gridCol w="2040850"/>
                <a:gridCol w="1966925"/>
                <a:gridCol w="1952125"/>
                <a:gridCol w="1789450"/>
                <a:gridCol w="1937325"/>
              </a:tblGrid>
              <a:tr h="12700">
                <a:tc>
                  <a:txBody>
                    <a:bodyPr/>
                    <a:lstStyle/>
                    <a:p>
                      <a:pPr indent="0" lvl="0" marL="0" rtl="0" algn="l">
                        <a:spcBef>
                          <a:spcPts val="0"/>
                        </a:spcBef>
                        <a:spcAft>
                          <a:spcPts val="0"/>
                        </a:spcAft>
                        <a:buNone/>
                      </a:pPr>
                      <a:r>
                        <a:t/>
                      </a:r>
                      <a:endParaRPr sz="19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b="1" lang="en-US" sz="1900">
                          <a:latin typeface="Times New Roman"/>
                          <a:ea typeface="Times New Roman"/>
                          <a:cs typeface="Times New Roman"/>
                          <a:sym typeface="Times New Roman"/>
                        </a:rPr>
                        <a:t>AES+RSA (Images)</a:t>
                      </a:r>
                      <a:endParaRPr b="1" sz="19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b="1" lang="en-US" sz="1900">
                          <a:latin typeface="Times New Roman"/>
                          <a:ea typeface="Times New Roman"/>
                          <a:cs typeface="Times New Roman"/>
                          <a:sym typeface="Times New Roman"/>
                        </a:rPr>
                        <a:t>AES+RSA (Videos)</a:t>
                      </a:r>
                      <a:endParaRPr b="1" sz="19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b="1" lang="en-US" sz="1900">
                          <a:latin typeface="Times New Roman"/>
                          <a:ea typeface="Times New Roman"/>
                          <a:cs typeface="Times New Roman"/>
                          <a:sym typeface="Times New Roman"/>
                        </a:rPr>
                        <a:t>AES+TDES (Images)</a:t>
                      </a:r>
                      <a:endParaRPr b="1" sz="19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b="1" lang="en-US" sz="1900">
                          <a:latin typeface="Times New Roman"/>
                          <a:ea typeface="Times New Roman"/>
                          <a:cs typeface="Times New Roman"/>
                          <a:sym typeface="Times New Roman"/>
                        </a:rPr>
                        <a:t>AES+TDES (Videos)</a:t>
                      </a:r>
                      <a:endParaRPr b="1" sz="19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US" sz="1900">
                          <a:latin typeface="Times New Roman"/>
                          <a:ea typeface="Times New Roman"/>
                          <a:cs typeface="Times New Roman"/>
                          <a:sym typeface="Times New Roman"/>
                        </a:rPr>
                        <a:t>Time Complexity</a:t>
                      </a:r>
                      <a:endParaRPr b="1" sz="19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900">
                          <a:latin typeface="Times New Roman"/>
                          <a:ea typeface="Times New Roman"/>
                          <a:cs typeface="Times New Roman"/>
                          <a:sym typeface="Times New Roman"/>
                        </a:rPr>
                        <a:t>O(m + k^3 + n^3)</a:t>
                      </a:r>
                      <a:endParaRPr sz="19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900">
                          <a:latin typeface="Times New Roman"/>
                          <a:ea typeface="Times New Roman"/>
                          <a:cs typeface="Times New Roman"/>
                          <a:sym typeface="Times New Roman"/>
                        </a:rPr>
                        <a:t>O(n^3 + m + k^3)</a:t>
                      </a:r>
                      <a:endParaRPr sz="19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900">
                          <a:latin typeface="Times New Roman"/>
                          <a:ea typeface="Times New Roman"/>
                          <a:cs typeface="Times New Roman"/>
                          <a:sym typeface="Times New Roman"/>
                        </a:rPr>
                        <a:t>O(m)</a:t>
                      </a:r>
                      <a:endParaRPr sz="19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900">
                          <a:latin typeface="Times New Roman"/>
                          <a:ea typeface="Times New Roman"/>
                          <a:cs typeface="Times New Roman"/>
                          <a:sym typeface="Times New Roman"/>
                        </a:rPr>
                        <a:t>O(m)</a:t>
                      </a:r>
                      <a:endParaRPr sz="19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US" sz="1900">
                          <a:latin typeface="Times New Roman"/>
                          <a:ea typeface="Times New Roman"/>
                          <a:cs typeface="Times New Roman"/>
                          <a:sym typeface="Times New Roman"/>
                        </a:rPr>
                        <a:t>Space Complexity</a:t>
                      </a:r>
                      <a:endParaRPr b="1" sz="19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900">
                          <a:latin typeface="Times New Roman"/>
                          <a:ea typeface="Times New Roman"/>
                          <a:cs typeface="Times New Roman"/>
                          <a:sym typeface="Times New Roman"/>
                        </a:rPr>
                        <a:t>O(m + k + n)</a:t>
                      </a:r>
                      <a:endParaRPr sz="19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900">
                          <a:latin typeface="Times New Roman"/>
                          <a:ea typeface="Times New Roman"/>
                          <a:cs typeface="Times New Roman"/>
                          <a:sym typeface="Times New Roman"/>
                        </a:rPr>
                        <a:t>O(m + k + n)</a:t>
                      </a:r>
                      <a:endParaRPr sz="19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900">
                          <a:latin typeface="Times New Roman"/>
                          <a:ea typeface="Times New Roman"/>
                          <a:cs typeface="Times New Roman"/>
                          <a:sym typeface="Times New Roman"/>
                        </a:rPr>
                        <a:t>O(m)</a:t>
                      </a:r>
                      <a:endParaRPr sz="19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US" sz="1900">
                          <a:latin typeface="Times New Roman"/>
                          <a:ea typeface="Times New Roman"/>
                          <a:cs typeface="Times New Roman"/>
                          <a:sym typeface="Times New Roman"/>
                        </a:rPr>
                        <a:t>O(m)</a:t>
                      </a:r>
                      <a:endParaRPr sz="1900">
                        <a:latin typeface="Times New Roman"/>
                        <a:ea typeface="Times New Roman"/>
                        <a:cs typeface="Times New Roman"/>
                        <a:sym typeface="Times New Roman"/>
                      </a:endParaRPr>
                    </a:p>
                  </a:txBody>
                  <a:tcPr marT="63500" marB="63500" marR="63500" marL="63500"/>
                </a:tc>
              </a:tr>
            </a:tbl>
          </a:graphicData>
        </a:graphic>
      </p:graphicFrame>
      <p:sp>
        <p:nvSpPr>
          <p:cNvPr id="508" name="Google Shape;508;p7"/>
          <p:cNvSpPr txBox="1"/>
          <p:nvPr/>
        </p:nvSpPr>
        <p:spPr>
          <a:xfrm>
            <a:off x="2933988" y="5340638"/>
            <a:ext cx="6086400" cy="365100"/>
          </a:xfrm>
          <a:prstGeom prst="rect">
            <a:avLst/>
          </a:prstGeom>
          <a:no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None/>
            </a:pPr>
            <a:r>
              <a:t/>
            </a:r>
            <a:endParaRPr sz="500">
              <a:latin typeface="Times New Roman"/>
              <a:ea typeface="Times New Roman"/>
              <a:cs typeface="Times New Roman"/>
              <a:sym typeface="Times New Roman"/>
            </a:endParaRPr>
          </a:p>
          <a:p>
            <a:pPr indent="0" lvl="0" marL="0" rtl="0" algn="l">
              <a:spcBef>
                <a:spcPts val="800"/>
              </a:spcBef>
              <a:spcAft>
                <a:spcPts val="0"/>
              </a:spcAft>
              <a:buNone/>
            </a:pPr>
            <a:r>
              <a:rPr lang="en-US" sz="1600">
                <a:latin typeface="Times New Roman"/>
                <a:ea typeface="Times New Roman"/>
                <a:cs typeface="Times New Roman"/>
                <a:sym typeface="Times New Roman"/>
              </a:rPr>
              <a:t>Table. 5.1.1: Overall comparison of complexities of Hybrid Algorithms</a:t>
            </a:r>
            <a:endParaRPr sz="18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pic>
        <p:nvPicPr>
          <p:cNvPr id="514" name="Google Shape;514;g2ba9afe18a4_2_24"/>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515" name="Google Shape;515;g2ba9afe18a4_2_2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516" name="Google Shape;516;g2ba9afe18a4_2_24"/>
          <p:cNvSpPr txBox="1"/>
          <p:nvPr/>
        </p:nvSpPr>
        <p:spPr>
          <a:xfrm>
            <a:off x="898925" y="3628225"/>
            <a:ext cx="10252500" cy="1416000"/>
          </a:xfrm>
          <a:prstGeom prst="rect">
            <a:avLst/>
          </a:prstGeom>
          <a:noFill/>
          <a:ln>
            <a:noFill/>
          </a:ln>
        </p:spPr>
        <p:txBody>
          <a:bodyPr anchorCtr="0" anchor="t" bIns="91425" lIns="91425" spcFirstLastPara="1" rIns="91425" wrap="square" tIns="91425">
            <a:spAutoFit/>
          </a:bodyPr>
          <a:lstStyle/>
          <a:p>
            <a:pPr indent="285750" lvl="0" marL="0" marR="0" rtl="0" algn="just">
              <a:lnSpc>
                <a:spcPct val="150000"/>
              </a:lnSpc>
              <a:spcBef>
                <a:spcPts val="0"/>
              </a:spcBef>
              <a:spcAft>
                <a:spcPts val="800"/>
              </a:spcAft>
              <a:buNone/>
            </a:pPr>
            <a:r>
              <a:rPr lang="en-US" sz="2000">
                <a:solidFill>
                  <a:schemeClr val="dk1"/>
                </a:solidFill>
                <a:latin typeface="Times New Roman"/>
                <a:ea typeface="Times New Roman"/>
                <a:cs typeface="Times New Roman"/>
                <a:sym typeface="Times New Roman"/>
              </a:rPr>
              <a:t>Overall, based on our comparative analysis of complexities and practical considerations, we recommend the adoption of AES+TDES as the preferred hybrid encryption model for applications where efficiency, simplicity, and performance are paramount.</a:t>
            </a:r>
            <a:endParaRPr sz="2000">
              <a:solidFill>
                <a:schemeClr val="dk1"/>
              </a:solidFill>
              <a:latin typeface="Times New Roman"/>
              <a:ea typeface="Times New Roman"/>
              <a:cs typeface="Times New Roman"/>
              <a:sym typeface="Times New Roman"/>
            </a:endParaRPr>
          </a:p>
        </p:txBody>
      </p:sp>
      <p:sp>
        <p:nvSpPr>
          <p:cNvPr id="517" name="Google Shape;517;g2ba9afe18a4_2_24"/>
          <p:cNvSpPr txBox="1"/>
          <p:nvPr/>
        </p:nvSpPr>
        <p:spPr>
          <a:xfrm>
            <a:off x="1554516" y="286340"/>
            <a:ext cx="36945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lang="en-US" sz="3000">
                <a:solidFill>
                  <a:schemeClr val="dk1"/>
                </a:solidFill>
                <a:latin typeface="Times New Roman"/>
                <a:ea typeface="Times New Roman"/>
                <a:cs typeface="Times New Roman"/>
                <a:sym typeface="Times New Roman"/>
              </a:rPr>
              <a:t>6</a:t>
            </a:r>
            <a:r>
              <a:rPr b="1" i="0" lang="en-US" sz="3000" u="none" cap="none" strike="noStrike">
                <a:solidFill>
                  <a:schemeClr val="dk1"/>
                </a:solidFill>
                <a:latin typeface="Times New Roman"/>
                <a:ea typeface="Times New Roman"/>
                <a:cs typeface="Times New Roman"/>
                <a:sym typeface="Times New Roman"/>
              </a:rPr>
              <a:t>. </a:t>
            </a:r>
            <a:r>
              <a:rPr b="1" lang="en-US" sz="3000">
                <a:solidFill>
                  <a:schemeClr val="dk1"/>
                </a:solidFill>
                <a:latin typeface="Times New Roman"/>
                <a:ea typeface="Times New Roman"/>
                <a:cs typeface="Times New Roman"/>
                <a:sym typeface="Times New Roman"/>
              </a:rPr>
              <a:t>Conclusion</a:t>
            </a:r>
            <a:endParaRPr b="0" i="0" sz="3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Calibri"/>
              <a:ea typeface="Calibri"/>
              <a:cs typeface="Calibri"/>
              <a:sym typeface="Calibri"/>
            </a:endParaRPr>
          </a:p>
        </p:txBody>
      </p:sp>
      <p:sp>
        <p:nvSpPr>
          <p:cNvPr id="518" name="Google Shape;518;g2ba9afe18a4_2_24"/>
          <p:cNvSpPr txBox="1"/>
          <p:nvPr/>
        </p:nvSpPr>
        <p:spPr>
          <a:xfrm>
            <a:off x="898925" y="1136925"/>
            <a:ext cx="9956400" cy="2339700"/>
          </a:xfrm>
          <a:prstGeom prst="rect">
            <a:avLst/>
          </a:prstGeom>
          <a:noFill/>
          <a:ln>
            <a:noFill/>
          </a:ln>
        </p:spPr>
        <p:txBody>
          <a:bodyPr anchorCtr="0" anchor="t" bIns="91425" lIns="91425" spcFirstLastPara="1" rIns="91425" wrap="square" tIns="91425">
            <a:spAutoFit/>
          </a:bodyPr>
          <a:lstStyle/>
          <a:p>
            <a:pPr indent="285750" lvl="0" marL="0" marR="0" rtl="0" algn="just">
              <a:lnSpc>
                <a:spcPct val="150000"/>
              </a:lnSpc>
              <a:spcBef>
                <a:spcPts val="0"/>
              </a:spcBef>
              <a:spcAft>
                <a:spcPts val="800"/>
              </a:spcAft>
              <a:buNone/>
            </a:pPr>
            <a:r>
              <a:rPr lang="en-US" sz="2000">
                <a:solidFill>
                  <a:schemeClr val="dk1"/>
                </a:solidFill>
                <a:latin typeface="Times New Roman"/>
                <a:ea typeface="Times New Roman"/>
                <a:cs typeface="Times New Roman"/>
                <a:sym typeface="Times New Roman"/>
              </a:rPr>
              <a:t>In our project, we conducted a comprehensive study of hybrid encryption models, analyzing their </a:t>
            </a:r>
            <a:r>
              <a:rPr lang="en-US" sz="2000">
                <a:solidFill>
                  <a:schemeClr val="dk1"/>
                </a:solidFill>
                <a:latin typeface="Times New Roman"/>
                <a:ea typeface="Times New Roman"/>
                <a:cs typeface="Times New Roman"/>
                <a:sym typeface="Times New Roman"/>
              </a:rPr>
              <a:t>complexities and performance characteristics. After a thorough comparative analysis, we conclude that the hybrid encryption model combining AES (Advanced Encryption Standard) and TDES (Triple Data Encryption Standard) offers superior advantages over other hybrid models, including AES and RSA combination.</a:t>
            </a:r>
            <a:endParaRPr sz="20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2c9eccfda70_0_19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524" name="Google Shape;524;g2c9eccfda70_0_19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25" name="Google Shape;525;g2c9eccfda70_0_192"/>
          <p:cNvSpPr txBox="1"/>
          <p:nvPr/>
        </p:nvSpPr>
        <p:spPr>
          <a:xfrm>
            <a:off x="1554516" y="286340"/>
            <a:ext cx="36945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lang="en-US" sz="3000">
                <a:solidFill>
                  <a:schemeClr val="dk1"/>
                </a:solidFill>
                <a:latin typeface="Times New Roman"/>
                <a:ea typeface="Times New Roman"/>
                <a:cs typeface="Times New Roman"/>
                <a:sym typeface="Times New Roman"/>
              </a:rPr>
              <a:t>7</a:t>
            </a:r>
            <a:r>
              <a:rPr b="1" i="0" lang="en-US" sz="3000" u="none" cap="none" strike="noStrike">
                <a:solidFill>
                  <a:schemeClr val="dk1"/>
                </a:solidFill>
                <a:latin typeface="Times New Roman"/>
                <a:ea typeface="Times New Roman"/>
                <a:cs typeface="Times New Roman"/>
                <a:sym typeface="Times New Roman"/>
              </a:rPr>
              <a:t>. Future Scope</a:t>
            </a:r>
            <a:endParaRPr b="0" i="0" sz="3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Calibri"/>
              <a:ea typeface="Calibri"/>
              <a:cs typeface="Calibri"/>
              <a:sym typeface="Calibri"/>
            </a:endParaRPr>
          </a:p>
        </p:txBody>
      </p:sp>
      <p:pic>
        <p:nvPicPr>
          <p:cNvPr id="526" name="Google Shape;526;g2c9eccfda70_0_192"/>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527" name="Google Shape;527;g2c9eccfda70_0_192"/>
          <p:cNvSpPr txBox="1"/>
          <p:nvPr/>
        </p:nvSpPr>
        <p:spPr>
          <a:xfrm>
            <a:off x="661500" y="1314688"/>
            <a:ext cx="10692300" cy="4863900"/>
          </a:xfrm>
          <a:prstGeom prst="rect">
            <a:avLst/>
          </a:prstGeom>
          <a:noFill/>
          <a:ln>
            <a:noFill/>
          </a:ln>
        </p:spPr>
        <p:txBody>
          <a:bodyPr anchorCtr="0" anchor="t" bIns="91425" lIns="91425" spcFirstLastPara="1" rIns="91425" wrap="square" tIns="91425">
            <a:spAutoFit/>
          </a:bodyPr>
          <a:lstStyle/>
          <a:p>
            <a:pPr indent="-349250" lvl="0" marL="457200" marR="0" rtl="0" algn="just">
              <a:lnSpc>
                <a:spcPct val="150000"/>
              </a:lnSpc>
              <a:spcBef>
                <a:spcPts val="0"/>
              </a:spcBef>
              <a:spcAft>
                <a:spcPts val="0"/>
              </a:spcAft>
              <a:buClr>
                <a:schemeClr val="dk1"/>
              </a:buClr>
              <a:buSzPts val="1900"/>
              <a:buFont typeface="Times New Roman"/>
              <a:buChar char="●"/>
            </a:pPr>
            <a:r>
              <a:rPr b="1" lang="en-US" sz="1900">
                <a:solidFill>
                  <a:schemeClr val="dk1"/>
                </a:solidFill>
                <a:latin typeface="Times New Roman"/>
                <a:ea typeface="Times New Roman"/>
                <a:cs typeface="Times New Roman"/>
                <a:sym typeface="Times New Roman"/>
              </a:rPr>
              <a:t>Performance Optimization:</a:t>
            </a:r>
            <a:r>
              <a:rPr lang="en-US" sz="1900">
                <a:solidFill>
                  <a:schemeClr val="dk1"/>
                </a:solidFill>
                <a:latin typeface="Times New Roman"/>
                <a:ea typeface="Times New Roman"/>
                <a:cs typeface="Times New Roman"/>
                <a:sym typeface="Times New Roman"/>
              </a:rPr>
              <a:t> Improve efficiency through parallel processing and algorithmic enhancements.</a:t>
            </a:r>
            <a:endParaRPr sz="1900">
              <a:solidFill>
                <a:schemeClr val="dk1"/>
              </a:solidFill>
              <a:latin typeface="Times New Roman"/>
              <a:ea typeface="Times New Roman"/>
              <a:cs typeface="Times New Roman"/>
              <a:sym typeface="Times New Roman"/>
            </a:endParaRPr>
          </a:p>
          <a:p>
            <a:pPr indent="-349250" lvl="0" marL="457200" marR="0" rtl="0" algn="just">
              <a:lnSpc>
                <a:spcPct val="150000"/>
              </a:lnSpc>
              <a:spcBef>
                <a:spcPts val="0"/>
              </a:spcBef>
              <a:spcAft>
                <a:spcPts val="0"/>
              </a:spcAft>
              <a:buClr>
                <a:schemeClr val="dk1"/>
              </a:buClr>
              <a:buSzPts val="1900"/>
              <a:buFont typeface="Times New Roman"/>
              <a:buChar char="●"/>
            </a:pPr>
            <a:r>
              <a:rPr b="1" lang="en-US" sz="1900">
                <a:solidFill>
                  <a:schemeClr val="dk1"/>
                </a:solidFill>
                <a:latin typeface="Times New Roman"/>
                <a:ea typeface="Times New Roman"/>
                <a:cs typeface="Times New Roman"/>
                <a:sym typeface="Times New Roman"/>
              </a:rPr>
              <a:t>Security Analysis:</a:t>
            </a:r>
            <a:r>
              <a:rPr lang="en-US" sz="1900">
                <a:solidFill>
                  <a:schemeClr val="dk1"/>
                </a:solidFill>
                <a:latin typeface="Times New Roman"/>
                <a:ea typeface="Times New Roman"/>
                <a:cs typeface="Times New Roman"/>
                <a:sym typeface="Times New Roman"/>
              </a:rPr>
              <a:t> Conduct deeper analysis to identify vulnerabilities and develop robust security measures.</a:t>
            </a:r>
            <a:endParaRPr sz="1900">
              <a:solidFill>
                <a:schemeClr val="dk1"/>
              </a:solidFill>
              <a:latin typeface="Times New Roman"/>
              <a:ea typeface="Times New Roman"/>
              <a:cs typeface="Times New Roman"/>
              <a:sym typeface="Times New Roman"/>
            </a:endParaRPr>
          </a:p>
          <a:p>
            <a:pPr indent="-349250" lvl="0" marL="457200" marR="0" rtl="0" algn="just">
              <a:lnSpc>
                <a:spcPct val="150000"/>
              </a:lnSpc>
              <a:spcBef>
                <a:spcPts val="0"/>
              </a:spcBef>
              <a:spcAft>
                <a:spcPts val="0"/>
              </a:spcAft>
              <a:buClr>
                <a:schemeClr val="dk1"/>
              </a:buClr>
              <a:buSzPts val="1900"/>
              <a:buFont typeface="Times New Roman"/>
              <a:buChar char="●"/>
            </a:pPr>
            <a:r>
              <a:rPr b="1" lang="en-US" sz="1900">
                <a:solidFill>
                  <a:schemeClr val="dk1"/>
                </a:solidFill>
                <a:latin typeface="Times New Roman"/>
                <a:ea typeface="Times New Roman"/>
                <a:cs typeface="Times New Roman"/>
                <a:sym typeface="Times New Roman"/>
              </a:rPr>
              <a:t>Integration with Emerging Tech:</a:t>
            </a:r>
            <a:r>
              <a:rPr lang="en-US" sz="1900">
                <a:solidFill>
                  <a:schemeClr val="dk1"/>
                </a:solidFill>
                <a:latin typeface="Times New Roman"/>
                <a:ea typeface="Times New Roman"/>
                <a:cs typeface="Times New Roman"/>
                <a:sym typeface="Times New Roman"/>
              </a:rPr>
              <a:t> Explore hybrid </a:t>
            </a:r>
            <a:r>
              <a:rPr lang="en-US" sz="1900">
                <a:solidFill>
                  <a:schemeClr val="dk1"/>
                </a:solidFill>
                <a:latin typeface="Times New Roman"/>
                <a:ea typeface="Times New Roman"/>
                <a:cs typeface="Times New Roman"/>
                <a:sym typeface="Times New Roman"/>
              </a:rPr>
              <a:t>encryption</a:t>
            </a:r>
            <a:r>
              <a:rPr lang="en-US" sz="1900">
                <a:solidFill>
                  <a:schemeClr val="dk1"/>
                </a:solidFill>
                <a:latin typeface="Times New Roman"/>
                <a:ea typeface="Times New Roman"/>
                <a:cs typeface="Times New Roman"/>
                <a:sym typeface="Times New Roman"/>
              </a:rPr>
              <a:t> integration with blockchain, IoT, and cloud computing.</a:t>
            </a:r>
            <a:endParaRPr sz="1900">
              <a:solidFill>
                <a:schemeClr val="dk1"/>
              </a:solidFill>
              <a:latin typeface="Times New Roman"/>
              <a:ea typeface="Times New Roman"/>
              <a:cs typeface="Times New Roman"/>
              <a:sym typeface="Times New Roman"/>
            </a:endParaRPr>
          </a:p>
          <a:p>
            <a:pPr indent="-349250" lvl="0" marL="457200" marR="0" rtl="0" algn="just">
              <a:lnSpc>
                <a:spcPct val="150000"/>
              </a:lnSpc>
              <a:spcBef>
                <a:spcPts val="0"/>
              </a:spcBef>
              <a:spcAft>
                <a:spcPts val="0"/>
              </a:spcAft>
              <a:buClr>
                <a:schemeClr val="dk1"/>
              </a:buClr>
              <a:buSzPts val="1900"/>
              <a:buFont typeface="Times New Roman"/>
              <a:buChar char="●"/>
            </a:pPr>
            <a:r>
              <a:rPr b="1" lang="en-US" sz="1900">
                <a:solidFill>
                  <a:schemeClr val="dk1"/>
                </a:solidFill>
                <a:latin typeface="Times New Roman"/>
                <a:ea typeface="Times New Roman"/>
                <a:cs typeface="Times New Roman"/>
                <a:sym typeface="Times New Roman"/>
              </a:rPr>
              <a:t>Scalability and Flexibility:</a:t>
            </a:r>
            <a:r>
              <a:rPr lang="en-US" sz="1900">
                <a:solidFill>
                  <a:schemeClr val="dk1"/>
                </a:solidFill>
                <a:latin typeface="Times New Roman"/>
                <a:ea typeface="Times New Roman"/>
                <a:cs typeface="Times New Roman"/>
                <a:sym typeface="Times New Roman"/>
              </a:rPr>
              <a:t> Enhance scalability and adaptability with dynamic encryption strategies.</a:t>
            </a:r>
            <a:endParaRPr sz="1900">
              <a:solidFill>
                <a:schemeClr val="dk1"/>
              </a:solidFill>
              <a:latin typeface="Times New Roman"/>
              <a:ea typeface="Times New Roman"/>
              <a:cs typeface="Times New Roman"/>
              <a:sym typeface="Times New Roman"/>
            </a:endParaRPr>
          </a:p>
          <a:p>
            <a:pPr indent="-349250" lvl="0" marL="457200" marR="0" rtl="0" algn="just">
              <a:lnSpc>
                <a:spcPct val="150000"/>
              </a:lnSpc>
              <a:spcBef>
                <a:spcPts val="0"/>
              </a:spcBef>
              <a:spcAft>
                <a:spcPts val="0"/>
              </a:spcAft>
              <a:buClr>
                <a:schemeClr val="dk1"/>
              </a:buClr>
              <a:buSzPts val="1900"/>
              <a:buFont typeface="Times New Roman"/>
              <a:buChar char="●"/>
            </a:pPr>
            <a:r>
              <a:rPr b="1" lang="en-US" sz="1900">
                <a:solidFill>
                  <a:schemeClr val="dk1"/>
                </a:solidFill>
                <a:latin typeface="Times New Roman"/>
                <a:ea typeface="Times New Roman"/>
                <a:cs typeface="Times New Roman"/>
                <a:sym typeface="Times New Roman"/>
              </a:rPr>
              <a:t>Cross-Platform Compatibility: </a:t>
            </a:r>
            <a:r>
              <a:rPr lang="en-US" sz="1900">
                <a:solidFill>
                  <a:schemeClr val="dk1"/>
                </a:solidFill>
                <a:latin typeface="Times New Roman"/>
                <a:ea typeface="Times New Roman"/>
                <a:cs typeface="Times New Roman"/>
                <a:sym typeface="Times New Roman"/>
              </a:rPr>
              <a:t>Ensure seamless interoperability across different platforms and systems.</a:t>
            </a:r>
            <a:endParaRPr sz="1900">
              <a:solidFill>
                <a:schemeClr val="dk1"/>
              </a:solidFill>
              <a:latin typeface="Times New Roman"/>
              <a:ea typeface="Times New Roman"/>
              <a:cs typeface="Times New Roman"/>
              <a:sym typeface="Times New Roman"/>
            </a:endParaRPr>
          </a:p>
          <a:p>
            <a:pPr indent="-349250" lvl="0" marL="457200" marR="0" rtl="0" algn="just">
              <a:lnSpc>
                <a:spcPct val="150000"/>
              </a:lnSpc>
              <a:spcBef>
                <a:spcPts val="0"/>
              </a:spcBef>
              <a:spcAft>
                <a:spcPts val="0"/>
              </a:spcAft>
              <a:buClr>
                <a:schemeClr val="dk1"/>
              </a:buClr>
              <a:buSzPts val="1900"/>
              <a:buFont typeface="Times New Roman"/>
              <a:buChar char="●"/>
            </a:pPr>
            <a:r>
              <a:rPr b="1" lang="en-US" sz="1900">
                <a:solidFill>
                  <a:schemeClr val="dk1"/>
                </a:solidFill>
                <a:latin typeface="Times New Roman"/>
                <a:ea typeface="Times New Roman"/>
                <a:cs typeface="Times New Roman"/>
                <a:sym typeface="Times New Roman"/>
              </a:rPr>
              <a:t>User-Friendly Interfaces:</a:t>
            </a:r>
            <a:r>
              <a:rPr lang="en-US" sz="1900">
                <a:solidFill>
                  <a:schemeClr val="dk1"/>
                </a:solidFill>
                <a:latin typeface="Times New Roman"/>
                <a:ea typeface="Times New Roman"/>
                <a:cs typeface="Times New Roman"/>
                <a:sym typeface="Times New Roman"/>
              </a:rPr>
              <a:t> Design intuitive interfaces for encryption management and monitoring.</a:t>
            </a:r>
            <a:endParaRPr sz="1900">
              <a:solidFill>
                <a:schemeClr val="dk1"/>
              </a:solidFill>
              <a:latin typeface="Times New Roman"/>
              <a:ea typeface="Times New Roman"/>
              <a:cs typeface="Times New Roman"/>
              <a:sym typeface="Times New Roman"/>
            </a:endParaRPr>
          </a:p>
          <a:p>
            <a:pPr indent="-349250" lvl="0" marL="457200" marR="0" rtl="0" algn="just">
              <a:lnSpc>
                <a:spcPct val="150000"/>
              </a:lnSpc>
              <a:spcBef>
                <a:spcPts val="0"/>
              </a:spcBef>
              <a:spcAft>
                <a:spcPts val="0"/>
              </a:spcAft>
              <a:buClr>
                <a:schemeClr val="dk1"/>
              </a:buClr>
              <a:buSzPts val="1900"/>
              <a:buFont typeface="Times New Roman"/>
              <a:buChar char="●"/>
            </a:pPr>
            <a:r>
              <a:rPr b="1" lang="en-US" sz="1900">
                <a:solidFill>
                  <a:schemeClr val="dk1"/>
                </a:solidFill>
                <a:latin typeface="Times New Roman"/>
                <a:ea typeface="Times New Roman"/>
                <a:cs typeface="Times New Roman"/>
                <a:sym typeface="Times New Roman"/>
              </a:rPr>
              <a:t>Real-World Applications: </a:t>
            </a:r>
            <a:r>
              <a:rPr lang="en-US" sz="1900">
                <a:solidFill>
                  <a:schemeClr val="dk1"/>
                </a:solidFill>
                <a:latin typeface="Times New Roman"/>
                <a:ea typeface="Times New Roman"/>
                <a:cs typeface="Times New Roman"/>
                <a:sym typeface="Times New Roman"/>
              </a:rPr>
              <a:t>Explore practical deployment scenarios across industries.</a:t>
            </a:r>
            <a:endParaRPr sz="1900">
              <a:solidFill>
                <a:schemeClr val="dk1"/>
              </a:solidFill>
              <a:latin typeface="Times New Roman"/>
              <a:ea typeface="Times New Roman"/>
              <a:cs typeface="Times New Roman"/>
              <a:sym typeface="Times New Roman"/>
            </a:endParaRPr>
          </a:p>
          <a:p>
            <a:pPr indent="-349250" lvl="0" marL="457200" marR="0" rtl="0" algn="just">
              <a:lnSpc>
                <a:spcPct val="150000"/>
              </a:lnSpc>
              <a:spcBef>
                <a:spcPts val="0"/>
              </a:spcBef>
              <a:spcAft>
                <a:spcPts val="0"/>
              </a:spcAft>
              <a:buClr>
                <a:schemeClr val="dk1"/>
              </a:buClr>
              <a:buSzPts val="1900"/>
              <a:buFont typeface="Times New Roman"/>
              <a:buChar char="●"/>
            </a:pPr>
            <a:r>
              <a:rPr b="1" lang="en-US" sz="1900">
                <a:solidFill>
                  <a:schemeClr val="dk1"/>
                </a:solidFill>
                <a:latin typeface="Times New Roman"/>
                <a:ea typeface="Times New Roman"/>
                <a:cs typeface="Times New Roman"/>
                <a:sym typeface="Times New Roman"/>
              </a:rPr>
              <a:t>Quantum-Safe Encryption:</a:t>
            </a:r>
            <a:r>
              <a:rPr lang="en-US" sz="1900">
                <a:solidFill>
                  <a:schemeClr val="dk1"/>
                </a:solidFill>
                <a:latin typeface="Times New Roman"/>
                <a:ea typeface="Times New Roman"/>
                <a:cs typeface="Times New Roman"/>
                <a:sym typeface="Times New Roman"/>
              </a:rPr>
              <a:t> Investigate quantum-safe encryption to future-proof against quantum attacks.</a:t>
            </a:r>
            <a:endParaRPr b="1" sz="1900">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533" name="Google Shape;53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34" name="Google Shape;534;p8"/>
          <p:cNvSpPr txBox="1"/>
          <p:nvPr/>
        </p:nvSpPr>
        <p:spPr>
          <a:xfrm>
            <a:off x="1280160" y="313565"/>
            <a:ext cx="32373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dk1"/>
                </a:solidFill>
                <a:latin typeface="Times New Roman"/>
                <a:ea typeface="Times New Roman"/>
                <a:cs typeface="Times New Roman"/>
                <a:sym typeface="Times New Roman"/>
              </a:rPr>
              <a:t>References</a:t>
            </a:r>
            <a:endParaRPr b="0" i="0" sz="3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Calibri"/>
              <a:ea typeface="Calibri"/>
              <a:cs typeface="Calibri"/>
              <a:sym typeface="Calibri"/>
            </a:endParaRPr>
          </a:p>
        </p:txBody>
      </p:sp>
      <p:pic>
        <p:nvPicPr>
          <p:cNvPr id="535" name="Google Shape;535;p8"/>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536" name="Google Shape;536;p8"/>
          <p:cNvSpPr txBox="1"/>
          <p:nvPr/>
        </p:nvSpPr>
        <p:spPr>
          <a:xfrm>
            <a:off x="1280150" y="799175"/>
            <a:ext cx="10585200" cy="57258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1800">
                <a:solidFill>
                  <a:schemeClr val="dk1"/>
                </a:solidFill>
                <a:latin typeface="Times New Roman"/>
                <a:ea typeface="Times New Roman"/>
                <a:cs typeface="Times New Roman"/>
                <a:sym typeface="Times New Roman"/>
              </a:rPr>
              <a:t>[1] Sood, R., &amp; Kaur, H. (2023). A literature review on rsa, des and aes encryption algorithms. Emerging Trends in Engineering and Management, 57-63.</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en-US" sz="1800">
                <a:solidFill>
                  <a:schemeClr val="dk1"/>
                </a:solidFill>
                <a:latin typeface="Times New Roman"/>
                <a:ea typeface="Times New Roman"/>
                <a:cs typeface="Times New Roman"/>
                <a:sym typeface="Times New Roman"/>
              </a:rPr>
              <a:t>[2] Olutola, A., &amp; Olumuyiwa, M. (2023). Comparative Analysis of Encryption Algorithms. European Journal of Technology, 7(1), 1-9.</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en-US" sz="1800">
                <a:solidFill>
                  <a:schemeClr val="dk1"/>
                </a:solidFill>
                <a:latin typeface="Times New Roman"/>
                <a:ea typeface="Times New Roman"/>
                <a:cs typeface="Times New Roman"/>
                <a:sym typeface="Times New Roman"/>
              </a:rPr>
              <a:t>[3] Fatima, S., Rehman, T., Fatima, M., Khan, S., &amp; Ali, M. A. (2022). Comparative Analysis of Aes and Rsa Algorithms for Data Security in Cloud Computing. Engineering Proceedings, 20(1), 14.</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en-US" sz="1800">
                <a:solidFill>
                  <a:schemeClr val="dk1"/>
                </a:solidFill>
                <a:latin typeface="Times New Roman"/>
                <a:ea typeface="Times New Roman"/>
                <a:cs typeface="Times New Roman"/>
                <a:sym typeface="Times New Roman"/>
              </a:rPr>
              <a:t>[4] Azeez, N. A. (2018). Comparative analysis of encryption algorithms. Covenant Journal of Informatics and Communication Technology.</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en-US" sz="1800">
                <a:solidFill>
                  <a:schemeClr val="dk1"/>
                </a:solidFill>
                <a:latin typeface="Times New Roman"/>
                <a:ea typeface="Times New Roman"/>
                <a:cs typeface="Times New Roman"/>
                <a:sym typeface="Times New Roman"/>
              </a:rPr>
              <a:t>[5] Khan, I. Z., &amp; Aijaz, A. (2022). A novel image encryption using AES algorithm. International Research Journal of Modernization in Engineering Technology and Science, 4(8)</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en-US" sz="1800">
                <a:solidFill>
                  <a:schemeClr val="dk1"/>
                </a:solidFill>
                <a:latin typeface="Times New Roman"/>
                <a:ea typeface="Times New Roman"/>
                <a:cs typeface="Times New Roman"/>
                <a:sym typeface="Times New Roman"/>
              </a:rPr>
              <a:t>[6] Kumar, C. S., &amp; Sarala, V. (2021, July). Image encryption and decryption using AES algorithm. International Journal of Emerging Technologies and Innovative Research, 8(7), 506-518.</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en-US" sz="1800">
                <a:solidFill>
                  <a:schemeClr val="dk1"/>
                </a:solidFill>
                <a:latin typeface="Times New Roman"/>
                <a:ea typeface="Times New Roman"/>
                <a:cs typeface="Times New Roman"/>
                <a:sym typeface="Times New Roman"/>
              </a:rPr>
              <a:t>[7] Chowdhary, C. L., Patel, P. V., Kathrotia, K. J., Attique, M., Perumal, K., &amp; Ijaz, M. F. (2020). Analytical study of hybrid techniques for image encryption and decryption. Sensors, 20(18), 5162.</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en-US" sz="1800">
                <a:solidFill>
                  <a:schemeClr val="dk1"/>
                </a:solidFill>
                <a:latin typeface="Times New Roman"/>
                <a:ea typeface="Times New Roman"/>
                <a:cs typeface="Times New Roman"/>
                <a:sym typeface="Times New Roman"/>
              </a:rPr>
              <a:t>[8] Bhandari, S. R., &amp; Mundargi, Z. B. K. (2018, April). A review on image encryption and decryption. International Journal of Creative Research Thoughts (IJCRT), 6(2), 1314. </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en-US" sz="1800">
                <a:solidFill>
                  <a:schemeClr val="dk1"/>
                </a:solidFill>
                <a:latin typeface="Times New Roman"/>
                <a:ea typeface="Times New Roman"/>
                <a:cs typeface="Times New Roman"/>
                <a:sym typeface="Times New Roman"/>
              </a:rPr>
              <a:t>[9] Deshmukh, P. (2016). An image encryption and decryption using AES algorithm. International Journal of Scientific &amp; Engineering Research, 7(2), 210-213.</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en-US" sz="1800">
                <a:solidFill>
                  <a:schemeClr val="dk1"/>
                </a:solidFill>
                <a:latin typeface="Times New Roman"/>
                <a:ea typeface="Times New Roman"/>
                <a:cs typeface="Times New Roman"/>
                <a:sym typeface="Times New Roman"/>
              </a:rPr>
              <a:t>[10] Padate, R., &amp; Patel, A. (2015). Image encryption and decryption using AES algorithm. International Journal of Electronics and Communication Engineering &amp; Technology, 23-29.</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g2bab0ace036_1_1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542" name="Google Shape;542;g2bab0ace036_1_1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43" name="Google Shape;543;g2bab0ace036_1_14"/>
          <p:cNvSpPr txBox="1"/>
          <p:nvPr/>
        </p:nvSpPr>
        <p:spPr>
          <a:xfrm>
            <a:off x="1280160" y="313565"/>
            <a:ext cx="32373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dk1"/>
                </a:solidFill>
                <a:latin typeface="Times New Roman"/>
                <a:ea typeface="Times New Roman"/>
                <a:cs typeface="Times New Roman"/>
                <a:sym typeface="Times New Roman"/>
              </a:rPr>
              <a:t>References</a:t>
            </a:r>
            <a:endParaRPr b="0" i="0" sz="3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Calibri"/>
              <a:ea typeface="Calibri"/>
              <a:cs typeface="Calibri"/>
              <a:sym typeface="Calibri"/>
            </a:endParaRPr>
          </a:p>
        </p:txBody>
      </p:sp>
      <p:pic>
        <p:nvPicPr>
          <p:cNvPr id="544" name="Google Shape;544;g2bab0ace036_1_14"/>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545" name="Google Shape;545;g2bab0ace036_1_14"/>
          <p:cNvSpPr txBox="1"/>
          <p:nvPr/>
        </p:nvSpPr>
        <p:spPr>
          <a:xfrm>
            <a:off x="803400" y="815950"/>
            <a:ext cx="10585200" cy="6196800"/>
          </a:xfrm>
          <a:prstGeom prst="rect">
            <a:avLst/>
          </a:prstGeom>
          <a:noFill/>
          <a:ln>
            <a:noFill/>
          </a:ln>
        </p:spPr>
        <p:txBody>
          <a:bodyPr anchorCtr="0" anchor="t" bIns="91425" lIns="91425" spcFirstLastPara="1" rIns="91425" wrap="square" tIns="91425">
            <a:spAutoFit/>
          </a:bodyPr>
          <a:lstStyle/>
          <a:p>
            <a:pPr indent="0" lvl="0" marL="457200" rtl="0" algn="just">
              <a:lnSpc>
                <a:spcPct val="115000"/>
              </a:lnSpc>
              <a:spcBef>
                <a:spcPts val="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[11] Fouzar, Y., Lakhssassi, A., &amp; Ramakrishna, M. (2023). A Novel Hybrid Multikey Cryptography Technique for Video Communication. IEEE Access, 11, 15693-15700.</a:t>
            </a:r>
            <a:endParaRPr sz="1800">
              <a:solidFill>
                <a:schemeClr val="dk1"/>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[12] Poduval, A., Rai, N., Khan, P., Sane, A., &amp; Chaudhari, T. (2021). A SURVEY ON DIFFERENT ENCRYPTION TECHNIQUES FOR IMAGE, VIDEO, AUDIO AND DOCS. International Journal of Engineering Applied Sciences and Technology.</a:t>
            </a:r>
            <a:endParaRPr sz="1800">
              <a:solidFill>
                <a:schemeClr val="dk1"/>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[13] Hosny, K. M., Zaki, M. A., Lashin, N. A., &amp; Hamza, H. M. (2023). Fast colored video encryption using block scrambling and multi-key generation. The Visual Computer, 39(12), 6041-6072.</a:t>
            </a:r>
            <a:endParaRPr sz="1800">
              <a:solidFill>
                <a:schemeClr val="dk1"/>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[14</a:t>
            </a:r>
            <a:r>
              <a:rPr lang="en-US" sz="1800">
                <a:solidFill>
                  <a:schemeClr val="dk1"/>
                </a:solidFill>
                <a:latin typeface="Times New Roman"/>
                <a:ea typeface="Times New Roman"/>
                <a:cs typeface="Times New Roman"/>
                <a:sym typeface="Times New Roman"/>
              </a:rPr>
              <a:t>] Kadam, K. S., &amp; Deshmukh, A. (2016). Video frame encryption algorithm using AES. International Journal of Engineering Research, 5(6), 588-591.</a:t>
            </a:r>
            <a:endParaRPr sz="1800">
              <a:solidFill>
                <a:schemeClr val="dk1"/>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[15] Kulkarni, A., Kulkarni, S., Haridas, K., &amp; More, A. (2013). Proposed video encryption algorithm v/s other existing algorithms: A comparative study. arXiv preprint arXiv:1303.3485..</a:t>
            </a:r>
            <a:endParaRPr sz="1800">
              <a:solidFill>
                <a:schemeClr val="dk1"/>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[16] Karthigaikumar, P., &amp; Rasheed, S. (2011). Simulation of image encryption using AES algorithm. IJCA special issue on “computational science-new dimensions &amp; perspectives” NCCSE, 166-172.</a:t>
            </a:r>
            <a:endParaRPr sz="1800">
              <a:solidFill>
                <a:schemeClr val="dk1"/>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[17] Abomhara, M., Zakaria, O., &amp; Khalifa, O. O. (2010). An overview of video encryption techniques. International Journal of Computer Theory and Engineering, 2(1), 1793-8201.</a:t>
            </a:r>
            <a:endParaRPr sz="1800">
              <a:solidFill>
                <a:schemeClr val="dk1"/>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[18] Hosny, K. M., Zaki, M. A., Lashin, N. A., &amp; Hamza, H. M. (2023). Fast colored video encryption using block scrambling and multi-key generation. The Visual Computer, 39(12), 6041-6072.</a:t>
            </a:r>
            <a:endParaRPr sz="1800">
              <a:solidFill>
                <a:schemeClr val="dk1"/>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Clr>
                <a:schemeClr val="dk1"/>
              </a:buClr>
              <a:buSzPts val="1100"/>
              <a:buFont typeface="Arial"/>
              <a:buNone/>
            </a:pPr>
            <a:r>
              <a:t/>
            </a:r>
            <a:endParaRPr sz="1800">
              <a:solidFill>
                <a:schemeClr val="dk1"/>
              </a:solidFill>
              <a:latin typeface="Times New Roman"/>
              <a:ea typeface="Times New Roman"/>
              <a:cs typeface="Times New Roman"/>
              <a:sym typeface="Times New Roman"/>
            </a:endParaRPr>
          </a:p>
          <a:p>
            <a:pPr indent="0" lvl="0" marL="457200" marR="0" rtl="0" algn="just">
              <a:lnSpc>
                <a:spcPct val="115000"/>
              </a:lnSpc>
              <a:spcBef>
                <a:spcPts val="0"/>
              </a:spcBef>
              <a:spcAft>
                <a:spcPts val="0"/>
              </a:spcAft>
              <a:buClr>
                <a:srgbClr val="000000"/>
              </a:buClr>
              <a:buSzPts val="2000"/>
              <a:buFont typeface="Arial"/>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pic>
        <p:nvPicPr>
          <p:cNvPr id="551" name="Google Shape;551;g2bab0ace036_2_64"/>
          <p:cNvPicPr preferRelativeResize="0"/>
          <p:nvPr/>
        </p:nvPicPr>
        <p:blipFill rotWithShape="1">
          <a:blip r:embed="rId3">
            <a:alphaModFix/>
          </a:blip>
          <a:srcRect b="0" l="0" r="0" t="0"/>
          <a:stretch/>
        </p:blipFill>
        <p:spPr>
          <a:xfrm>
            <a:off x="172124" y="136525"/>
            <a:ext cx="1011218" cy="1000412"/>
          </a:xfrm>
          <a:prstGeom prst="rect">
            <a:avLst/>
          </a:prstGeom>
          <a:noFill/>
          <a:ln>
            <a:noFill/>
          </a:ln>
        </p:spPr>
      </p:pic>
      <p:sp>
        <p:nvSpPr>
          <p:cNvPr id="552" name="Google Shape;552;g2bab0ace036_2_6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Bhilai Institute of Technology Raipur </a:t>
            </a:r>
            <a:endParaRPr/>
          </a:p>
        </p:txBody>
      </p:sp>
      <p:sp>
        <p:nvSpPr>
          <p:cNvPr id="553" name="Google Shape;553;g2bab0ace036_2_64"/>
          <p:cNvSpPr txBox="1"/>
          <p:nvPr/>
        </p:nvSpPr>
        <p:spPr>
          <a:xfrm>
            <a:off x="4805850" y="2624500"/>
            <a:ext cx="2580300" cy="1905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US" sz="3000">
                <a:solidFill>
                  <a:schemeClr val="dk1"/>
                </a:solidFill>
                <a:latin typeface="Times New Roman"/>
                <a:ea typeface="Times New Roman"/>
                <a:cs typeface="Times New Roman"/>
                <a:sym typeface="Times New Roman"/>
              </a:rPr>
              <a:t>THANKYOU!</a:t>
            </a:r>
            <a:endParaRPr b="1" sz="30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2022-07-30T05:23:43Z</dcterms:created>
  <dc:creator>Windows User</dc:creator>
</cp:coreProperties>
</file>